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4.xml" ContentType="application/vnd.openxmlformats-officedocument.presentationml.slide+xml"/>
  <Override PartName="/ppt/theme/theme1.xml" ContentType="application/vnd.openxmlformats-officedocument.theme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theme/theme2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2" Type="http://schemas.openxmlformats.org/officeDocument/2006/relationships/extended-properties" Target="docProps/app.xml" /><Relationship Id="rId1" Type="http://schemas.openxmlformats.org/package/2006/relationships/metadata/core-properties" Target="docProps/core.xml" 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firstSlideNum="1">
  <p:sldMasterIdLst>
    <p:sldMasterId id="2147483648" r:id="rId0"/>
  </p:sldMasterIdLst>
  <p:notesMasterIdLst>
    <p:notesMasterId r:id="rId8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0" Type="http://schemas.openxmlformats.org/officeDocument/2006/relationships/slideMaster" Target="slideMasters/slideMaster1.xml" /><Relationship Id="rId4" Type="http://schemas.openxmlformats.org/officeDocument/2006/relationships/slide" Target="slides/slide4.xml" /><Relationship Id="rId1" Type="http://schemas.openxmlformats.org/officeDocument/2006/relationships/slide" Target="slides/slide1.xml" /><Relationship Id="rId10" Type="http://schemas.openxmlformats.org/officeDocument/2006/relationships/tableStyles" Target="tableStyles.xml" /><Relationship Id="rId11" Type="http://schemas.openxmlformats.org/officeDocument/2006/relationships/viewProps" Target="viewProps.xml" /><Relationship Id="rId5" Type="http://schemas.openxmlformats.org/officeDocument/2006/relationships/slide" Target="slides/slide5.xml" /><Relationship Id="rId3" Type="http://schemas.openxmlformats.org/officeDocument/2006/relationships/slide" Target="slides/slide3.xml" /><Relationship Id="rId2" Type="http://schemas.openxmlformats.org/officeDocument/2006/relationships/slide" Target="slides/slide2.xml" /><Relationship Id="rId6" Type="http://schemas.openxmlformats.org/officeDocument/2006/relationships/slide" Target="slides/slide6.xml" /><Relationship Id="rId7" Type="http://schemas.openxmlformats.org/officeDocument/2006/relationships/slide" Target="slides/slide7.xml" /><Relationship Id="rId8" Type="http://schemas.openxmlformats.org/officeDocument/2006/relationships/notesMaster" Target="notesMasters/notesMaster1.xml" /><Relationship Id="rId9" Type="http://schemas.openxmlformats.org/officeDocument/2006/relationships/presProps" Target="presProps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 descr="&lt;Slide style={{ width: 1280, height: 720, background: '#0B0B12', position: 'relative', overflow: 'hidden' }}&gt;&#10;  {/* 背景渐变光晕 */}&#10;  &lt;Box style={{ position: 'absolute', top: -200, right: -200, width: 700, height: 700, borderRadius: 9999, background: 'radial-gradient(circle, rgba(168,85,247,0.35) 0%, transparent 60%)' }} /&gt;&#10;  &lt;Box style={{ position: 'absolute', bottom: -250, left: -100, width: 600, height: 600, borderRadius: 9999, background: 'radial-gradient(circle, rgba(236,72,153,0.18) 0%, transparent 60%)' }} /&gt;&#10;&#10;  {/* 顶部小标 */}&#10;  &lt;Box style={{ position: 'absolute', top: 60, left: 80, flexDirection: 'row', alignItems: 'center', gap: 12 }}&gt;&#10;    &lt;Box style={{ width: 8, height: 8, borderRadius: 9999, background: '#A855F7' }} /&gt;&#10;    &lt;Text style={{ fontSize: 14, color: '#9CA3AF', letterSpacing: 4 }}&gt;TINGXIN · 高校心理预警平台&lt;/Text&gt;&#10;  &lt;/Box&gt;&#10;&#10;  {/* 主标题 大字 */}&#10;  &lt;Box style={{ position: 'absolute', left: 80, top: 200, flexDirection: 'column', gap: 16 }}&gt;&#10;    &lt;Text style={{ fontSize: 220, fontWeight: 'bold', lineHeight: 1, backgroundImage: 'linear-gradient(135deg, #A855F7 0%, #EC4899 100%)', backgroundClip: 'text', color: 'transparent', letterSpacing: -8 }}&gt;聆心&lt;/Text&gt;&#10;    &lt;Text style={{ fontSize: 28, color: '#F5F5F7', fontWeight: 'normal', marginTop: 12 }}&gt;辅导员减负 · 学生被看见 · 风险不漏一人&lt;/Text&gt;&#10;    &lt;Text style={{ fontSize: 16, color: '#9CA3AF', marginTop: 8, letterSpacing: 2 }}&gt;基于大模型智能体的心理预警与 AI 陪伴一体化平台&lt;/Text&gt;&#10;  &lt;/Box&gt;&#10;&#10;  {/* 右下底标 */}&#10;  &lt;Box style={{ position: 'absolute', bottom: 50, right: 80, flexDirection: 'row', alignItems: 'center', gap: 16 }}&gt;&#10;    &lt;Box style={{ width: 60, height: 2, background: '#A855F7' }} /&gt;&#10;    &lt;Text style={{ fontSize: 14, color: '#9CA3AF' }}&gt;演示视频 · 4 分钟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B12"/>
          </a:solidFill>
          <a:ln/>
        </p:spPr>
        <p:txBody>
          <a:bodyPr/>
          <a:p/>
        </p:txBody>
      </p:sp>
      <p:sp>
        <p:nvSpPr>
          <p:cNvPr id="3" name=""/>
          <p:cNvSpPr/>
          <p:nvPr/>
        </p:nvSpPr>
        <p:spPr>
          <a:xfrm rot="0" flipH="0" flipV="0">
            <a:off x="7429500" y="-1905000"/>
            <a:ext cx="6667500" cy="6667500"/>
          </a:xfrm>
          <a:custGeom>
            <a:pathLst>
              <a:path w="700" h="700">
                <a:moveTo>
                  <a:pt x="500" y="666"/>
                </a:moveTo>
                <a:lnTo>
                  <a:pt x="494" y="669"/>
                </a:lnTo>
                <a:lnTo>
                  <a:pt x="486" y="672"/>
                </a:lnTo>
                <a:lnTo>
                  <a:pt x="478" y="676"/>
                </a:lnTo>
                <a:lnTo>
                  <a:pt x="470" y="679"/>
                </a:lnTo>
                <a:lnTo>
                  <a:pt x="462" y="682"/>
                </a:lnTo>
                <a:lnTo>
                  <a:pt x="454" y="684"/>
                </a:lnTo>
                <a:lnTo>
                  <a:pt x="446" y="687"/>
                </a:lnTo>
                <a:lnTo>
                  <a:pt x="437" y="689"/>
                </a:lnTo>
                <a:lnTo>
                  <a:pt x="429" y="691"/>
                </a:lnTo>
                <a:lnTo>
                  <a:pt x="421" y="693"/>
                </a:lnTo>
                <a:lnTo>
                  <a:pt x="412" y="695"/>
                </a:lnTo>
                <a:lnTo>
                  <a:pt x="403" y="696"/>
                </a:lnTo>
                <a:lnTo>
                  <a:pt x="395" y="697"/>
                </a:lnTo>
                <a:lnTo>
                  <a:pt x="386" y="698"/>
                </a:lnTo>
                <a:lnTo>
                  <a:pt x="377" y="699"/>
                </a:lnTo>
                <a:lnTo>
                  <a:pt x="368" y="700"/>
                </a:lnTo>
                <a:lnTo>
                  <a:pt x="359" y="700"/>
                </a:lnTo>
                <a:lnTo>
                  <a:pt x="350" y="700"/>
                </a:lnTo>
                <a:lnTo>
                  <a:pt x="341" y="700"/>
                </a:lnTo>
                <a:lnTo>
                  <a:pt x="332" y="700"/>
                </a:lnTo>
                <a:lnTo>
                  <a:pt x="323" y="699"/>
                </a:lnTo>
                <a:lnTo>
                  <a:pt x="314" y="698"/>
                </a:lnTo>
                <a:lnTo>
                  <a:pt x="305" y="697"/>
                </a:lnTo>
                <a:lnTo>
                  <a:pt x="297" y="696"/>
                </a:lnTo>
                <a:lnTo>
                  <a:pt x="288" y="695"/>
                </a:lnTo>
                <a:lnTo>
                  <a:pt x="280" y="693"/>
                </a:lnTo>
                <a:lnTo>
                  <a:pt x="271" y="691"/>
                </a:lnTo>
                <a:lnTo>
                  <a:pt x="263" y="689"/>
                </a:lnTo>
                <a:lnTo>
                  <a:pt x="254" y="687"/>
                </a:lnTo>
                <a:lnTo>
                  <a:pt x="246" y="684"/>
                </a:lnTo>
                <a:lnTo>
                  <a:pt x="238" y="682"/>
                </a:lnTo>
                <a:lnTo>
                  <a:pt x="230" y="679"/>
                </a:lnTo>
                <a:lnTo>
                  <a:pt x="222" y="676"/>
                </a:lnTo>
                <a:lnTo>
                  <a:pt x="214" y="672"/>
                </a:lnTo>
                <a:lnTo>
                  <a:pt x="206" y="669"/>
                </a:lnTo>
                <a:lnTo>
                  <a:pt x="198" y="665"/>
                </a:lnTo>
                <a:lnTo>
                  <a:pt x="191" y="662"/>
                </a:lnTo>
                <a:lnTo>
                  <a:pt x="183" y="658"/>
                </a:lnTo>
                <a:lnTo>
                  <a:pt x="176" y="654"/>
                </a:lnTo>
                <a:lnTo>
                  <a:pt x="169" y="649"/>
                </a:lnTo>
                <a:lnTo>
                  <a:pt x="161" y="645"/>
                </a:lnTo>
                <a:lnTo>
                  <a:pt x="154" y="640"/>
                </a:lnTo>
                <a:lnTo>
                  <a:pt x="147" y="635"/>
                </a:lnTo>
                <a:lnTo>
                  <a:pt x="141" y="630"/>
                </a:lnTo>
                <a:lnTo>
                  <a:pt x="134" y="625"/>
                </a:lnTo>
                <a:lnTo>
                  <a:pt x="127" y="620"/>
                </a:lnTo>
                <a:lnTo>
                  <a:pt x="121" y="615"/>
                </a:lnTo>
                <a:lnTo>
                  <a:pt x="115" y="609"/>
                </a:lnTo>
                <a:lnTo>
                  <a:pt x="109" y="603"/>
                </a:lnTo>
                <a:lnTo>
                  <a:pt x="103" y="597"/>
                </a:lnTo>
                <a:lnTo>
                  <a:pt x="97" y="591"/>
                </a:lnTo>
                <a:lnTo>
                  <a:pt x="91" y="585"/>
                </a:lnTo>
                <a:lnTo>
                  <a:pt x="85" y="579"/>
                </a:lnTo>
                <a:lnTo>
                  <a:pt x="80" y="573"/>
                </a:lnTo>
                <a:lnTo>
                  <a:pt x="75" y="566"/>
                </a:lnTo>
                <a:lnTo>
                  <a:pt x="70" y="559"/>
                </a:lnTo>
                <a:lnTo>
                  <a:pt x="65" y="553"/>
                </a:lnTo>
                <a:lnTo>
                  <a:pt x="60" y="546"/>
                </a:lnTo>
                <a:lnTo>
                  <a:pt x="55" y="539"/>
                </a:lnTo>
                <a:lnTo>
                  <a:pt x="51" y="531"/>
                </a:lnTo>
                <a:lnTo>
                  <a:pt x="46" y="524"/>
                </a:lnTo>
                <a:lnTo>
                  <a:pt x="42" y="517"/>
                </a:lnTo>
                <a:lnTo>
                  <a:pt x="38" y="509"/>
                </a:lnTo>
                <a:lnTo>
                  <a:pt x="35" y="502"/>
                </a:lnTo>
                <a:lnTo>
                  <a:pt x="31" y="494"/>
                </a:lnTo>
                <a:lnTo>
                  <a:pt x="28" y="486"/>
                </a:lnTo>
                <a:lnTo>
                  <a:pt x="24" y="478"/>
                </a:lnTo>
                <a:lnTo>
                  <a:pt x="21" y="470"/>
                </a:lnTo>
                <a:lnTo>
                  <a:pt x="18" y="462"/>
                </a:lnTo>
                <a:lnTo>
                  <a:pt x="16" y="454"/>
                </a:lnTo>
                <a:lnTo>
                  <a:pt x="13" y="446"/>
                </a:lnTo>
                <a:lnTo>
                  <a:pt x="11" y="437"/>
                </a:lnTo>
                <a:lnTo>
                  <a:pt x="9" y="429"/>
                </a:lnTo>
                <a:lnTo>
                  <a:pt x="7" y="421"/>
                </a:lnTo>
                <a:lnTo>
                  <a:pt x="5" y="412"/>
                </a:lnTo>
                <a:lnTo>
                  <a:pt x="4" y="403"/>
                </a:lnTo>
                <a:lnTo>
                  <a:pt x="3" y="395"/>
                </a:lnTo>
                <a:lnTo>
                  <a:pt x="2" y="386"/>
                </a:lnTo>
                <a:lnTo>
                  <a:pt x="1" y="377"/>
                </a:lnTo>
                <a:lnTo>
                  <a:pt x="0" y="368"/>
                </a:lnTo>
                <a:lnTo>
                  <a:pt x="0" y="359"/>
                </a:lnTo>
                <a:lnTo>
                  <a:pt x="0" y="350"/>
                </a:lnTo>
                <a:lnTo>
                  <a:pt x="0" y="341"/>
                </a:lnTo>
                <a:lnTo>
                  <a:pt x="0" y="332"/>
                </a:lnTo>
                <a:lnTo>
                  <a:pt x="1" y="323"/>
                </a:lnTo>
                <a:lnTo>
                  <a:pt x="2" y="314"/>
                </a:lnTo>
                <a:lnTo>
                  <a:pt x="3" y="305"/>
                </a:lnTo>
                <a:lnTo>
                  <a:pt x="4" y="297"/>
                </a:lnTo>
                <a:lnTo>
                  <a:pt x="5" y="288"/>
                </a:lnTo>
                <a:lnTo>
                  <a:pt x="7" y="280"/>
                </a:lnTo>
                <a:lnTo>
                  <a:pt x="9" y="271"/>
                </a:lnTo>
                <a:lnTo>
                  <a:pt x="11" y="263"/>
                </a:lnTo>
                <a:lnTo>
                  <a:pt x="13" y="254"/>
                </a:lnTo>
                <a:lnTo>
                  <a:pt x="16" y="246"/>
                </a:lnTo>
                <a:lnTo>
                  <a:pt x="18" y="238"/>
                </a:lnTo>
                <a:lnTo>
                  <a:pt x="21" y="230"/>
                </a:lnTo>
                <a:lnTo>
                  <a:pt x="24" y="222"/>
                </a:lnTo>
                <a:lnTo>
                  <a:pt x="28" y="214"/>
                </a:lnTo>
                <a:lnTo>
                  <a:pt x="31" y="206"/>
                </a:lnTo>
                <a:lnTo>
                  <a:pt x="34" y="200"/>
                </a:lnTo>
                <a:lnTo>
                  <a:pt x="500" y="200"/>
                </a:lnTo>
                <a:close/>
              </a:path>
            </a:pathLst>
          </a:custGeom>
          <a:gradFill>
            <a:gsLst>
              <a:gs pos="0">
                <a:srgbClr val="A855F7">
                  <a:alpha val="35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4" name=""/>
          <p:cNvSpPr/>
          <p:nvPr/>
        </p:nvSpPr>
        <p:spPr>
          <a:xfrm rot="0" flipH="0" flipV="0">
            <a:off x="-952500" y="3524250"/>
            <a:ext cx="5715000" cy="5715000"/>
          </a:xfrm>
          <a:custGeom>
            <a:pathLst>
              <a:path w="600" h="600">
                <a:moveTo>
                  <a:pt x="308" y="0"/>
                </a:moveTo>
                <a:lnTo>
                  <a:pt x="315" y="0"/>
                </a:lnTo>
                <a:lnTo>
                  <a:pt x="323" y="1"/>
                </a:lnTo>
                <a:lnTo>
                  <a:pt x="331" y="2"/>
                </a:lnTo>
                <a:lnTo>
                  <a:pt x="338" y="2"/>
                </a:lnTo>
                <a:lnTo>
                  <a:pt x="346" y="3"/>
                </a:lnTo>
                <a:lnTo>
                  <a:pt x="353" y="5"/>
                </a:lnTo>
                <a:lnTo>
                  <a:pt x="360" y="6"/>
                </a:lnTo>
                <a:lnTo>
                  <a:pt x="368" y="8"/>
                </a:lnTo>
                <a:lnTo>
                  <a:pt x="375" y="9"/>
                </a:lnTo>
                <a:lnTo>
                  <a:pt x="382" y="11"/>
                </a:lnTo>
                <a:lnTo>
                  <a:pt x="389" y="13"/>
                </a:lnTo>
                <a:lnTo>
                  <a:pt x="396" y="16"/>
                </a:lnTo>
                <a:lnTo>
                  <a:pt x="403" y="18"/>
                </a:lnTo>
                <a:lnTo>
                  <a:pt x="410" y="21"/>
                </a:lnTo>
                <a:lnTo>
                  <a:pt x="417" y="24"/>
                </a:lnTo>
                <a:lnTo>
                  <a:pt x="423" y="27"/>
                </a:lnTo>
                <a:lnTo>
                  <a:pt x="430" y="30"/>
                </a:lnTo>
                <a:lnTo>
                  <a:pt x="437" y="33"/>
                </a:lnTo>
                <a:lnTo>
                  <a:pt x="443" y="36"/>
                </a:lnTo>
                <a:lnTo>
                  <a:pt x="449" y="40"/>
                </a:lnTo>
                <a:lnTo>
                  <a:pt x="456" y="43"/>
                </a:lnTo>
                <a:lnTo>
                  <a:pt x="462" y="47"/>
                </a:lnTo>
                <a:lnTo>
                  <a:pt x="468" y="51"/>
                </a:lnTo>
                <a:lnTo>
                  <a:pt x="474" y="55"/>
                </a:lnTo>
                <a:lnTo>
                  <a:pt x="479" y="60"/>
                </a:lnTo>
                <a:lnTo>
                  <a:pt x="485" y="64"/>
                </a:lnTo>
                <a:lnTo>
                  <a:pt x="491" y="69"/>
                </a:lnTo>
                <a:lnTo>
                  <a:pt x="496" y="73"/>
                </a:lnTo>
                <a:lnTo>
                  <a:pt x="502" y="78"/>
                </a:lnTo>
                <a:lnTo>
                  <a:pt x="507" y="83"/>
                </a:lnTo>
                <a:lnTo>
                  <a:pt x="512" y="88"/>
                </a:lnTo>
                <a:lnTo>
                  <a:pt x="517" y="93"/>
                </a:lnTo>
                <a:lnTo>
                  <a:pt x="522" y="98"/>
                </a:lnTo>
                <a:lnTo>
                  <a:pt x="527" y="104"/>
                </a:lnTo>
                <a:lnTo>
                  <a:pt x="531" y="109"/>
                </a:lnTo>
                <a:lnTo>
                  <a:pt x="536" y="115"/>
                </a:lnTo>
                <a:lnTo>
                  <a:pt x="540" y="121"/>
                </a:lnTo>
                <a:lnTo>
                  <a:pt x="545" y="126"/>
                </a:lnTo>
                <a:lnTo>
                  <a:pt x="549" y="132"/>
                </a:lnTo>
                <a:lnTo>
                  <a:pt x="553" y="138"/>
                </a:lnTo>
                <a:lnTo>
                  <a:pt x="557" y="144"/>
                </a:lnTo>
                <a:lnTo>
                  <a:pt x="560" y="151"/>
                </a:lnTo>
                <a:lnTo>
                  <a:pt x="564" y="157"/>
                </a:lnTo>
                <a:lnTo>
                  <a:pt x="567" y="163"/>
                </a:lnTo>
                <a:lnTo>
                  <a:pt x="570" y="170"/>
                </a:lnTo>
                <a:lnTo>
                  <a:pt x="573" y="177"/>
                </a:lnTo>
                <a:lnTo>
                  <a:pt x="576" y="183"/>
                </a:lnTo>
                <a:lnTo>
                  <a:pt x="579" y="190"/>
                </a:lnTo>
                <a:lnTo>
                  <a:pt x="582" y="197"/>
                </a:lnTo>
                <a:lnTo>
                  <a:pt x="584" y="204"/>
                </a:lnTo>
                <a:lnTo>
                  <a:pt x="587" y="211"/>
                </a:lnTo>
                <a:lnTo>
                  <a:pt x="589" y="218"/>
                </a:lnTo>
                <a:lnTo>
                  <a:pt x="591" y="225"/>
                </a:lnTo>
                <a:lnTo>
                  <a:pt x="592" y="232"/>
                </a:lnTo>
                <a:lnTo>
                  <a:pt x="594" y="240"/>
                </a:lnTo>
                <a:lnTo>
                  <a:pt x="595" y="247"/>
                </a:lnTo>
                <a:lnTo>
                  <a:pt x="597" y="254"/>
                </a:lnTo>
                <a:lnTo>
                  <a:pt x="598" y="262"/>
                </a:lnTo>
                <a:lnTo>
                  <a:pt x="598" y="269"/>
                </a:lnTo>
                <a:lnTo>
                  <a:pt x="599" y="277"/>
                </a:lnTo>
                <a:lnTo>
                  <a:pt x="600" y="285"/>
                </a:lnTo>
                <a:lnTo>
                  <a:pt x="600" y="292"/>
                </a:lnTo>
                <a:lnTo>
                  <a:pt x="600" y="300"/>
                </a:lnTo>
                <a:lnTo>
                  <a:pt x="600" y="308"/>
                </a:lnTo>
                <a:lnTo>
                  <a:pt x="600" y="315"/>
                </a:lnTo>
                <a:lnTo>
                  <a:pt x="599" y="323"/>
                </a:lnTo>
                <a:lnTo>
                  <a:pt x="598" y="331"/>
                </a:lnTo>
                <a:lnTo>
                  <a:pt x="598" y="338"/>
                </a:lnTo>
                <a:lnTo>
                  <a:pt x="597" y="346"/>
                </a:lnTo>
                <a:lnTo>
                  <a:pt x="596" y="350"/>
                </a:lnTo>
                <a:lnTo>
                  <a:pt x="100" y="350"/>
                </a:lnTo>
                <a:lnTo>
                  <a:pt x="100" y="76"/>
                </a:lnTo>
                <a:lnTo>
                  <a:pt x="104" y="73"/>
                </a:lnTo>
                <a:lnTo>
                  <a:pt x="109" y="69"/>
                </a:lnTo>
                <a:lnTo>
                  <a:pt x="115" y="64"/>
                </a:lnTo>
                <a:lnTo>
                  <a:pt x="121" y="60"/>
                </a:lnTo>
                <a:lnTo>
                  <a:pt x="126" y="55"/>
                </a:lnTo>
                <a:lnTo>
                  <a:pt x="132" y="51"/>
                </a:lnTo>
                <a:lnTo>
                  <a:pt x="138" y="47"/>
                </a:lnTo>
                <a:lnTo>
                  <a:pt x="144" y="43"/>
                </a:lnTo>
                <a:lnTo>
                  <a:pt x="151" y="40"/>
                </a:lnTo>
                <a:lnTo>
                  <a:pt x="157" y="36"/>
                </a:lnTo>
                <a:lnTo>
                  <a:pt x="163" y="33"/>
                </a:lnTo>
                <a:lnTo>
                  <a:pt x="170" y="30"/>
                </a:lnTo>
                <a:lnTo>
                  <a:pt x="177" y="27"/>
                </a:lnTo>
                <a:lnTo>
                  <a:pt x="183" y="24"/>
                </a:lnTo>
                <a:lnTo>
                  <a:pt x="190" y="21"/>
                </a:lnTo>
                <a:lnTo>
                  <a:pt x="197" y="18"/>
                </a:lnTo>
                <a:lnTo>
                  <a:pt x="204" y="16"/>
                </a:lnTo>
                <a:lnTo>
                  <a:pt x="211" y="13"/>
                </a:lnTo>
                <a:lnTo>
                  <a:pt x="218" y="11"/>
                </a:lnTo>
                <a:lnTo>
                  <a:pt x="225" y="9"/>
                </a:lnTo>
                <a:lnTo>
                  <a:pt x="232" y="8"/>
                </a:lnTo>
                <a:lnTo>
                  <a:pt x="240" y="6"/>
                </a:lnTo>
                <a:lnTo>
                  <a:pt x="247" y="5"/>
                </a:lnTo>
                <a:lnTo>
                  <a:pt x="254" y="3"/>
                </a:lnTo>
                <a:lnTo>
                  <a:pt x="262" y="2"/>
                </a:lnTo>
                <a:lnTo>
                  <a:pt x="269" y="2"/>
                </a:lnTo>
                <a:lnTo>
                  <a:pt x="277" y="1"/>
                </a:lnTo>
                <a:lnTo>
                  <a:pt x="285" y="0"/>
                </a:lnTo>
                <a:lnTo>
                  <a:pt x="292" y="0"/>
                </a:lnTo>
                <a:lnTo>
                  <a:pt x="300" y="0"/>
                </a:lnTo>
                <a:close/>
              </a:path>
            </a:pathLst>
          </a:custGeom>
          <a:gradFill>
            <a:gsLst>
              <a:gs pos="0">
                <a:srgbClr val="EC4899">
                  <a:alpha val="18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5" name=""/>
          <p:cNvSpPr/>
          <p:nvPr/>
        </p:nvSpPr>
        <p:spPr>
          <a:xfrm rot="0" flipH="0" flipV="0">
            <a:off x="762000" y="619125"/>
            <a:ext cx="76200" cy="76200"/>
          </a:xfrm>
          <a:prstGeom prst="roundRect">
            <a:avLst>
              <a:gd name="adj" fmla="val 124987500"/>
            </a:avLst>
          </a:prstGeom>
          <a:solidFill>
            <a:srgbClr val="A855F7"/>
          </a:solidFill>
          <a:ln/>
        </p:spPr>
        <p:txBody>
          <a:bodyPr/>
          <a:p/>
        </p:txBody>
      </p:sp>
      <p:sp>
        <p:nvSpPr>
          <p:cNvPr id="6" name="" descr="{&quot;isTemplate&quot;:true,&quot;type&quot;:&quot;text&quot;}"/>
          <p:cNvSpPr txBox="1"/>
          <p:nvPr/>
        </p:nvSpPr>
        <p:spPr>
          <a:xfrm rot="0" flipH="0" flipV="0">
            <a:off x="952500" y="571500"/>
            <a:ext cx="24288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CA3AF"/>
                </a:solidFill>
                <a:latin typeface="Microsoft YaHei"/>
                <a:ea typeface="Microsoft YaHei"/>
              </a:rPr>
              <a:t>TINGXIN · </a:t>
            </a:r>
            <a:r>
              <a:rPr lang="zh-CN" sz="1050" spc="300">
                <a:solidFill>
                  <a:srgbClr val="9CA3AF"/>
                </a:solidFill>
                <a:latin typeface="Microsoft YaHei"/>
                <a:ea typeface="Microsoft YaHei"/>
              </a:rPr>
              <a:t>高校心理预警平台</a:t>
            </a:r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762000" y="1905000"/>
            <a:ext cx="4714875" cy="2514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0" b="1" spc="-600">
                <a:gradFill>
                  <a:gsLst>
                    <a:gs pos="0">
                      <a:srgbClr val="A855F7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Microsoft YaHei"/>
                <a:ea typeface="Microsoft YaHei"/>
              </a:rPr>
              <a:t>聆心</a:t>
            </a:r>
            <a:endParaRPr/>
          </a:p>
        </p:txBody>
      </p:sp>
      <p:sp>
        <p:nvSpPr>
          <p:cNvPr id="8" name="" descr="{&quot;isTemplate&quot;:true,&quot;type&quot;:&quot;text&quot;}"/>
          <p:cNvSpPr txBox="1"/>
          <p:nvPr/>
        </p:nvSpPr>
        <p:spPr>
          <a:xfrm rot="0" flipH="0" flipV="0">
            <a:off x="762000" y="4686300"/>
            <a:ext cx="4714875" cy="3238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F5F5F7"/>
                </a:solidFill>
                <a:latin typeface="Microsoft YaHei"/>
                <a:ea typeface="Microsoft YaHei"/>
              </a:rPr>
              <a:t>辅导员减负</a:t>
            </a:r>
            <a:r>
              <a:rPr lang="en-US" sz="2100">
                <a:solidFill>
                  <a:srgbClr val="F5F5F7"/>
                </a:solidFill>
                <a:latin typeface="Microsoft YaHei"/>
                <a:ea typeface="Microsoft YaHei"/>
              </a:rPr>
              <a:t> · </a:t>
            </a:r>
            <a:r>
              <a:rPr lang="zh-CN" sz="2100">
                <a:solidFill>
                  <a:srgbClr val="F5F5F7"/>
                </a:solidFill>
                <a:latin typeface="Microsoft YaHei"/>
                <a:ea typeface="Microsoft YaHei"/>
              </a:rPr>
              <a:t>学生被看见</a:t>
            </a:r>
            <a:r>
              <a:rPr lang="en-US" sz="2100">
                <a:solidFill>
                  <a:srgbClr val="F5F5F7"/>
                </a:solidFill>
                <a:latin typeface="Microsoft YaHei"/>
                <a:ea typeface="Microsoft YaHei"/>
              </a:rPr>
              <a:t> · </a:t>
            </a:r>
            <a:r>
              <a:rPr lang="zh-CN" sz="2100">
                <a:solidFill>
                  <a:srgbClr val="F5F5F7"/>
                </a:solidFill>
                <a:latin typeface="Microsoft YaHei"/>
                <a:ea typeface="Microsoft YaHei"/>
              </a:rPr>
              <a:t>风险不漏一人</a:t>
            </a:r>
            <a:endParaRPr/>
          </a:p>
        </p:txBody>
      </p:sp>
      <p:sp>
        <p:nvSpPr>
          <p:cNvPr id="9" name="" descr="{&quot;isTemplate&quot;:true,&quot;type&quot;:&quot;text&quot;}"/>
          <p:cNvSpPr txBox="1"/>
          <p:nvPr/>
        </p:nvSpPr>
        <p:spPr>
          <a:xfrm rot="0" flipH="0" flipV="0">
            <a:off x="762000" y="5238750"/>
            <a:ext cx="47148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9CA3AF"/>
                </a:solidFill>
                <a:latin typeface="Microsoft YaHei"/>
                <a:ea typeface="Microsoft YaHei"/>
              </a:rPr>
              <a:t>基于大模型智能体的心理预警与</a:t>
            </a:r>
            <a:r>
              <a:rPr lang="en-US" sz="1200" spc="150">
                <a:solidFill>
                  <a:srgbClr val="9CA3AF"/>
                </a:solidFill>
                <a:latin typeface="Microsoft YaHei"/>
                <a:ea typeface="Microsoft YaHei"/>
              </a:rPr>
              <a:t> AI </a:t>
            </a:r>
            <a:r>
              <a:rPr lang="zh-CN" sz="1200" spc="150">
                <a:solidFill>
                  <a:srgbClr val="9CA3AF"/>
                </a:solidFill>
                <a:latin typeface="Microsoft YaHei"/>
                <a:ea typeface="Microsoft YaHei"/>
              </a:rPr>
              <a:t>陪伴一体化平台</a:t>
            </a:r>
            <a:endParaRPr/>
          </a:p>
        </p:txBody>
      </p:sp>
      <p:sp>
        <p:nvSpPr>
          <p:cNvPr id="10" name=""/>
          <p:cNvSpPr/>
          <p:nvPr/>
        </p:nvSpPr>
        <p:spPr>
          <a:xfrm rot="0" flipH="0" flipV="0">
            <a:off x="9667875" y="6296025"/>
            <a:ext cx="571500" cy="1905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p/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10391775" y="6219825"/>
            <a:ext cx="10382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演示视频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 · 4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2" name="" descr="&lt;Slide style={{ width: 1280, height: 720, background: '#0B0B12', position: 'relative', overflow: 'hidden' }}&gt;&#10;  {/* 左上 CONTENTS 标识 */}&#10;  &lt;Box style={{ position: 'absolute', top: 60, left: 80, flexDirection: 'column', gap: 18 }}&gt;&#10;    &lt;Text style={{ fontSize: 14, color: '#9CA3AF', letterSpacing: 6 }}&gt;CONTENTS&lt;/Text&gt;&#10;    &lt;Text style={{ fontSize: 96, fontWeight: 'bold', color: '#F5F5F7', lineHeight: 1 }}&gt;目录&lt;/Text&gt;&#10;    &lt;Box style={{ width: 80, height: 4, background: '#A855F7', marginTop: 12 }} /&gt;&#10;  &lt;/Box&gt;&#10;&#10;  {/* 五个章节 */}&#10;  &lt;Box style={{ position: 'absolute', right: 120, top: 100, width: 600, flexDirection: 'column', gap: 22 }}&gt;&#10;    {[&#10;      ['01', '辅导员工作台 + 情绪网络图', 'Counselor Dashboard &amp; Network'],&#10;      ['02', '老师端 · AI 数字人', 'AI Digital Human'],&#10;      ['03', '视频通话 · 多模态情绪感知', 'Video Call · Multimodal Emotion'],&#10;      ['04', '危机闭环 · 工单流转', 'Crisis Workflow'],&#10;      ['05', '学生端 · 测评与求助', 'Student Portal'],&#10;    ].map(([num, cn, en], i) =&gt; (&#10;      &lt;Box key={i} style={{ flexDirection: 'row', alignItems: 'baseline', gap: 28, paddingBottom: 16, borderBottom: '1px solid #1F1F2E' }}&gt;&#10;        &lt;Text style={{ fontSize: 48, fontWeight: 'bold', color: '#A855F7', lineHeight: 1, width: 80 }}&gt;{num}&lt;/Text&gt;&#10;        &lt;Box style={{ flexDirection: 'column', gap: 6 }}&gt;&#10;          &lt;Text style={{ fontSize: 22, color: '#F5F5F7', fontWeight: 'bold' }}&gt;{cn}&lt;/Text&gt;&#10;          &lt;Text style={{ fontSize: 13, color: '#9CA3AF', letterSpacing: 1 }}&gt;{en}&lt;/Text&gt;&#10;        &lt;/Box&gt;&#10;      &lt;/Box&gt;&#10;    ))}&#10;  &lt;/Box&gt;&#10;&#10;  {/* 页脚 */}&#10;  &lt;Box style={{ position: 'absolute', bottom: 30, right: 80, flexDirection: 'row', alignItems: 'center', gap: 8 }}&gt;&#10;    &lt;Text style={{ fontSize: 13, color: '#9CA3AF' }}&gt;02&lt;/Text&gt;&#10;    &lt;Box style={{ width: 30, height: 1, background: '#9CA3AF' }} /&gt;&#10;    &lt;Text style={{ fontSize: 13, color: '#9CA3AF' }}&gt;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B12"/>
          </a:solidFill>
          <a:ln/>
        </p:spPr>
        <p:txBody>
          <a:bodyPr/>
          <a:p/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762000" y="571500"/>
            <a:ext cx="18288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0">
                <a:solidFill>
                  <a:srgbClr val="9CA3AF"/>
                </a:solidFill>
                <a:latin typeface="Microsoft YaHei"/>
                <a:ea typeface="Microsoft YaHei"/>
              </a:rPr>
              <a:t>CONTENTS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762000" y="904875"/>
            <a:ext cx="1828800" cy="11049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200" b="1">
                <a:solidFill>
                  <a:srgbClr val="F5F5F7"/>
                </a:solidFill>
                <a:latin typeface="Microsoft YaHei"/>
                <a:ea typeface="Microsoft YaHei"/>
              </a:rPr>
              <a:t>目录</a:t>
            </a:r>
            <a:endParaRPr/>
          </a:p>
        </p:txBody>
      </p:sp>
      <p:sp>
        <p:nvSpPr>
          <p:cNvPr id="16" name=""/>
          <p:cNvSpPr/>
          <p:nvPr/>
        </p:nvSpPr>
        <p:spPr>
          <a:xfrm rot="0" flipH="0" flipV="0">
            <a:off x="762000" y="2295525"/>
            <a:ext cx="762000" cy="3810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p/>
        </p:txBody>
      </p:sp>
      <p:sp>
        <p:nvSpPr>
          <p:cNvPr id="17" name=""/>
          <p:cNvSpPr/>
          <p:nvPr/>
        </p:nvSpPr>
        <p:spPr>
          <a:xfrm rot="0" flipH="0" flipV="0">
            <a:off x="5334000" y="952500"/>
            <a:ext cx="5715000" cy="723900"/>
          </a:xfrm>
          <a:custGeom>
            <a:pathLst>
              <a:path w="600" h="76">
                <a:moveTo>
                  <a:pt x="0" y="75"/>
                </a:moveTo>
                <a:lnTo>
                  <a:pt x="600" y="75"/>
                </a:lnTo>
                <a:lnTo>
                  <a:pt x="60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1F1F2E"/>
          </a:solidFill>
          <a:ln/>
        </p:spPr>
        <p:txBody>
          <a:bodyPr/>
          <a:p/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334000" y="952500"/>
            <a:ext cx="762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A855F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9" name="" descr="{&quot;isTemplate&quot;:true,&quot;type&quot;:&quot;text&quot;}"/>
          <p:cNvSpPr txBox="1"/>
          <p:nvPr/>
        </p:nvSpPr>
        <p:spPr>
          <a:xfrm rot="0" flipH="0" flipV="0">
            <a:off x="6362700" y="952500"/>
            <a:ext cx="2590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F5F7"/>
                </a:solidFill>
                <a:latin typeface="Microsoft YaHei"/>
                <a:ea typeface="Microsoft YaHei"/>
              </a:rPr>
              <a:t>辅导员工作台</a:t>
            </a:r>
            <a:r>
              <a:rPr lang="en-US" sz="1650" b="1">
                <a:solidFill>
                  <a:srgbClr val="F5F5F7"/>
                </a:solidFill>
                <a:latin typeface="Microsoft YaHei"/>
                <a:ea typeface="Microsoft YaHei"/>
              </a:rPr>
              <a:t> + </a:t>
            </a:r>
            <a:r>
              <a:rPr lang="zh-CN" sz="1650" b="1">
                <a:solidFill>
                  <a:srgbClr val="F5F5F7"/>
                </a:solidFill>
                <a:latin typeface="Microsoft YaHei"/>
                <a:ea typeface="Microsoft YaHei"/>
              </a:rPr>
              <a:t>情绪网络图</a:t>
            </a:r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6362700" y="1266825"/>
            <a:ext cx="25908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9CA3AF"/>
                </a:solidFill>
                <a:latin typeface="Microsoft YaHei"/>
                <a:ea typeface="Microsoft YaHei"/>
              </a:rPr>
              <a:t>Counselor Dashboard &amp; Network</a:t>
            </a:r>
            <a:endParaRPr/>
          </a:p>
        </p:txBody>
      </p:sp>
      <p:sp>
        <p:nvSpPr>
          <p:cNvPr id="21" name=""/>
          <p:cNvSpPr/>
          <p:nvPr/>
        </p:nvSpPr>
        <p:spPr>
          <a:xfrm rot="0" flipH="0" flipV="0">
            <a:off x="5334000" y="1876425"/>
            <a:ext cx="5715000" cy="723900"/>
          </a:xfrm>
          <a:custGeom>
            <a:pathLst>
              <a:path w="600" h="76">
                <a:moveTo>
                  <a:pt x="0" y="75"/>
                </a:moveTo>
                <a:lnTo>
                  <a:pt x="600" y="75"/>
                </a:lnTo>
                <a:lnTo>
                  <a:pt x="60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1F1F2E"/>
          </a:solidFill>
          <a:ln/>
        </p:spPr>
        <p:txBody>
          <a:bodyPr/>
          <a:p/>
        </p:txBody>
      </p:sp>
      <p:sp>
        <p:nvSpPr>
          <p:cNvPr id="22" name="" descr="{&quot;isTemplate&quot;:true,&quot;type&quot;:&quot;text&quot;}"/>
          <p:cNvSpPr txBox="1"/>
          <p:nvPr/>
        </p:nvSpPr>
        <p:spPr>
          <a:xfrm rot="0" flipH="0" flipV="0">
            <a:off x="5334000" y="1876425"/>
            <a:ext cx="762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A855F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23" name="" descr="{&quot;isTemplate&quot;:true,&quot;type&quot;:&quot;text&quot;}"/>
          <p:cNvSpPr txBox="1"/>
          <p:nvPr/>
        </p:nvSpPr>
        <p:spPr>
          <a:xfrm rot="0" flipH="0" flipV="0">
            <a:off x="6362700" y="1876425"/>
            <a:ext cx="1771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F5F7"/>
                </a:solidFill>
                <a:latin typeface="Microsoft YaHei"/>
                <a:ea typeface="Microsoft YaHei"/>
              </a:rPr>
              <a:t>老师端</a:t>
            </a:r>
            <a:r>
              <a:rPr lang="en-US" sz="1650" b="1">
                <a:solidFill>
                  <a:srgbClr val="F5F5F7"/>
                </a:solidFill>
                <a:latin typeface="Microsoft YaHei"/>
                <a:ea typeface="Microsoft YaHei"/>
              </a:rPr>
              <a:t> · AI </a:t>
            </a:r>
            <a:r>
              <a:rPr lang="zh-CN" sz="1650" b="1">
                <a:solidFill>
                  <a:srgbClr val="F5F5F7"/>
                </a:solidFill>
                <a:latin typeface="Microsoft YaHei"/>
                <a:ea typeface="Microsoft YaHei"/>
              </a:rPr>
              <a:t>数字人</a:t>
            </a:r>
            <a:endParaRPr/>
          </a:p>
        </p:txBody>
      </p:sp>
      <p:sp>
        <p:nvSpPr>
          <p:cNvPr id="24" name="" descr="{&quot;isTemplate&quot;:true,&quot;type&quot;:&quot;text&quot;}"/>
          <p:cNvSpPr txBox="1"/>
          <p:nvPr/>
        </p:nvSpPr>
        <p:spPr>
          <a:xfrm rot="0" flipH="0" flipV="0">
            <a:off x="6362700" y="2190750"/>
            <a:ext cx="1771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9CA3AF"/>
                </a:solidFill>
                <a:latin typeface="Microsoft YaHei"/>
                <a:ea typeface="Microsoft YaHei"/>
              </a:rPr>
              <a:t>AI Digital Human</a:t>
            </a:r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5334000" y="2800350"/>
            <a:ext cx="5715000" cy="723900"/>
          </a:xfrm>
          <a:custGeom>
            <a:pathLst>
              <a:path w="600" h="76">
                <a:moveTo>
                  <a:pt x="0" y="75"/>
                </a:moveTo>
                <a:lnTo>
                  <a:pt x="600" y="75"/>
                </a:lnTo>
                <a:lnTo>
                  <a:pt x="60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1F1F2E"/>
          </a:solidFill>
          <a:ln/>
        </p:spPr>
        <p:txBody>
          <a:bodyPr/>
          <a:p/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5334000" y="2800350"/>
            <a:ext cx="762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A855F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6362700" y="2800350"/>
            <a:ext cx="2524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F5F7"/>
                </a:solidFill>
                <a:latin typeface="Microsoft YaHei"/>
                <a:ea typeface="Microsoft YaHei"/>
              </a:rPr>
              <a:t>视频通话</a:t>
            </a:r>
            <a:r>
              <a:rPr lang="en-US" sz="1650" b="1">
                <a:solidFill>
                  <a:srgbClr val="F5F5F7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F5F5F7"/>
                </a:solidFill>
                <a:latin typeface="Microsoft YaHei"/>
                <a:ea typeface="Microsoft YaHei"/>
              </a:rPr>
              <a:t>多模态情绪感知</a:t>
            </a:r>
            <a:endParaRPr/>
          </a:p>
        </p:txBody>
      </p:sp>
      <p:sp>
        <p:nvSpPr>
          <p:cNvPr id="28" name="" descr="{&quot;isTemplate&quot;:true,&quot;type&quot;:&quot;text&quot;}"/>
          <p:cNvSpPr txBox="1"/>
          <p:nvPr/>
        </p:nvSpPr>
        <p:spPr>
          <a:xfrm rot="0" flipH="0" flipV="0">
            <a:off x="6362700" y="3114675"/>
            <a:ext cx="25241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9CA3AF"/>
                </a:solidFill>
                <a:latin typeface="Microsoft YaHei"/>
                <a:ea typeface="Microsoft YaHei"/>
              </a:rPr>
              <a:t>Video Call · Multimodal Emotion</a:t>
            </a:r>
            <a:endParaRPr/>
          </a:p>
        </p:txBody>
      </p:sp>
      <p:sp>
        <p:nvSpPr>
          <p:cNvPr id="29" name=""/>
          <p:cNvSpPr/>
          <p:nvPr/>
        </p:nvSpPr>
        <p:spPr>
          <a:xfrm rot="0" flipH="0" flipV="0">
            <a:off x="5334000" y="3724275"/>
            <a:ext cx="5715000" cy="723900"/>
          </a:xfrm>
          <a:custGeom>
            <a:pathLst>
              <a:path w="600" h="76">
                <a:moveTo>
                  <a:pt x="0" y="75"/>
                </a:moveTo>
                <a:lnTo>
                  <a:pt x="600" y="75"/>
                </a:lnTo>
                <a:lnTo>
                  <a:pt x="60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1F1F2E"/>
          </a:solidFill>
          <a:ln/>
        </p:spPr>
        <p:txBody>
          <a:bodyPr/>
          <a:p/>
        </p:txBody>
      </p:sp>
      <p:sp>
        <p:nvSpPr>
          <p:cNvPr id="30" name="" descr="{&quot;isTemplate&quot;:true,&quot;type&quot;:&quot;text&quot;}"/>
          <p:cNvSpPr txBox="1"/>
          <p:nvPr/>
        </p:nvSpPr>
        <p:spPr>
          <a:xfrm rot="0" flipH="0" flipV="0">
            <a:off x="5334000" y="3724275"/>
            <a:ext cx="762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A855F7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6362700" y="3724275"/>
            <a:ext cx="1895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F5F7"/>
                </a:solidFill>
                <a:latin typeface="Microsoft YaHei"/>
                <a:ea typeface="Microsoft YaHei"/>
              </a:rPr>
              <a:t>危机闭环</a:t>
            </a:r>
            <a:r>
              <a:rPr lang="en-US" sz="1650" b="1">
                <a:solidFill>
                  <a:srgbClr val="F5F5F7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F5F5F7"/>
                </a:solidFill>
                <a:latin typeface="Microsoft YaHei"/>
                <a:ea typeface="Microsoft YaHei"/>
              </a:rPr>
              <a:t>工单流转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6362700" y="4038600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9CA3AF"/>
                </a:solidFill>
                <a:latin typeface="Microsoft YaHei"/>
                <a:ea typeface="Microsoft YaHei"/>
              </a:rPr>
              <a:t>Crisis Workflow</a:t>
            </a:r>
            <a:endParaRPr/>
          </a:p>
        </p:txBody>
      </p:sp>
      <p:sp>
        <p:nvSpPr>
          <p:cNvPr id="33" name=""/>
          <p:cNvSpPr/>
          <p:nvPr/>
        </p:nvSpPr>
        <p:spPr>
          <a:xfrm rot="0" flipH="0" flipV="0">
            <a:off x="5334000" y="4648200"/>
            <a:ext cx="5715000" cy="723900"/>
          </a:xfrm>
          <a:custGeom>
            <a:pathLst>
              <a:path w="600" h="76">
                <a:moveTo>
                  <a:pt x="0" y="75"/>
                </a:moveTo>
                <a:lnTo>
                  <a:pt x="600" y="75"/>
                </a:lnTo>
                <a:lnTo>
                  <a:pt x="60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1F1F2E"/>
          </a:solidFill>
          <a:ln/>
        </p:spPr>
        <p:txBody>
          <a:bodyPr/>
          <a:p/>
        </p:txBody>
      </p:sp>
      <p:sp>
        <p:nvSpPr>
          <p:cNvPr id="34" name="" descr="{&quot;isTemplate&quot;:true,&quot;type&quot;:&quot;text&quot;}"/>
          <p:cNvSpPr txBox="1"/>
          <p:nvPr/>
        </p:nvSpPr>
        <p:spPr>
          <a:xfrm rot="0" flipH="0" flipV="0">
            <a:off x="5334000" y="4648200"/>
            <a:ext cx="76200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A855F7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6362700" y="4648200"/>
            <a:ext cx="18954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5F5F7"/>
                </a:solidFill>
                <a:latin typeface="Microsoft YaHei"/>
                <a:ea typeface="Microsoft YaHei"/>
              </a:rPr>
              <a:t>学生端</a:t>
            </a:r>
            <a:r>
              <a:rPr lang="en-US" sz="1650" b="1">
                <a:solidFill>
                  <a:srgbClr val="F5F5F7"/>
                </a:solidFill>
                <a:latin typeface="Microsoft YaHei"/>
                <a:ea typeface="Microsoft YaHei"/>
              </a:rPr>
              <a:t> · </a:t>
            </a:r>
            <a:r>
              <a:rPr lang="zh-CN" sz="1650" b="1">
                <a:solidFill>
                  <a:srgbClr val="F5F5F7"/>
                </a:solidFill>
                <a:latin typeface="Microsoft YaHei"/>
                <a:ea typeface="Microsoft YaHei"/>
              </a:rPr>
              <a:t>测评与求助</a:t>
            </a:r>
            <a:endParaRPr/>
          </a:p>
        </p:txBody>
      </p:sp>
      <p:sp>
        <p:nvSpPr>
          <p:cNvPr id="36" name="" descr="{&quot;isTemplate&quot;:true,&quot;type&quot;:&quot;text&quot;}"/>
          <p:cNvSpPr txBox="1"/>
          <p:nvPr/>
        </p:nvSpPr>
        <p:spPr>
          <a:xfrm rot="0" flipH="0" flipV="0">
            <a:off x="6362700" y="4962525"/>
            <a:ext cx="18954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9CA3AF"/>
                </a:solidFill>
                <a:latin typeface="Microsoft YaHei"/>
                <a:ea typeface="Microsoft YaHei"/>
              </a:rPr>
              <a:t>Student Portal</a:t>
            </a:r>
            <a:endParaRPr/>
          </a:p>
        </p:txBody>
      </p:sp>
      <p:sp>
        <p:nvSpPr>
          <p:cNvPr id="37" name="" descr="{&quot;isTemplate&quot;:true,&quot;type&quot;:&quot;text&quot;}"/>
          <p:cNvSpPr txBox="1"/>
          <p:nvPr/>
        </p:nvSpPr>
        <p:spPr>
          <a:xfrm rot="0" flipH="0" flipV="0">
            <a:off x="1068705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38" name=""/>
          <p:cNvSpPr/>
          <p:nvPr/>
        </p:nvSpPr>
        <p:spPr>
          <a:xfrm rot="0" flipH="0" flipV="0">
            <a:off x="10915650" y="6496050"/>
            <a:ext cx="285750" cy="9525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1127760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40" name="" descr="&lt;Slide style={{ width: 1280, height: 720, background: '#0B0B12', position: 'relative', overflow: 'hidden' }}&gt;&#10;  {/* 章节角标 */}&#10;  &lt;Box style={{ position: 'absolute', top: 40, left: 80, flexDirection: 'row', alignItems: 'baseline', gap: 16 }}&gt;&#10;    &lt;Text style={{ fontSize: 56, fontWeight: 'bold', color: '#A855F7', lineHeight: 1 }}&gt;01&lt;/Text&gt;&#10;    &lt;Box style={{ flexDirection: 'column', gap: 4 }}&gt;&#10;      &lt;Text style={{ fontSize: 24, color: '#F5F5F7', fontWeight: 'bold' }}&gt;辅导员工作台 + 情绪网络图&lt;/Text&gt;&#10;      &lt;Text style={{ fontSize: 12, color: '#9CA3AF', letterSpacing: 2 }}&gt;COUNSELOR DASHBOARD · EMOTION NETWORK&lt;/Text&gt;&#10;    &lt;/Box&gt;&#10;  &lt;/Box&gt;&#10;&#10;  {/* 主标题 */}&#10;  &lt;Box style={{ position: 'absolute', top: 130, left: 80, flexDirection: 'column', gap: 8 }}&gt;&#10;    &lt;Text style={{ fontSize: 40, color: '#F5F5F7', fontWeight: 'bold', lineHeight: 1.2 }}&gt;&#10;      50 名学生，&lt;Text style={{ color: '#A855F7' }}&gt;一张图&lt;/Text&gt;全局可见&#10;    &lt;/Text&gt;&#10;    &lt;Text style={{ fontSize: 15, color: '#9CA3AF', marginTop: 6, lineHeight: 1.6 }}&gt;&#10;      工作台汇总 30+ 项待办与日历提醒;情绪网络图按风险 / 班级 / 学院聚类&#10;    &lt;/Text&gt;&#10;  &lt;/Box&gt;&#10;&#10;  {/* 左 数据卡片三联 */}&#10;  &lt;Box style={{ position: 'absolute', top: 280, left: 80, flexDirection: 'column', gap: 20, width: 340 }}&gt;&#10;    {[&#10;      ['50', '名学生', '#A855F7'],&#10;      ['30+', '今日待办', '#EC4899'],&#10;      ['1', '全局视图', '#7C3AED'],&#10;    ].map(([n, l, c], i) =&gt; (&#10;      &lt;Box key={i} style={{ padding: '18px 22px', background: '#15151F', borderLeft: `4px solid ${c}`, borderRadius: 4, flexDirection: 'row', alignItems: 'baseline', gap: 18 }}&gt;&#10;        &lt;Text style={{ fontSize: 56, fontWeight: 'bold', color: c, lineHeight: 1 }}&gt;{n}&lt;/Text&gt;&#10;        &lt;Text style={{ fontSize: 16, color: '#F5F5F7' }}&gt;{l}&lt;/Text&gt;&#10;      &lt;/Box&gt;&#10;    ))}&#10;    &lt;Box style={{ padding: '14px 22px', background: 'rgba(239,68,68,0.1)', border: '1px solid #EF4444', borderRadius: 4 }}&gt;&#10;      &lt;Text style={{ fontSize: 14, color: '#EF4444', fontWeight: 'bold' }}&gt;▲ 当前 3 名高风险学生&lt;/Text&gt;&#10;    &lt;/Box&gt;&#10;  &lt;/Box&gt;&#10;&#10;  {/* 右 网络图示意 — 用真实 Grid 布局不溢出 */}&#10;  &lt;Box style={{ position: 'absolute', top: 130, right: 80, width: 520, height: 480, background: 'radial-gradient(circle at center, #1A1A2E 0%, #0B0B12 70%)', border: '1px solid #2A2A3E', borderRadius: 8, padding: 30 }}&gt;&#10;    {/* 标题 */}&#10;    &lt;Box style={{ flexDirection: 'row', justifyContent: 'space-between', marginBottom: 24 }}&gt;&#10;      &lt;Text style={{ fontSize: 14, color: '#F5F5F7', fontWeight: 'bold' }}&gt;全班情绪网络&lt;/Text&gt;&#10;      &lt;Text style={{ fontSize: 11, color: '#9CA3AF' }}&gt;点击节点直达师生对话&lt;/Text&gt;&#10;    &lt;/Box&gt;&#10;&#10;    {/* 节点网格 5x4 = 20个 */}&#10;    &lt;Box style={{ flexDirection: 'row', flexWrap: 'wrap', gap: 12, justifyContent: 'space-between' }}&gt;&#10;      {[&#10;        '#EF4444', '#EF4444', '#F59E0B', '#F59E0B', '#10B981',&#10;        '#EF4444', '#F59E0B', '#10B981', '#10B981', '#10B981',&#10;        '#10B981', '#10B981', '#EF4444', '#F59E0B', '#10B981',&#10;        '#10B981', '#10B981', '#F59E0B', '#10B981', '#10B981',&#10;      ].map((c, i) =&gt; (&#10;        &lt;Box key={i} style={{ width: 64, height: 64, borderRadius: 9999, background: c, opacity: 0.85, alignItems: 'center', justifyContent: 'center' }}&gt;&#10;          &lt;Text style={{ fontSize: 11, color: '#FFFFFF', fontWeight: 'bold' }}&gt;{['郭','陈','李','王','张','刘','赵','孙','周','吴','徐','黄','何','马','朱','胡','林','郑','高','罗'][i]}&lt;/Text&gt;&#10;        &lt;/Box&gt;&#10;      ))}&#10;    &lt;/Box&gt;&#10;&#10;    {/* 底部图例 */}&#10;    &lt;Box style={{ position: 'absolute', bottom: 20, left: 30, flexDirection: 'row', gap: 18 }}&gt;&#10;      {[['#EF4444', '高风险'], ['#F59E0B', '中风险'], ['#10B981', '低风险']].map(([c, l], i) =&gt; (&#10;        &lt;Box key={i} style={{ flexDirection: 'row', alignItems: 'center', gap: 6 }}&gt;&#10;          &lt;Box style={{ width: 10, height: 10, borderRadius: 9999, background: c }} /&gt;&#10;          &lt;Text style={{ fontSize: 11, color: '#9CA3AF' }}&gt;{l}&lt;/Text&gt;&#10;        &lt;/Box&gt;&#10;      ))}&#10;    &lt;/Box&gt;&#10;  &lt;/Box&gt;&#10;&#10;  {/* 页脚 */}&#10;  &lt;Box style={{ position: 'absolute', bottom: 30, right: 80, flexDirection: 'row', alignItems: 'center', gap: 8 }}&gt;&#10;    &lt;Text style={{ fontSize: 13, color: '#9CA3AF' }}&gt;03&lt;/Text&gt;&#10;    &lt;Box style={{ width: 30, height: 1, background: '#9CA3AF' }} /&gt;&#10;    &lt;Text style={{ fontSize: 13, color: '#9CA3AF' }}&gt;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B12"/>
          </a:solidFill>
          <a:ln/>
        </p:spPr>
        <p:txBody>
          <a:bodyPr/>
          <a:p/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55F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43" name="" descr="{&quot;isTemplate&quot;:true,&quot;type&quot;:&quot;text&quot;}"/>
          <p:cNvSpPr txBox="1"/>
          <p:nvPr/>
        </p:nvSpPr>
        <p:spPr>
          <a:xfrm rot="0" flipH="0" flipV="0">
            <a:off x="1581150" y="381000"/>
            <a:ext cx="34385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辅导员工作台</a:t>
            </a:r>
            <a:r>
              <a:rPr lang="en-US" sz="1800" b="1">
                <a:solidFill>
                  <a:srgbClr val="F5F5F7"/>
                </a:solidFill>
                <a:latin typeface="Microsoft YaHei"/>
                <a:ea typeface="Microsoft YaHei"/>
              </a:rPr>
              <a:t> + </a:t>
            </a: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情绪网络图</a:t>
            </a:r>
            <a:endParaRPr/>
          </a:p>
        </p:txBody>
      </p:sp>
      <p:sp>
        <p:nvSpPr>
          <p:cNvPr id="44" name="" descr="{&quot;isTemplate&quot;:true,&quot;type&quot;:&quot;text&quot;}"/>
          <p:cNvSpPr txBox="1"/>
          <p:nvPr/>
        </p:nvSpPr>
        <p:spPr>
          <a:xfrm rot="0" flipH="0" flipV="0">
            <a:off x="1581150" y="695325"/>
            <a:ext cx="34385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CA3AF"/>
                </a:solidFill>
                <a:latin typeface="Microsoft YaHei"/>
                <a:ea typeface="Microsoft YaHei"/>
              </a:rPr>
              <a:t>COUNSELOR DASHBOARD · EMOTION NETWORK</a:t>
            </a:r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762000" y="1238250"/>
            <a:ext cx="4781550" cy="55245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3000" b="1">
                <a:solidFill>
                  <a:srgbClr val="F5F5F7"/>
                </a:solidFill>
                <a:latin typeface="Microsoft YaHei"/>
                <a:ea typeface="Microsoft YaHei"/>
              </a:rPr>
              <a:t>50 </a:t>
            </a:r>
            <a:r>
              <a:rPr lang="zh-CN" sz="3000" b="1">
                <a:solidFill>
                  <a:srgbClr val="F5F5F7"/>
                </a:solidFill>
                <a:latin typeface="Microsoft YaHei"/>
                <a:ea typeface="Microsoft YaHei"/>
              </a:rPr>
              <a:t>名学生，</a:t>
            </a:r>
            <a:r>
              <a:rPr lang="zh-CN" sz="3000" b="1">
                <a:solidFill>
                  <a:srgbClr val="F5F5F7"/>
                </a:solidFill>
                <a:latin typeface="Microsoft YaHei"/>
                <a:ea typeface="Microsoft YaHei"/>
              </a:rPr>
              <a:t>一张图</a:t>
            </a:r>
            <a:r>
              <a:rPr lang="zh-CN" sz="3000" b="1">
                <a:solidFill>
                  <a:srgbClr val="F5F5F7"/>
                </a:solidFill>
                <a:latin typeface="Microsoft YaHei"/>
                <a:ea typeface="Microsoft YaHei"/>
              </a:rPr>
              <a:t>全局可见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762000" y="1924050"/>
            <a:ext cx="4781550" cy="2762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工作台汇总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 30+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项待办与日历提醒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;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情绪网络图按风险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班级</a:t>
            </a:r>
            <a:r>
              <a:rPr lang="en-US" sz="1125">
                <a:solidFill>
                  <a:srgbClr val="9CA3AF"/>
                </a:solidFill>
                <a:latin typeface="Microsoft YaHei"/>
                <a:ea typeface="Microsoft YaHei"/>
              </a:rPr>
              <a:t> / </a:t>
            </a:r>
            <a:r>
              <a:rPr lang="zh-CN" sz="1125">
                <a:solidFill>
                  <a:srgbClr val="9CA3AF"/>
                </a:solidFill>
                <a:latin typeface="Microsoft YaHei"/>
                <a:ea typeface="Microsoft YaHei"/>
              </a:rPr>
              <a:t>学院聚类</a:t>
            </a:r>
            <a:endParaRPr/>
          </a:p>
        </p:txBody>
      </p:sp>
      <p:sp>
        <p:nvSpPr>
          <p:cNvPr id="47" name=""/>
          <p:cNvSpPr/>
          <p:nvPr/>
        </p:nvSpPr>
        <p:spPr>
          <a:xfrm rot="0" flipH="0" flipV="0">
            <a:off x="800100" y="2667000"/>
            <a:ext cx="3238500" cy="990600"/>
          </a:xfrm>
          <a:prstGeom prst="roundRect">
            <a:avLst>
              <a:gd name="adj" fmla="val 3846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48" name=""/>
          <p:cNvSpPr/>
          <p:nvPr/>
        </p:nvSpPr>
        <p:spPr>
          <a:xfrm rot="0" flipH="0" flipV="0">
            <a:off x="800100" y="2667000"/>
            <a:ext cx="3238500" cy="990600"/>
          </a:xfrm>
          <a:custGeom>
            <a:pathLst>
              <a:path w="340" h="104">
                <a:moveTo>
                  <a:pt x="4" y="104"/>
                </a:moveTo>
                <a:cubicBezTo>
                  <a:pt x="2" y="104"/>
                  <a:pt x="0" y="102"/>
                  <a:pt x="0" y="10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4"/>
                </a:ln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1009650" y="283845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55F7"/>
                </a:solidFill>
                <a:latin typeface="Microsoft YaHei"/>
                <a:ea typeface="Microsoft YaHei"/>
              </a:rPr>
              <a:t>50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1847850" y="2838450"/>
            <a:ext cx="4572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F5F7"/>
                </a:solidFill>
                <a:latin typeface="Microsoft YaHei"/>
                <a:ea typeface="Microsoft YaHei"/>
              </a:rPr>
              <a:t>名学生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800100" y="3848100"/>
            <a:ext cx="3238500" cy="990600"/>
          </a:xfrm>
          <a:prstGeom prst="roundRect">
            <a:avLst>
              <a:gd name="adj" fmla="val 3846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52" name=""/>
          <p:cNvSpPr/>
          <p:nvPr/>
        </p:nvSpPr>
        <p:spPr>
          <a:xfrm rot="0" flipH="0" flipV="0">
            <a:off x="800100" y="3848100"/>
            <a:ext cx="3238500" cy="990600"/>
          </a:xfrm>
          <a:custGeom>
            <a:pathLst>
              <a:path w="340" h="104">
                <a:moveTo>
                  <a:pt x="4" y="104"/>
                </a:moveTo>
                <a:cubicBezTo>
                  <a:pt x="2" y="104"/>
                  <a:pt x="0" y="102"/>
                  <a:pt x="0" y="10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4"/>
                </a:lnTo>
                <a:close/>
              </a:path>
            </a:pathLst>
          </a:custGeom>
          <a:solidFill>
            <a:srgbClr val="EC4899"/>
          </a:solidFill>
          <a:ln/>
        </p:spPr>
        <p:txBody>
          <a:bodyPr/>
          <a:p/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1009650" y="4019550"/>
            <a:ext cx="10668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EC4899"/>
                </a:solidFill>
                <a:latin typeface="Microsoft YaHei"/>
                <a:ea typeface="Microsoft YaHei"/>
              </a:rPr>
              <a:t>30+</a:t>
            </a:r>
            <a:endParaRPr/>
          </a:p>
        </p:txBody>
      </p:sp>
      <p:sp>
        <p:nvSpPr>
          <p:cNvPr id="54" name="" descr="{&quot;isTemplate&quot;:true,&quot;type&quot;:&quot;text&quot;}"/>
          <p:cNvSpPr txBox="1"/>
          <p:nvPr/>
        </p:nvSpPr>
        <p:spPr>
          <a:xfrm rot="0" flipH="0" flipV="0">
            <a:off x="2247900" y="4019550"/>
            <a:ext cx="609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F5F7"/>
                </a:solidFill>
                <a:latin typeface="Microsoft YaHei"/>
                <a:ea typeface="Microsoft YaHei"/>
              </a:rPr>
              <a:t>今日待办</a:t>
            </a:r>
            <a:endParaRPr/>
          </a:p>
        </p:txBody>
      </p:sp>
      <p:sp>
        <p:nvSpPr>
          <p:cNvPr id="55" name=""/>
          <p:cNvSpPr/>
          <p:nvPr/>
        </p:nvSpPr>
        <p:spPr>
          <a:xfrm rot="0" flipH="0" flipV="0">
            <a:off x="800100" y="5029200"/>
            <a:ext cx="3238500" cy="990600"/>
          </a:xfrm>
          <a:prstGeom prst="roundRect">
            <a:avLst>
              <a:gd name="adj" fmla="val 3846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56" name=""/>
          <p:cNvSpPr/>
          <p:nvPr/>
        </p:nvSpPr>
        <p:spPr>
          <a:xfrm rot="0" flipH="0" flipV="0">
            <a:off x="800100" y="5029200"/>
            <a:ext cx="3238500" cy="990600"/>
          </a:xfrm>
          <a:custGeom>
            <a:pathLst>
              <a:path w="340" h="104">
                <a:moveTo>
                  <a:pt x="4" y="104"/>
                </a:moveTo>
                <a:cubicBezTo>
                  <a:pt x="2" y="104"/>
                  <a:pt x="0" y="102"/>
                  <a:pt x="0" y="100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lnTo>
                  <a:pt x="4" y="104"/>
                </a:ln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57" name="" descr="{&quot;isTemplate&quot;:true,&quot;type&quot;:&quot;text&quot;}"/>
          <p:cNvSpPr txBox="1"/>
          <p:nvPr/>
        </p:nvSpPr>
        <p:spPr>
          <a:xfrm rot="0" flipH="0" flipV="0">
            <a:off x="1009650" y="5200650"/>
            <a:ext cx="3333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7C3AED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1514475" y="5200650"/>
            <a:ext cx="609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F5F5F7"/>
                </a:solidFill>
                <a:latin typeface="Microsoft YaHei"/>
                <a:ea typeface="Microsoft YaHei"/>
              </a:rPr>
              <a:t>全局视图</a:t>
            </a:r>
            <a:endParaRPr/>
          </a:p>
        </p:txBody>
      </p:sp>
      <p:sp>
        <p:nvSpPr>
          <p:cNvPr id="59" name=""/>
          <p:cNvSpPr/>
          <p:nvPr/>
        </p:nvSpPr>
        <p:spPr>
          <a:xfrm rot="0" flipH="0" flipV="0">
            <a:off x="762000" y="6210300"/>
            <a:ext cx="3238500" cy="428625"/>
          </a:xfrm>
          <a:prstGeom prst="roundRect">
            <a:avLst>
              <a:gd name="adj" fmla="val 8889"/>
            </a:avLst>
          </a:prstGeom>
          <a:solidFill>
            <a:srgbClr val="EF4444">
              <a:alpha val="10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60" name="" descr="{&quot;isTemplate&quot;:true,&quot;type&quot;:&quot;text&quot;}"/>
          <p:cNvSpPr txBox="1"/>
          <p:nvPr/>
        </p:nvSpPr>
        <p:spPr>
          <a:xfrm rot="0" flipH="0" flipV="0">
            <a:off x="971550" y="6343650"/>
            <a:ext cx="28194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>
                <a:solidFill>
                  <a:srgbClr val="EF4444"/>
                </a:solidFill>
                <a:latin typeface="Microsoft YaHei"/>
                <a:ea typeface="Microsoft YaHei"/>
              </a:rPr>
              <a:t>▲ </a:t>
            </a:r>
            <a:r>
              <a:rPr lang="zh-CN" sz="1050" b="1">
                <a:solidFill>
                  <a:srgbClr val="EF4444"/>
                </a:solidFill>
                <a:latin typeface="Microsoft YaHei"/>
                <a:ea typeface="Microsoft YaHei"/>
              </a:rPr>
              <a:t>当前</a:t>
            </a:r>
            <a:r>
              <a:rPr lang="en-US" sz="1050" b="1">
                <a:solidFill>
                  <a:srgbClr val="EF4444"/>
                </a:solidFill>
                <a:latin typeface="Microsoft YaHei"/>
                <a:ea typeface="Microsoft YaHei"/>
              </a:rPr>
              <a:t> 3 </a:t>
            </a:r>
            <a:r>
              <a:rPr lang="zh-CN" sz="1050" b="1">
                <a:solidFill>
                  <a:srgbClr val="EF4444"/>
                </a:solidFill>
                <a:latin typeface="Microsoft YaHei"/>
                <a:ea typeface="Microsoft YaHei"/>
              </a:rPr>
              <a:t>名高风险学生</a:t>
            </a:r>
            <a:endParaRPr/>
          </a:p>
        </p:txBody>
      </p:sp>
      <p:sp>
        <p:nvSpPr>
          <p:cNvPr id="61" name=""/>
          <p:cNvSpPr/>
          <p:nvPr/>
        </p:nvSpPr>
        <p:spPr>
          <a:xfrm rot="0" flipH="0" flipV="0">
            <a:off x="6477000" y="1238250"/>
            <a:ext cx="4953000" cy="4572000"/>
          </a:xfrm>
          <a:prstGeom prst="roundRect">
            <a:avLst>
              <a:gd name="adj" fmla="val 1667"/>
            </a:avLst>
          </a:prstGeom>
          <a:gradFill>
            <a:gsLst>
              <a:gs pos="0">
                <a:srgbClr val="1A1A2E"/>
              </a:gs>
              <a:gs pos="70000">
                <a:srgbClr val="0B0B12"/>
              </a:gs>
            </a:gsLst>
            <a:path path="circle">
              <a:fillToRect l="50000" t="50000" r="50000" b="50000"/>
            </a:path>
          </a:gradFill>
          <a:ln w="12700">
            <a:solidFill>
              <a:srgbClr val="2A2A3E"/>
            </a:solidFill>
            <a:prstDash val="solid"/>
          </a:ln>
        </p:spPr>
        <p:txBody>
          <a:bodyPr/>
          <a:p/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6762750" y="1524000"/>
            <a:ext cx="8001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F5F7"/>
                </a:solidFill>
                <a:latin typeface="Microsoft YaHei"/>
                <a:ea typeface="Microsoft YaHei"/>
              </a:rPr>
              <a:t>全班情绪网络</a:t>
            </a:r>
            <a:endParaRPr/>
          </a:p>
        </p:txBody>
      </p:sp>
      <p:sp>
        <p:nvSpPr>
          <p:cNvPr id="63" name="" descr="{&quot;isTemplate&quot;:true,&quot;type&quot;:&quot;text&quot;}"/>
          <p:cNvSpPr txBox="1"/>
          <p:nvPr/>
        </p:nvSpPr>
        <p:spPr>
          <a:xfrm rot="0" flipH="0" flipV="0">
            <a:off x="10096500" y="1524000"/>
            <a:ext cx="10477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A3AF"/>
                </a:solidFill>
                <a:latin typeface="Microsoft YaHei"/>
                <a:ea typeface="Microsoft YaHei"/>
              </a:rPr>
              <a:t>点击节点直达师生对话</a:t>
            </a:r>
            <a:endParaRPr/>
          </a:p>
        </p:txBody>
      </p:sp>
      <p:sp>
        <p:nvSpPr>
          <p:cNvPr id="64" name=""/>
          <p:cNvSpPr/>
          <p:nvPr/>
        </p:nvSpPr>
        <p:spPr>
          <a:xfrm rot="0" flipH="0" flipV="0">
            <a:off x="6762750" y="19145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EF4444">
              <a:alpha val="85000"/>
            </a:srgbClr>
          </a:solidFill>
          <a:ln/>
        </p:spPr>
        <p:txBody>
          <a:bodyPr/>
          <a:p/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7019925" y="2152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郭</a:t>
            </a:r>
            <a:endParaRPr/>
          </a:p>
        </p:txBody>
      </p:sp>
      <p:sp>
        <p:nvSpPr>
          <p:cNvPr id="66" name=""/>
          <p:cNvSpPr/>
          <p:nvPr/>
        </p:nvSpPr>
        <p:spPr>
          <a:xfrm rot="0" flipH="0" flipV="0">
            <a:off x="7515225" y="19145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EF4444">
              <a:alpha val="85000"/>
            </a:srgbClr>
          </a:solidFill>
          <a:ln/>
        </p:spPr>
        <p:txBody>
          <a:bodyPr/>
          <a:p/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7772400" y="2152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陈</a:t>
            </a:r>
            <a:endParaRPr/>
          </a:p>
        </p:txBody>
      </p:sp>
      <p:sp>
        <p:nvSpPr>
          <p:cNvPr id="68" name=""/>
          <p:cNvSpPr/>
          <p:nvPr/>
        </p:nvSpPr>
        <p:spPr>
          <a:xfrm rot="0" flipH="0" flipV="0">
            <a:off x="8267700" y="19145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F59E0B">
              <a:alpha val="85000"/>
            </a:srgbClr>
          </a:solidFill>
          <a:ln/>
        </p:spPr>
        <p:txBody>
          <a:bodyPr/>
          <a:p/>
        </p:txBody>
      </p:sp>
      <p:sp>
        <p:nvSpPr>
          <p:cNvPr id="69" name="" descr="{&quot;isTemplate&quot;:true,&quot;type&quot;:&quot;text&quot;}"/>
          <p:cNvSpPr txBox="1"/>
          <p:nvPr/>
        </p:nvSpPr>
        <p:spPr>
          <a:xfrm rot="0" flipH="0" flipV="0">
            <a:off x="8524875" y="2152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李</a:t>
            </a:r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9029700" y="19145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F59E0B">
              <a:alpha val="85000"/>
            </a:srgbClr>
          </a:solidFill>
          <a:ln/>
        </p:spPr>
        <p:txBody>
          <a:bodyPr/>
          <a:p/>
        </p:txBody>
      </p:sp>
      <p:sp>
        <p:nvSpPr>
          <p:cNvPr id="71" name="" descr="{&quot;isTemplate&quot;:true,&quot;type&quot;:&quot;text&quot;}"/>
          <p:cNvSpPr txBox="1"/>
          <p:nvPr/>
        </p:nvSpPr>
        <p:spPr>
          <a:xfrm rot="0" flipH="0" flipV="0">
            <a:off x="9286875" y="2152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王</a:t>
            </a:r>
            <a:endParaRPr/>
          </a:p>
        </p:txBody>
      </p:sp>
      <p:sp>
        <p:nvSpPr>
          <p:cNvPr id="72" name=""/>
          <p:cNvSpPr/>
          <p:nvPr/>
        </p:nvSpPr>
        <p:spPr>
          <a:xfrm rot="0" flipH="0" flipV="0">
            <a:off x="9782175" y="19145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10039350" y="2152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74" name=""/>
          <p:cNvSpPr/>
          <p:nvPr/>
        </p:nvSpPr>
        <p:spPr>
          <a:xfrm rot="0" flipH="0" flipV="0">
            <a:off x="10534650" y="19145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EF4444">
              <a:alpha val="85000"/>
            </a:srgbClr>
          </a:solidFill>
          <a:ln/>
        </p:spPr>
        <p:txBody>
          <a:bodyPr/>
          <a:p/>
        </p:txBody>
      </p:sp>
      <p:sp>
        <p:nvSpPr>
          <p:cNvPr id="75" name="" descr="{&quot;isTemplate&quot;:true,&quot;type&quot;:&quot;text&quot;}"/>
          <p:cNvSpPr txBox="1"/>
          <p:nvPr/>
        </p:nvSpPr>
        <p:spPr>
          <a:xfrm rot="0" flipH="0" flipV="0">
            <a:off x="10791825" y="21526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刘</a:t>
            </a:r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762750" y="26384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F59E0B">
              <a:alpha val="85000"/>
            </a:srgbClr>
          </a:solidFill>
          <a:ln/>
        </p:spPr>
        <p:txBody>
          <a:bodyPr/>
          <a:p/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7019925" y="28765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赵</a:t>
            </a:r>
            <a:endParaRPr/>
          </a:p>
        </p:txBody>
      </p:sp>
      <p:sp>
        <p:nvSpPr>
          <p:cNvPr id="78" name=""/>
          <p:cNvSpPr/>
          <p:nvPr/>
        </p:nvSpPr>
        <p:spPr>
          <a:xfrm rot="0" flipH="0" flipV="0">
            <a:off x="7515225" y="26384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7772400" y="28765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孙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8267700" y="26384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8524875" y="28765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周</a:t>
            </a:r>
            <a:endParaRPr/>
          </a:p>
        </p:txBody>
      </p:sp>
      <p:sp>
        <p:nvSpPr>
          <p:cNvPr id="82" name=""/>
          <p:cNvSpPr/>
          <p:nvPr/>
        </p:nvSpPr>
        <p:spPr>
          <a:xfrm rot="0" flipH="0" flipV="0">
            <a:off x="9029700" y="26384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9286875" y="28765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吴</a:t>
            </a:r>
            <a:endParaRPr/>
          </a:p>
        </p:txBody>
      </p:sp>
      <p:sp>
        <p:nvSpPr>
          <p:cNvPr id="84" name=""/>
          <p:cNvSpPr/>
          <p:nvPr/>
        </p:nvSpPr>
        <p:spPr>
          <a:xfrm rot="0" flipH="0" flipV="0">
            <a:off x="9782175" y="26384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10039350" y="28765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徐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10534650" y="26384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87" name="" descr="{&quot;isTemplate&quot;:true,&quot;type&quot;:&quot;text&quot;}"/>
          <p:cNvSpPr txBox="1"/>
          <p:nvPr/>
        </p:nvSpPr>
        <p:spPr>
          <a:xfrm rot="0" flipH="0" flipV="0">
            <a:off x="10791825" y="28765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黄</a:t>
            </a:r>
            <a:endParaRPr/>
          </a:p>
        </p:txBody>
      </p:sp>
      <p:sp>
        <p:nvSpPr>
          <p:cNvPr id="88" name=""/>
          <p:cNvSpPr/>
          <p:nvPr/>
        </p:nvSpPr>
        <p:spPr>
          <a:xfrm rot="0" flipH="0" flipV="0">
            <a:off x="6762750" y="33623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EF4444">
              <a:alpha val="85000"/>
            </a:srgbClr>
          </a:solidFill>
          <a:ln/>
        </p:spPr>
        <p:txBody>
          <a:bodyPr/>
          <a:p/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7019925" y="36004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何</a:t>
            </a:r>
            <a:endParaRPr/>
          </a:p>
        </p:txBody>
      </p:sp>
      <p:sp>
        <p:nvSpPr>
          <p:cNvPr id="90" name=""/>
          <p:cNvSpPr/>
          <p:nvPr/>
        </p:nvSpPr>
        <p:spPr>
          <a:xfrm rot="0" flipH="0" flipV="0">
            <a:off x="7515225" y="33623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F59E0B">
              <a:alpha val="85000"/>
            </a:srgbClr>
          </a:solidFill>
          <a:ln/>
        </p:spPr>
        <p:txBody>
          <a:bodyPr/>
          <a:p/>
        </p:txBody>
      </p:sp>
      <p:sp>
        <p:nvSpPr>
          <p:cNvPr id="91" name="" descr="{&quot;isTemplate&quot;:true,&quot;type&quot;:&quot;text&quot;}"/>
          <p:cNvSpPr txBox="1"/>
          <p:nvPr/>
        </p:nvSpPr>
        <p:spPr>
          <a:xfrm rot="0" flipH="0" flipV="0">
            <a:off x="7772400" y="36004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马</a:t>
            </a:r>
            <a:endParaRPr/>
          </a:p>
        </p:txBody>
      </p:sp>
      <p:sp>
        <p:nvSpPr>
          <p:cNvPr id="92" name=""/>
          <p:cNvSpPr/>
          <p:nvPr/>
        </p:nvSpPr>
        <p:spPr>
          <a:xfrm rot="0" flipH="0" flipV="0">
            <a:off x="8267700" y="33623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8524875" y="36004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朱</a:t>
            </a:r>
            <a:endParaRPr/>
          </a:p>
        </p:txBody>
      </p:sp>
      <p:sp>
        <p:nvSpPr>
          <p:cNvPr id="94" name=""/>
          <p:cNvSpPr/>
          <p:nvPr/>
        </p:nvSpPr>
        <p:spPr>
          <a:xfrm rot="0" flipH="0" flipV="0">
            <a:off x="9029700" y="33623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9286875" y="36004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胡</a:t>
            </a:r>
            <a:endParaRPr/>
          </a:p>
        </p:txBody>
      </p:sp>
      <p:sp>
        <p:nvSpPr>
          <p:cNvPr id="96" name=""/>
          <p:cNvSpPr/>
          <p:nvPr/>
        </p:nvSpPr>
        <p:spPr>
          <a:xfrm rot="0" flipH="0" flipV="0">
            <a:off x="9782175" y="33623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97" name="" descr="{&quot;isTemplate&quot;:true,&quot;type&quot;:&quot;text&quot;}"/>
          <p:cNvSpPr txBox="1"/>
          <p:nvPr/>
        </p:nvSpPr>
        <p:spPr>
          <a:xfrm rot="0" flipH="0" flipV="0">
            <a:off x="10039350" y="36004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林</a:t>
            </a:r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10534650" y="33623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F59E0B">
              <a:alpha val="85000"/>
            </a:srgbClr>
          </a:solidFill>
          <a:ln/>
        </p:spPr>
        <p:txBody>
          <a:bodyPr/>
          <a:p/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10791825" y="36004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郑</a:t>
            </a:r>
            <a:endParaRPr/>
          </a:p>
        </p:txBody>
      </p:sp>
      <p:sp>
        <p:nvSpPr>
          <p:cNvPr id="100" name=""/>
          <p:cNvSpPr/>
          <p:nvPr/>
        </p:nvSpPr>
        <p:spPr>
          <a:xfrm rot="0" flipH="0" flipV="0">
            <a:off x="6762750" y="40862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7019925" y="43243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高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10534650" y="4086225"/>
            <a:ext cx="609600" cy="609600"/>
          </a:xfrm>
          <a:prstGeom prst="roundRect">
            <a:avLst>
              <a:gd name="adj" fmla="val 15623438"/>
            </a:avLst>
          </a:prstGeom>
          <a:solidFill>
            <a:srgbClr val="10B981">
              <a:alpha val="85000"/>
            </a:srgbClr>
          </a:solidFill>
          <a:ln/>
        </p:spPr>
        <p:txBody>
          <a:bodyPr/>
          <a:p/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10791825" y="432435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>
                    <a:alpha val="85000"/>
                  </a:srgbClr>
                </a:solidFill>
                <a:latin typeface="Microsoft YaHei"/>
                <a:ea typeface="Microsoft YaHei"/>
              </a:rPr>
              <a:t>罗</a:t>
            </a:r>
            <a:endParaRPr/>
          </a:p>
        </p:txBody>
      </p:sp>
      <p:sp>
        <p:nvSpPr>
          <p:cNvPr id="104" name=""/>
          <p:cNvSpPr/>
          <p:nvPr/>
        </p:nvSpPr>
        <p:spPr>
          <a:xfrm rot="0" flipH="0" flipV="0">
            <a:off x="6762750" y="5505450"/>
            <a:ext cx="95250" cy="95250"/>
          </a:xfrm>
          <a:prstGeom prst="roundRect">
            <a:avLst>
              <a:gd name="adj" fmla="val 9999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6915150" y="54864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A3AF"/>
                </a:solidFill>
                <a:latin typeface="Microsoft YaHei"/>
                <a:ea typeface="Microsoft YaHei"/>
              </a:rPr>
              <a:t>高风险</a:t>
            </a:r>
            <a:endParaRPr/>
          </a:p>
        </p:txBody>
      </p:sp>
      <p:sp>
        <p:nvSpPr>
          <p:cNvPr id="106" name=""/>
          <p:cNvSpPr/>
          <p:nvPr/>
        </p:nvSpPr>
        <p:spPr>
          <a:xfrm rot="0" flipH="0" flipV="0">
            <a:off x="7400925" y="5505450"/>
            <a:ext cx="95250" cy="95250"/>
          </a:xfrm>
          <a:prstGeom prst="roundRect">
            <a:avLst>
              <a:gd name="adj" fmla="val 9999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7553325" y="54864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A3AF"/>
                </a:solidFill>
                <a:latin typeface="Microsoft YaHei"/>
                <a:ea typeface="Microsoft YaHei"/>
              </a:rPr>
              <a:t>中风险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8039100" y="5505450"/>
            <a:ext cx="95250" cy="95250"/>
          </a:xfrm>
          <a:prstGeom prst="roundRect">
            <a:avLst>
              <a:gd name="adj" fmla="val 9999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09" name="" descr="{&quot;isTemplate&quot;:true,&quot;type&quot;:&quot;text&quot;}"/>
          <p:cNvSpPr txBox="1"/>
          <p:nvPr/>
        </p:nvSpPr>
        <p:spPr>
          <a:xfrm rot="0" flipH="0" flipV="0">
            <a:off x="8191500" y="54864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A3AF"/>
                </a:solidFill>
                <a:latin typeface="Microsoft YaHei"/>
                <a:ea typeface="Microsoft YaHei"/>
              </a:rPr>
              <a:t>低风险</a:t>
            </a:r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68705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11" name=""/>
          <p:cNvSpPr/>
          <p:nvPr/>
        </p:nvSpPr>
        <p:spPr>
          <a:xfrm rot="0" flipH="0" flipV="0">
            <a:off x="10915650" y="6496050"/>
            <a:ext cx="285750" cy="9525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27760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13" name="" descr="&lt;Slide style={{ width: 1280, height: 720, background: '#0B0B12', position: 'relative', overflow: 'hidden' }}&gt;&#10;  {/* 章节角标 */}&#10;  &lt;Box style={{ position: 'absolute', top: 40, left: 80, flexDirection: 'row', alignItems: 'baseline', gap: 16 }}&gt;&#10;    &lt;Text style={{ fontSize: 56, fontWeight: 'bold', color: '#A855F7', lineHeight: 1 }}&gt;02&lt;/Text&gt;&#10;    &lt;Box style={{ flexDirection: 'column', gap: 4 }}&gt;&#10;      &lt;Text style={{ fontSize: 24, color: '#F5F5F7', fontWeight: 'bold' }}&gt;老师端 · AI 数字人 小聆&lt;/Text&gt;&#10;      &lt;Text style={{ fontSize: 12, color: '#9CA3AF', letterSpacing: 2 }}&gt;AI DIGITAL HUMAN · 7×24 OFFLINE COMPANION&lt;/Text&gt;&#10;    &lt;/Box&gt;&#10;  &lt;/Box&gt;&#10;&#10;  {/* 主标题 */}&#10;  &lt;Box style={{ position: 'absolute', top: 140, left: 80, flexDirection: 'column', gap: 8 }}&gt;&#10;    &lt;Text style={{ fontSize: 38, color: '#F5F5F7', fontWeight: 'bold', lineHeight: 1.2 }}&gt;&#10;      老师不在线?&lt;Text style={{ color: '#EC4899' }}&gt;数字分身&lt;/Text&gt;接得住&#10;    &lt;/Text&gt;&#10;  &lt;/Box&gt;&#10;&#10;  {/* 左:聊天演示 */}&#10;  &lt;Box style={{ position: 'absolute', top: 240, left: 80, width: 580, padding: 22, background: '#15151F', borderRadius: 8, border: '1px solid #2A2A3E', flexDirection: 'column', gap: 16 }}&gt;&#10;    {/* 头部 */}&#10;    &lt;Box style={{ flexDirection: 'row', alignItems: 'center', gap: 12, paddingBottom: 14, borderBottom: '1px solid #2A2A3E' }}&gt;&#10;      &lt;Box style={{ width: 36, height: 36, borderRadius: 9999, background: 'linear-gradient(135deg, #A855F7, #EC4899)', alignItems: 'center', justifyContent: 'center' }}&gt;&#10;        &lt;Text style={{ fontSize: 14, color: '#FFFFFF', fontWeight: 'bold' }}&gt;聆&lt;/Text&gt;&#10;      &lt;/Box&gt;&#10;      &lt;Box style={{ flex: 1 }}&gt;&#10;        &lt;Text style={{ fontSize: 14, color: '#F5F5F7', fontWeight: 'bold' }}&gt;小聆 · AI 分身&lt;/Text&gt;&#10;        &lt;Box style={{ flexDirection: 'row', alignItems: 'center', gap: 6, marginTop: 2 }}&gt;&#10;          &lt;Box style={{ width: 6, height: 6, borderRadius: 9999, background: '#10B981' }} /&gt;&#10;          &lt;Text style={{ fontSize: 11, color: '#9CA3AF' }}&gt;AI 分身·值班中&lt;/Text&gt;&#10;        &lt;/Box&gt;&#10;      &lt;/Box&gt;&#10;    &lt;/Box&gt;&#10;&#10;    {/* 聊天内容 */}&#10;    &lt;Box style={{ flexDirection: 'column', gap: 12 }}&gt;&#10;      &lt;Box style={{ alignSelf: 'flex-end', maxWidth: '70%', padding: '10px 14px', background: '#7C3AED', borderRadius: '12px 12px 4px 12px' }}&gt;&#10;        &lt;Text style={{ fontSize: 13, color: '#FFFFFF' }}&gt;老师,最近压力很大,晚上总是睡不着……&lt;/Text&gt;&#10;      &lt;/Box&gt;&#10;      &lt;Box style={{ flexDirection: 'row', alignItems: 'flex-start', gap: 10 }}&gt;&#10;        &lt;Box style={{ width: 28, height: 28, borderRadius: 9999, background: 'linear-gradient(135deg, #A855F7, #EC4899)', alignItems: 'center', justifyContent: 'center', flexShrink: 0 }}&gt;&#10;          &lt;Text style={{ fontSize: 11, color: '#FFFFFF', fontWeight: 'bold' }}&gt;聆&lt;/Text&gt;&#10;        &lt;/Box&gt;&#10;        &lt;Box style={{ flexDirection: 'column', gap: 4 }}&gt;&#10;          &lt;Box style={{ padding: '10px 14px', background: '#0B0B12', border: '1px solid #A855F7', borderRadius: '4px 12px 12px 12px' }}&gt;&#10;            &lt;Text style={{ fontSize: 13, color: '#F5F5F7', lineHeight: 1.5 }}&gt;&#10;              我是&lt;Text style={{ color: '#A855F7', fontWeight: 'bold' }}&gt; AI 分身小聆&lt;/Text&gt;,老师今晚不在。先陪你聊聊:失眠多久了?有没有发生过让你特别难受的事情?&#10;            &lt;/Text&gt;&#10;          &lt;/Box&gt;&#10;          &lt;Box style={{ padding: '4px 10px', background: 'rgba(239,68,68,0.15)', border: '1px solid #EF4444', borderRadius: 4, alignSelf: 'flex-start' }}&gt;&#10;            &lt;Text style={{ fontSize: 11, color: '#EF4444', fontWeight: 'bold' }}&gt;⚠ 识别危机信号 → 自动生成高危预警&lt;/Text&gt;&#10;          &lt;/Box&gt;&#10;        &lt;/Box&gt;&#10;      &lt;/Box&gt;&#10;    &lt;/Box&gt;&#10;  &lt;/Box&gt;&#10;&#10;  {/* 右:三大能力卡片 */}&#10;  &lt;Box style={{ position: 'absolute', top: 240, right: 80, width: 400, flexDirection: 'column', gap: 18 }}&gt;&#10;    {[&#10;      { num: '01', t: '明确 AI 身份标注', d: '对话气泡始终带&quot;AI 分身&quot;徽标,不冒充真人' },&#10;      { num: '02', t: '语音朗读 + 幽默亲切', d: 'TTS 朗读学生问题,大模型以心理专家视角回应' },&#10;      { num: '03', t: '危机识别 → 预警流转', d: '识别自伤等信号直接生成高危预警进入工单' },&#10;    ].map(({ num, t, d }, i) =&gt; (&#10;      &lt;Box key={i} style={{ padding: 18, background: '#15151F', borderRadius: 6, borderLeft: '3px solid #A855F7', flexDirection: 'column', gap: 8 }}&gt;&#10;        &lt;Text style={{ fontSize: 14, color: '#A855F7', fontWeight: 'bold', letterSpacing: 2 }}&gt;{num}&lt;/Text&gt;&#10;        &lt;Text style={{ fontSize: 18, color: '#F5F5F7', fontWeight: 'bold' }}&gt;{t}&lt;/Text&gt;&#10;        &lt;Text style={{ fontSize: 13, color: '#9CA3AF', lineHeight: 1.6 }}&gt;{d}&lt;/Text&gt;&#10;      &lt;/Box&gt;&#10;    ))}&#10;  &lt;/Box&gt;&#10;&#10;  {/* 页脚 */}&#10;  &lt;Box style={{ position: 'absolute', bottom: 30, right: 80, flexDirection: 'row', alignItems: 'center', gap: 8 }}&gt;&#10;    &lt;Text style={{ fontSize: 13, color: '#9CA3AF' }}&gt;04&lt;/Text&gt;&#10;    &lt;Box style={{ width: 30, height: 1, background: '#9CA3AF' }} /&gt;&#10;    &lt;Text style={{ fontSize: 13, color: '#9CA3AF' }}&gt;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B12"/>
          </a:solidFill>
          <a:ln/>
        </p:spPr>
        <p:txBody>
          <a:bodyPr/>
          <a:p/>
        </p:txBody>
      </p:sp>
      <p:sp>
        <p:nvSpPr>
          <p:cNvPr id="115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55F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1581150" y="381000"/>
            <a:ext cx="35242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老师端</a:t>
            </a:r>
            <a:r>
              <a:rPr lang="en-US" sz="1800" b="1">
                <a:solidFill>
                  <a:srgbClr val="F5F5F7"/>
                </a:solidFill>
                <a:latin typeface="Microsoft YaHei"/>
                <a:ea typeface="Microsoft YaHei"/>
              </a:rPr>
              <a:t> · AI </a:t>
            </a: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数字人</a:t>
            </a:r>
            <a:r>
              <a:rPr lang="en-US" sz="1800" b="1">
                <a:solidFill>
                  <a:srgbClr val="F5F5F7"/>
                </a:solidFill>
                <a:latin typeface="Microsoft YaHei"/>
                <a:ea typeface="Microsoft YaHei"/>
              </a:rPr>
              <a:t> </a:t>
            </a: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小聆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1581150" y="695325"/>
            <a:ext cx="3524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CA3AF"/>
                </a:solidFill>
                <a:latin typeface="Microsoft YaHei"/>
                <a:ea typeface="Microsoft YaHei"/>
              </a:rPr>
              <a:t>AI DIGITAL HUMAN · 7×24 OFFLINE COMPANION</a:t>
            </a:r>
            <a:endParaRPr/>
          </a:p>
        </p:txBody>
      </p:sp>
      <p:sp>
        <p:nvSpPr>
          <p:cNvPr id="118" name="" descr="{&quot;isTemplate&quot;:true,&quot;type&quot;:&quot;text&quot;}"/>
          <p:cNvSpPr txBox="1"/>
          <p:nvPr/>
        </p:nvSpPr>
        <p:spPr>
          <a:xfrm rot="0" flipH="0" flipV="0">
            <a:off x="762000" y="1333500"/>
            <a:ext cx="4524375" cy="5238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850" b="1">
                <a:solidFill>
                  <a:srgbClr val="F5F5F7"/>
                </a:solidFill>
                <a:latin typeface="Microsoft YaHei"/>
                <a:ea typeface="Microsoft YaHei"/>
              </a:rPr>
              <a:t>老师不在线</a:t>
            </a:r>
            <a:r>
              <a:rPr lang="en-US" sz="2850" b="1">
                <a:solidFill>
                  <a:srgbClr val="F5F5F7"/>
                </a:solidFill>
                <a:latin typeface="Microsoft YaHei"/>
                <a:ea typeface="Microsoft YaHei"/>
              </a:rPr>
              <a:t>?</a:t>
            </a:r>
            <a:r>
              <a:rPr lang="zh-CN" sz="2850" b="1">
                <a:solidFill>
                  <a:srgbClr val="F5F5F7"/>
                </a:solidFill>
                <a:latin typeface="Microsoft YaHei"/>
                <a:ea typeface="Microsoft YaHei"/>
              </a:rPr>
              <a:t>数字分身</a:t>
            </a:r>
            <a:r>
              <a:rPr lang="zh-CN" sz="2850" b="1">
                <a:solidFill>
                  <a:srgbClr val="F5F5F7"/>
                </a:solidFill>
                <a:latin typeface="Microsoft YaHei"/>
                <a:ea typeface="Microsoft YaHei"/>
              </a:rPr>
              <a:t>接得住</a:t>
            </a:r>
            <a:endParaRPr/>
          </a:p>
        </p:txBody>
      </p:sp>
      <p:sp>
        <p:nvSpPr>
          <p:cNvPr id="119" name=""/>
          <p:cNvSpPr/>
          <p:nvPr/>
        </p:nvSpPr>
        <p:spPr>
          <a:xfrm rot="0" flipH="0" flipV="0">
            <a:off x="762000" y="2286000"/>
            <a:ext cx="5524500" cy="2400300"/>
          </a:xfrm>
          <a:prstGeom prst="roundRect">
            <a:avLst>
              <a:gd name="adj" fmla="val 3175"/>
            </a:avLst>
          </a:prstGeom>
          <a:solidFill>
            <a:srgbClr val="15151F"/>
          </a:solidFill>
          <a:ln w="12700">
            <a:solidFill>
              <a:srgbClr val="2A2A3E"/>
            </a:solidFill>
            <a:prstDash val="solid"/>
          </a:ln>
        </p:spPr>
        <p:txBody>
          <a:bodyPr/>
          <a:p/>
        </p:txBody>
      </p:sp>
      <p:sp>
        <p:nvSpPr>
          <p:cNvPr id="120" name=""/>
          <p:cNvSpPr/>
          <p:nvPr/>
        </p:nvSpPr>
        <p:spPr>
          <a:xfrm rot="0" flipH="0" flipV="0">
            <a:off x="971550" y="2495550"/>
            <a:ext cx="5105400" cy="495300"/>
          </a:xfrm>
          <a:custGeom>
            <a:pathLst>
              <a:path w="536" h="52">
                <a:moveTo>
                  <a:pt x="0" y="51"/>
                </a:moveTo>
                <a:lnTo>
                  <a:pt x="536" y="51"/>
                </a:lnTo>
                <a:lnTo>
                  <a:pt x="536" y="52"/>
                </a:lnTo>
                <a:lnTo>
                  <a:pt x="0" y="52"/>
                </a:lnTo>
                <a:close/>
              </a:path>
            </a:pathLst>
          </a:custGeom>
          <a:solidFill>
            <a:srgbClr val="2A2A3E"/>
          </a:solidFill>
          <a:ln/>
        </p:spPr>
        <p:txBody>
          <a:bodyPr/>
          <a:p/>
        </p:txBody>
      </p:sp>
      <p:sp>
        <p:nvSpPr>
          <p:cNvPr id="121" name=""/>
          <p:cNvSpPr/>
          <p:nvPr/>
        </p:nvSpPr>
        <p:spPr>
          <a:xfrm rot="0" flipH="0" flipV="0">
            <a:off x="971550" y="2495550"/>
            <a:ext cx="342900" cy="342900"/>
          </a:xfrm>
          <a:prstGeom prst="roundRect">
            <a:avLst>
              <a:gd name="adj" fmla="val 27775000"/>
            </a:avLst>
          </a:prstGeom>
          <a:gradFill>
            <a:gsLst>
              <a:gs pos="0">
                <a:srgbClr val="A855F7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1076325" y="2590800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FFFFF"/>
                </a:solidFill>
                <a:latin typeface="Microsoft YaHei"/>
                <a:ea typeface="Microsoft YaHei"/>
              </a:rPr>
              <a:t>聆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428750" y="2514600"/>
            <a:ext cx="4648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F5F7"/>
                </a:solidFill>
                <a:latin typeface="Microsoft YaHei"/>
                <a:ea typeface="Microsoft YaHei"/>
              </a:rPr>
              <a:t>小聆</a:t>
            </a:r>
            <a:r>
              <a:rPr lang="en-US" sz="1050" b="1">
                <a:solidFill>
                  <a:srgbClr val="F5F5F7"/>
                </a:solidFill>
                <a:latin typeface="Microsoft YaHei"/>
                <a:ea typeface="Microsoft YaHei"/>
              </a:rPr>
              <a:t> · AI </a:t>
            </a:r>
            <a:r>
              <a:rPr lang="zh-CN" sz="1050" b="1">
                <a:solidFill>
                  <a:srgbClr val="F5F5F7"/>
                </a:solidFill>
                <a:latin typeface="Microsoft YaHei"/>
                <a:ea typeface="Microsoft YaHei"/>
              </a:rPr>
              <a:t>分身</a:t>
            </a:r>
            <a:endParaRPr/>
          </a:p>
        </p:txBody>
      </p:sp>
      <p:sp>
        <p:nvSpPr>
          <p:cNvPr id="124" name=""/>
          <p:cNvSpPr/>
          <p:nvPr/>
        </p:nvSpPr>
        <p:spPr>
          <a:xfrm rot="0" flipH="0" flipV="0">
            <a:off x="1428750" y="2733675"/>
            <a:ext cx="57150" cy="57150"/>
          </a:xfrm>
          <a:prstGeom prst="roundRect">
            <a:avLst>
              <a:gd name="adj" fmla="val 166650000"/>
            </a:avLst>
          </a:prstGeom>
          <a:solidFill>
            <a:srgbClr val="10B981"/>
          </a:solidFill>
          <a:ln/>
        </p:spPr>
        <p:txBody>
          <a:bodyPr/>
          <a:p/>
        </p:txBody>
      </p:sp>
      <p:sp>
        <p:nvSpPr>
          <p:cNvPr id="125" name="" descr="{&quot;isTemplate&quot;:true,&quot;type&quot;:&quot;text&quot;}"/>
          <p:cNvSpPr txBox="1"/>
          <p:nvPr/>
        </p:nvSpPr>
        <p:spPr>
          <a:xfrm rot="0" flipH="0" flipV="0">
            <a:off x="1543050" y="2695575"/>
            <a:ext cx="6858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CA3AF"/>
                </a:solidFill>
                <a:latin typeface="Microsoft YaHei"/>
                <a:ea typeface="Microsoft YaHei"/>
              </a:rPr>
              <a:t>AI </a:t>
            </a:r>
            <a:r>
              <a:rPr lang="zh-CN" sz="825">
                <a:solidFill>
                  <a:srgbClr val="9CA3AF"/>
                </a:solidFill>
                <a:latin typeface="Microsoft YaHei"/>
                <a:ea typeface="Microsoft YaHei"/>
              </a:rPr>
              <a:t>分身·值班中</a:t>
            </a:r>
            <a:endParaRPr/>
          </a:p>
        </p:txBody>
      </p:sp>
      <p:sp>
        <p:nvSpPr>
          <p:cNvPr id="126" name=""/>
          <p:cNvSpPr/>
          <p:nvPr/>
        </p:nvSpPr>
        <p:spPr>
          <a:xfrm rot="0" flipH="0" flipV="0">
            <a:off x="3686175" y="3133725"/>
            <a:ext cx="2390775" cy="342900"/>
          </a:xfrm>
          <a:custGeom>
            <a:pathLst>
              <a:path w="251" h="36">
                <a:moveTo>
                  <a:pt x="12" y="0"/>
                </a:moveTo>
                <a:lnTo>
                  <a:pt x="239" y="0"/>
                </a:lnTo>
                <a:cubicBezTo>
                  <a:pt x="246" y="0"/>
                  <a:pt x="251" y="5"/>
                  <a:pt x="251" y="12"/>
                </a:cubicBezTo>
                <a:lnTo>
                  <a:pt x="251" y="32"/>
                </a:lnTo>
                <a:cubicBezTo>
                  <a:pt x="251" y="34"/>
                  <a:pt x="249" y="36"/>
                  <a:pt x="247" y="36"/>
                </a:cubicBezTo>
                <a:lnTo>
                  <a:pt x="12" y="36"/>
                </a:lnTo>
                <a:cubicBezTo>
                  <a:pt x="5" y="36"/>
                  <a:pt x="0" y="31"/>
                  <a:pt x="0" y="24"/>
                </a:cubicBezTo>
                <a:lnTo>
                  <a:pt x="0" y="12"/>
                </a:lnTo>
                <a:cubicBezTo>
                  <a:pt x="0" y="5"/>
                  <a:pt x="5" y="0"/>
                  <a:pt x="12" y="0"/>
                </a:cubicBezTo>
                <a:close/>
              </a:path>
            </a:pathLst>
          </a:custGeom>
          <a:solidFill>
            <a:srgbClr val="7C3AED"/>
          </a:solidFill>
          <a:ln/>
        </p:spPr>
        <p:txBody>
          <a:bodyPr/>
          <a:p/>
        </p:txBody>
      </p:sp>
      <p:sp>
        <p:nvSpPr>
          <p:cNvPr id="127" name="" descr="{&quot;isTemplate&quot;:true,&quot;type&quot;:&quot;text&quot;}"/>
          <p:cNvSpPr txBox="1"/>
          <p:nvPr/>
        </p:nvSpPr>
        <p:spPr>
          <a:xfrm rot="0" flipH="0" flipV="0">
            <a:off x="3819525" y="3228975"/>
            <a:ext cx="21240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老师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,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最近压力很大</a:t>
            </a:r>
            <a:r>
              <a:rPr lang="en-US" sz="975">
                <a:solidFill>
                  <a:srgbClr val="FFFFFF"/>
                </a:solidFill>
                <a:latin typeface="Microsoft YaHei"/>
                <a:ea typeface="Microsoft YaHei"/>
              </a:rPr>
              <a:t>,</a:t>
            </a:r>
            <a:r>
              <a:rPr lang="zh-CN" sz="975">
                <a:solidFill>
                  <a:srgbClr val="FFFFFF"/>
                </a:solidFill>
                <a:latin typeface="Microsoft YaHei"/>
                <a:ea typeface="Microsoft YaHei"/>
              </a:rPr>
              <a:t>晚上总是睡不着……</a:t>
            </a:r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971550" y="3590925"/>
            <a:ext cx="266700" cy="266700"/>
          </a:xfrm>
          <a:prstGeom prst="roundRect">
            <a:avLst>
              <a:gd name="adj" fmla="val 35710714"/>
            </a:avLst>
          </a:prstGeom>
          <a:gradFill>
            <a:gsLst>
              <a:gs pos="0">
                <a:srgbClr val="A855F7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129" name="" descr="{&quot;isTemplate&quot;:true,&quot;type&quot;:&quot;text&quot;}"/>
          <p:cNvSpPr txBox="1"/>
          <p:nvPr/>
        </p:nvSpPr>
        <p:spPr>
          <a:xfrm rot="0" flipH="0" flipV="0">
            <a:off x="1057275" y="3657600"/>
            <a:ext cx="1047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FFFFFF"/>
                </a:solidFill>
                <a:latin typeface="Microsoft YaHei"/>
                <a:ea typeface="Microsoft YaHei"/>
              </a:rPr>
              <a:t>聆</a:t>
            </a:r>
            <a:endParaRPr/>
          </a:p>
        </p:txBody>
      </p:sp>
      <p:sp>
        <p:nvSpPr>
          <p:cNvPr id="130" name=""/>
          <p:cNvSpPr/>
          <p:nvPr/>
        </p:nvSpPr>
        <p:spPr>
          <a:xfrm rot="0" flipH="0" flipV="0">
            <a:off x="1333500" y="3590925"/>
            <a:ext cx="4743450" cy="638175"/>
          </a:xfrm>
          <a:custGeom>
            <a:pathLst>
              <a:path w="498" h="67">
                <a:moveTo>
                  <a:pt x="4" y="0"/>
                </a:moveTo>
                <a:lnTo>
                  <a:pt x="486" y="0"/>
                </a:lnTo>
                <a:cubicBezTo>
                  <a:pt x="493" y="0"/>
                  <a:pt x="498" y="5"/>
                  <a:pt x="498" y="12"/>
                </a:cubicBezTo>
                <a:lnTo>
                  <a:pt x="498" y="55"/>
                </a:lnTo>
                <a:cubicBezTo>
                  <a:pt x="498" y="62"/>
                  <a:pt x="493" y="67"/>
                  <a:pt x="486" y="67"/>
                </a:cubicBezTo>
                <a:lnTo>
                  <a:pt x="12" y="67"/>
                </a:lnTo>
                <a:cubicBezTo>
                  <a:pt x="5" y="67"/>
                  <a:pt x="0" y="62"/>
                  <a:pt x="0" y="55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0B0B12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466850" y="3686175"/>
            <a:ext cx="4476750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75">
                <a:solidFill>
                  <a:srgbClr val="F5F5F7"/>
                </a:solidFill>
                <a:latin typeface="Microsoft YaHei"/>
                <a:ea typeface="Microsoft YaHei"/>
              </a:rPr>
              <a:t>我是</a:t>
            </a:r>
            <a:r>
              <a:rPr lang="en-US" sz="975">
                <a:solidFill>
                  <a:srgbClr val="F5F5F7"/>
                </a:solidFill>
                <a:latin typeface="Microsoft YaHei"/>
                <a:ea typeface="Microsoft YaHei"/>
              </a:rPr>
              <a:t> AI </a:t>
            </a:r>
            <a:r>
              <a:rPr lang="zh-CN" sz="975">
                <a:solidFill>
                  <a:srgbClr val="F5F5F7"/>
                </a:solidFill>
                <a:latin typeface="Microsoft YaHei"/>
                <a:ea typeface="Microsoft YaHei"/>
              </a:rPr>
              <a:t>分身小聆</a:t>
            </a:r>
            <a:r>
              <a:rPr lang="en-US" sz="975">
                <a:solidFill>
                  <a:srgbClr val="F5F5F7"/>
                </a:solidFill>
                <a:latin typeface="Microsoft YaHei"/>
                <a:ea typeface="Microsoft YaHei"/>
              </a:rPr>
              <a:t>,</a:t>
            </a:r>
            <a:r>
              <a:rPr lang="zh-CN" sz="975">
                <a:solidFill>
                  <a:srgbClr val="F5F5F7"/>
                </a:solidFill>
                <a:latin typeface="Microsoft YaHei"/>
                <a:ea typeface="Microsoft YaHei"/>
              </a:rPr>
              <a:t>老师今晚不在。先陪你聊聊</a:t>
            </a:r>
            <a:r>
              <a:rPr lang="en-US" sz="975">
                <a:solidFill>
                  <a:srgbClr val="F5F5F7"/>
                </a:solidFill>
                <a:latin typeface="Microsoft YaHei"/>
                <a:ea typeface="Microsoft YaHei"/>
              </a:rPr>
              <a:t>:</a:t>
            </a:r>
            <a:r>
              <a:rPr lang="zh-CN" sz="975">
                <a:solidFill>
                  <a:srgbClr val="F5F5F7"/>
                </a:solidFill>
                <a:latin typeface="Microsoft YaHei"/>
                <a:ea typeface="Microsoft YaHei"/>
              </a:rPr>
              <a:t>失眠多久了</a:t>
            </a:r>
            <a:r>
              <a:rPr lang="en-US" sz="975">
                <a:solidFill>
                  <a:srgbClr val="F5F5F7"/>
                </a:solidFill>
                <a:latin typeface="Microsoft YaHei"/>
                <a:ea typeface="Microsoft YaHei"/>
              </a:rPr>
              <a:t>?</a:t>
            </a:r>
            <a:r>
              <a:rPr lang="zh-CN" sz="975">
                <a:solidFill>
                  <a:srgbClr val="F5F5F7"/>
                </a:solidFill>
                <a:latin typeface="Microsoft YaHei"/>
                <a:ea typeface="Microsoft YaHei"/>
              </a:rPr>
              <a:t>有没有发生过让你特别难受的事情</a:t>
            </a:r>
            <a:r>
              <a:rPr lang="en-US" sz="975">
                <a:solidFill>
                  <a:srgbClr val="F5F5F7"/>
                </a:solidFill>
                <a:latin typeface="Microsoft YaHei"/>
                <a:ea typeface="Microsoft YaHei"/>
              </a:rPr>
              <a:t>?</a:t>
            </a:r>
            <a:endParaRPr/>
          </a:p>
        </p:txBody>
      </p:sp>
      <p:sp>
        <p:nvSpPr>
          <p:cNvPr id="132" name=""/>
          <p:cNvSpPr/>
          <p:nvPr/>
        </p:nvSpPr>
        <p:spPr>
          <a:xfrm rot="0" flipH="0" flipV="0">
            <a:off x="1333500" y="4267200"/>
            <a:ext cx="1962150" cy="209550"/>
          </a:xfrm>
          <a:prstGeom prst="roundRect">
            <a:avLst>
              <a:gd name="adj" fmla="val 18182"/>
            </a:avLst>
          </a:prstGeom>
          <a:solidFill>
            <a:srgbClr val="EF4444">
              <a:alpha val="15000"/>
            </a:srgbClr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133" name="" descr="{&quot;isTemplate&quot;:true,&quot;type&quot;:&quot;text&quot;}"/>
          <p:cNvSpPr txBox="1"/>
          <p:nvPr/>
        </p:nvSpPr>
        <p:spPr>
          <a:xfrm rot="0" flipH="0" flipV="0">
            <a:off x="1428750" y="4305300"/>
            <a:ext cx="17716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EF4444"/>
                </a:solidFill>
                <a:latin typeface="Microsoft YaHei"/>
                <a:ea typeface="Microsoft YaHei"/>
              </a:rPr>
              <a:t>⚠ </a:t>
            </a:r>
            <a:r>
              <a:rPr lang="zh-CN" sz="825" b="1">
                <a:solidFill>
                  <a:srgbClr val="EF4444"/>
                </a:solidFill>
                <a:latin typeface="Microsoft YaHei"/>
                <a:ea typeface="Microsoft YaHei"/>
              </a:rPr>
              <a:t>识别危机信号</a:t>
            </a:r>
            <a:r>
              <a:rPr lang="en-US" sz="825" b="1">
                <a:solidFill>
                  <a:srgbClr val="EF4444"/>
                </a:solidFill>
                <a:latin typeface="Microsoft YaHei"/>
                <a:ea typeface="Microsoft YaHei"/>
              </a:rPr>
              <a:t> → </a:t>
            </a:r>
            <a:r>
              <a:rPr lang="zh-CN" sz="825" b="1">
                <a:solidFill>
                  <a:srgbClr val="EF4444"/>
                </a:solidFill>
                <a:latin typeface="Microsoft YaHei"/>
                <a:ea typeface="Microsoft YaHei"/>
              </a:rPr>
              <a:t>自动生成高危预警</a:t>
            </a:r>
            <a:endParaRPr/>
          </a:p>
        </p:txBody>
      </p:sp>
      <p:sp>
        <p:nvSpPr>
          <p:cNvPr id="134" name=""/>
          <p:cNvSpPr/>
          <p:nvPr/>
        </p:nvSpPr>
        <p:spPr>
          <a:xfrm rot="0" flipH="0" flipV="0">
            <a:off x="7648575" y="2286000"/>
            <a:ext cx="3810000" cy="1104900"/>
          </a:xfrm>
          <a:prstGeom prst="roundRect">
            <a:avLst>
              <a:gd name="adj" fmla="val 5172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135" name=""/>
          <p:cNvSpPr/>
          <p:nvPr/>
        </p:nvSpPr>
        <p:spPr>
          <a:xfrm rot="0" flipH="0" flipV="0">
            <a:off x="7648575" y="2286000"/>
            <a:ext cx="3810000" cy="1104900"/>
          </a:xfrm>
          <a:custGeom>
            <a:pathLst>
              <a:path w="400" h="11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13"/>
                </a:lnTo>
                <a:cubicBezTo>
                  <a:pt x="3" y="114"/>
                  <a:pt x="4" y="116"/>
                  <a:pt x="5" y="116"/>
                </a:cubicBezTo>
                <a:cubicBezTo>
                  <a:pt x="2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136" name="" descr="{&quot;isTemplate&quot;:true,&quot;type&quot;:&quot;text&quot;}"/>
          <p:cNvSpPr txBox="1"/>
          <p:nvPr/>
        </p:nvSpPr>
        <p:spPr>
          <a:xfrm rot="0" flipH="0" flipV="0">
            <a:off x="7820025" y="2457450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A855F7"/>
                </a:solidFill>
                <a:latin typeface="Microsoft YaHei"/>
                <a:ea typeface="Microsoft YaHei"/>
              </a:rPr>
              <a:t>01</a:t>
            </a:r>
            <a:endParaRPr/>
          </a:p>
        </p:txBody>
      </p:sp>
      <p:sp>
        <p:nvSpPr>
          <p:cNvPr id="137" name="" descr="{&quot;isTemplate&quot;:true,&quot;type&quot;:&quot;text&quot;}"/>
          <p:cNvSpPr txBox="1"/>
          <p:nvPr/>
        </p:nvSpPr>
        <p:spPr>
          <a:xfrm rot="0" flipH="0" flipV="0">
            <a:off x="7820025" y="2695575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F5F7"/>
                </a:solidFill>
                <a:latin typeface="Microsoft YaHei"/>
                <a:ea typeface="Microsoft YaHei"/>
              </a:rPr>
              <a:t>明确</a:t>
            </a:r>
            <a:r>
              <a:rPr lang="en-US" sz="1350" b="1">
                <a:solidFill>
                  <a:srgbClr val="F5F5F7"/>
                </a:solidFill>
                <a:latin typeface="Microsoft YaHei"/>
                <a:ea typeface="Microsoft YaHei"/>
              </a:rPr>
              <a:t> AI </a:t>
            </a:r>
            <a:r>
              <a:rPr lang="zh-CN" sz="1350" b="1">
                <a:solidFill>
                  <a:srgbClr val="F5F5F7"/>
                </a:solidFill>
                <a:latin typeface="Microsoft YaHei"/>
                <a:ea typeface="Microsoft YaHei"/>
              </a:rPr>
              <a:t>身份标注</a:t>
            </a:r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7820025" y="2981325"/>
            <a:ext cx="34385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对话气泡始终带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"AI </a:t>
            </a: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分身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徽标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,</a:t>
            </a: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不冒充真人</a:t>
            </a:r>
            <a:endParaRPr/>
          </a:p>
        </p:txBody>
      </p:sp>
      <p:sp>
        <p:nvSpPr>
          <p:cNvPr id="139" name=""/>
          <p:cNvSpPr/>
          <p:nvPr/>
        </p:nvSpPr>
        <p:spPr>
          <a:xfrm rot="0" flipH="0" flipV="0">
            <a:off x="7648575" y="3562350"/>
            <a:ext cx="3810000" cy="1104900"/>
          </a:xfrm>
          <a:prstGeom prst="roundRect">
            <a:avLst>
              <a:gd name="adj" fmla="val 5172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140" name=""/>
          <p:cNvSpPr/>
          <p:nvPr/>
        </p:nvSpPr>
        <p:spPr>
          <a:xfrm rot="0" flipH="0" flipV="0">
            <a:off x="7648575" y="3562350"/>
            <a:ext cx="3810000" cy="1104900"/>
          </a:xfrm>
          <a:custGeom>
            <a:pathLst>
              <a:path w="400" h="11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13"/>
                </a:lnTo>
                <a:cubicBezTo>
                  <a:pt x="3" y="114"/>
                  <a:pt x="4" y="116"/>
                  <a:pt x="5" y="116"/>
                </a:cubicBezTo>
                <a:cubicBezTo>
                  <a:pt x="2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141" name="" descr="{&quot;isTemplate&quot;:true,&quot;type&quot;:&quot;text&quot;}"/>
          <p:cNvSpPr txBox="1"/>
          <p:nvPr/>
        </p:nvSpPr>
        <p:spPr>
          <a:xfrm rot="0" flipH="0" flipV="0">
            <a:off x="7820025" y="3733800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A855F7"/>
                </a:solidFill>
                <a:latin typeface="Microsoft YaHei"/>
                <a:ea typeface="Microsoft YaHei"/>
              </a:rPr>
              <a:t>02</a:t>
            </a:r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7820025" y="3971925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F5F7"/>
                </a:solidFill>
                <a:latin typeface="Microsoft YaHei"/>
                <a:ea typeface="Microsoft YaHei"/>
              </a:rPr>
              <a:t>语音朗读</a:t>
            </a:r>
            <a:r>
              <a:rPr lang="en-US" sz="1350" b="1">
                <a:solidFill>
                  <a:srgbClr val="F5F5F7"/>
                </a:solidFill>
                <a:latin typeface="Microsoft YaHei"/>
                <a:ea typeface="Microsoft YaHei"/>
              </a:rPr>
              <a:t> + </a:t>
            </a:r>
            <a:r>
              <a:rPr lang="zh-CN" sz="1350" b="1">
                <a:solidFill>
                  <a:srgbClr val="F5F5F7"/>
                </a:solidFill>
                <a:latin typeface="Microsoft YaHei"/>
                <a:ea typeface="Microsoft YaHei"/>
              </a:rPr>
              <a:t>幽默亲切</a:t>
            </a:r>
            <a:endParaRPr/>
          </a:p>
        </p:txBody>
      </p:sp>
      <p:sp>
        <p:nvSpPr>
          <p:cNvPr id="143" name="" descr="{&quot;isTemplate&quot;:true,&quot;type&quot;:&quot;text&quot;}"/>
          <p:cNvSpPr txBox="1"/>
          <p:nvPr/>
        </p:nvSpPr>
        <p:spPr>
          <a:xfrm rot="0" flipH="0" flipV="0">
            <a:off x="7820025" y="4257675"/>
            <a:ext cx="34385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TTS </a:t>
            </a: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朗读学生问题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,</a:t>
            </a: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大模型以心理专家视角回应</a:t>
            </a:r>
            <a:endParaRPr/>
          </a:p>
        </p:txBody>
      </p:sp>
      <p:sp>
        <p:nvSpPr>
          <p:cNvPr id="144" name=""/>
          <p:cNvSpPr/>
          <p:nvPr/>
        </p:nvSpPr>
        <p:spPr>
          <a:xfrm rot="0" flipH="0" flipV="0">
            <a:off x="7648575" y="4838700"/>
            <a:ext cx="3810000" cy="1104900"/>
          </a:xfrm>
          <a:prstGeom prst="roundRect">
            <a:avLst>
              <a:gd name="adj" fmla="val 5172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145" name=""/>
          <p:cNvSpPr/>
          <p:nvPr/>
        </p:nvSpPr>
        <p:spPr>
          <a:xfrm rot="0" flipH="0" flipV="0">
            <a:off x="7648575" y="4838700"/>
            <a:ext cx="3810000" cy="1104900"/>
          </a:xfrm>
          <a:custGeom>
            <a:pathLst>
              <a:path w="400" h="116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113"/>
                </a:lnTo>
                <a:cubicBezTo>
                  <a:pt x="3" y="114"/>
                  <a:pt x="4" y="116"/>
                  <a:pt x="5" y="116"/>
                </a:cubicBezTo>
                <a:cubicBezTo>
                  <a:pt x="2" y="116"/>
                  <a:pt x="0" y="113"/>
                  <a:pt x="0" y="110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146" name="" descr="{&quot;isTemplate&quot;:true,&quot;type&quot;:&quot;text&quot;}"/>
          <p:cNvSpPr txBox="1"/>
          <p:nvPr/>
        </p:nvSpPr>
        <p:spPr>
          <a:xfrm rot="0" flipH="0" flipV="0">
            <a:off x="7820025" y="5010150"/>
            <a:ext cx="34385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b="1" spc="150">
                <a:solidFill>
                  <a:srgbClr val="A855F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820025" y="5248275"/>
            <a:ext cx="3438525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F5F7"/>
                </a:solidFill>
                <a:latin typeface="Microsoft YaHei"/>
                <a:ea typeface="Microsoft YaHei"/>
              </a:rPr>
              <a:t>危机识别</a:t>
            </a:r>
            <a:r>
              <a:rPr lang="en-US" sz="1350" b="1">
                <a:solidFill>
                  <a:srgbClr val="F5F5F7"/>
                </a:solidFill>
                <a:latin typeface="Microsoft YaHei"/>
                <a:ea typeface="Microsoft YaHei"/>
              </a:rPr>
              <a:t> → </a:t>
            </a:r>
            <a:r>
              <a:rPr lang="zh-CN" sz="1350" b="1">
                <a:solidFill>
                  <a:srgbClr val="F5F5F7"/>
                </a:solidFill>
                <a:latin typeface="Microsoft YaHei"/>
                <a:ea typeface="Microsoft YaHei"/>
              </a:rPr>
              <a:t>预警流转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820025" y="5534025"/>
            <a:ext cx="3438525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识别自伤等信号直接生成高危预警进入工单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1068705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10915650" y="6496050"/>
            <a:ext cx="285750" cy="9525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1127760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52" name="" descr="&lt;Slide style={{ width: 1280, height: 720, background: '#0B0B12', position: 'relative', overflow: 'hidden' }}&gt;&#10;  {/* 章节角标 */}&#10;  &lt;Box style={{ position: 'absolute', top: 40, left: 80, flexDirection: 'row', alignItems: 'baseline', gap: 16 }}&gt;&#10;    &lt;Text style={{ fontSize: 56, fontWeight: 'bold', color: '#A855F7', lineHeight: 1 }}&gt;03&lt;/Text&gt;&#10;    &lt;Box style={{ flexDirection: 'column', gap: 4 }}&gt;&#10;      &lt;Text style={{ fontSize: 24, color: '#F5F5F7', fontWeight: 'bold' }}&gt;视频通话 · 多模态情绪感知&lt;/Text&gt;&#10;      &lt;Text style={{ fontSize: 12, color: '#9CA3AF', letterSpacing: 2 }}&gt;VIDEO CALL · MULTIMODAL EMOTION FUSION&lt;/Text&gt;&#10;    &lt;/Box&gt;&#10;  &lt;/Box&gt;&#10;&#10;  {/* 主标题 */}&#10;  &lt;Box style={{ position: 'absolute', top: 130, left: 80, right: 80, flexDirection: 'column', gap: 6 }}&gt;&#10;    &lt;Text style={{ fontSize: 36, color: '#F5F5F7', fontWeight: 'bold', lineHeight: 1.1 }}&gt;&#10;      三路信号 &lt;Text style={{ color: '#A855F7' }}&gt;融合&lt;/Text&gt;判断&#10;    &lt;/Text&gt;&#10;    &lt;Text style={{ fontSize: 14, color: '#9CA3AF' }}&gt;&#10;      通话中实时显示,挂断后自动生成情绪总结回写学生档案&#10;    &lt;/Text&gt;&#10;  &lt;/Box&gt;&#10;&#10;  {/* 中央流程 */}&#10;  &lt;Box style={{ position: 'absolute', top: 230, left: 80, right: 80, flexDirection: 'column', gap: 16 }}&gt;&#10;    {/* 输入三列 */}&#10;    &lt;Box style={{ flexDirection: 'row', gap: 20 }}&gt;&#10;      {[&#10;        { ic: '🎤', t: '语音韵律', m: 'emotion2vec', d: '语调 / 节奏 / 强度' },&#10;        { ic: '👁', t: '微表情', m: 'face-api', d: 'AU 单元 / 面部活动' },&#10;        { ic: '🎯', t: '后端模型', m: '多模态 LLM', d: '上下文 / 语义风险' },&#10;      ].map(({ ic, t, m, d }, i) =&gt; (&#10;        &lt;Box key={i} style={{ flex: 1, padding: 16, background: '#15151F', borderRadius: 8, border: '1px solid #2A2A3E', flexDirection: 'column', gap: 6, alignItems: 'center' }}&gt;&#10;          &lt;Box style={{ width: 44, height: 44, borderRadius: 9999, background: 'rgba(168,85,247,0.15)', alignItems: 'center', justifyContent: 'center' }}&gt;&#10;            &lt;Text style={{ fontSize: 22 }}&gt;{ic}&lt;/Text&gt;&#10;          &lt;/Box&gt;&#10;          &lt;Text style={{ fontSize: 18, color: '#F5F5F7', fontWeight: 'bold' }}&gt;{t}&lt;/Text&gt;&#10;          &lt;Text style={{ fontSize: 12, color: '#A855F7', letterSpacing: 1 }}&gt;{m}&lt;/Text&gt;&#10;          &lt;Text style={{ fontSize: 12, color: '#9CA3AF' }}&gt;{d}&lt;/Text&gt;&#10;        &lt;/Box&gt;&#10;      ))}&#10;    &lt;/Box&gt;&#10;&#10;    {/* 箭头 */}&#10;    &lt;Box style={{ alignItems: 'center', padding: 0 }}&gt;&#10;      &lt;Text style={{ fontSize: 22, color: '#A855F7' }}&gt;▼ 加权融合 ▼&lt;/Text&gt;&#10;    &lt;/Box&gt;&#10;&#10;    {/* 输出:情绪面板 */}&#10;    &lt;Box style={{ padding: 18, background: 'linear-gradient(135deg, rgba(168,85,247,0.1) 0%, rgba(236,72,153,0.1) 100%)', borderRadius: 8, border: '1px solid #A855F7', flexDirection: 'row', gap: 20, alignItems: 'center' }}&gt;&#10;      &lt;Box style={{ flexDirection: 'column', gap: 4, alignItems: 'center', paddingRight: 18, borderRight: '1px solid #2A2A3E' }}&gt;&#10;        &lt;Text style={{ fontSize: 48, fontWeight: 'bold', color: '#EF4444', lineHeight: 1 }}&gt;😟&lt;/Text&gt;&#10;        &lt;Text style={{ fontSize: 20, color: '#F5F5F7', fontWeight: 'bold' }}&gt;焦虑 / 压抑&lt;/Text&gt;&#10;        &lt;Text style={{ fontSize: 12, color: '#9CA3AF' }}&gt;置信度 87%&lt;/Text&gt;&#10;      &lt;/Box&gt;&#10;      &lt;Box style={{ flex: 1, flexDirection: 'column', gap: 10 }}&gt;&#10;        {[&#10;          ['情绪强度', 72, '#EC4899'],&#10;          ['风险等级', 64, '#EF4444'],&#10;          ['微表情指标', 81, '#F59E0B'],&#10;        ].map(([l, v, c], i) =&gt; (&#10;          &lt;Box key={i} style={{ flexDirection: 'column', gap: 3 }}&gt;&#10;            &lt;Box style={{ flexDirection: 'row', justifyContent: 'space-between' }}&gt;&#10;              &lt;Text style={{ fontSize: 12, color: '#F5F5F7' }}&gt;{l}&lt;/Text&gt;&#10;              &lt;Text style={{ fontSize: 12, color: c, fontWeight: 'bold' }}&gt;{v}%&lt;/Text&gt;&#10;            &lt;/Box&gt;&#10;            &lt;Box style={{ width: '100%', height: 5, background: '#0B0B12', borderRadius: 3, overflow: 'hidden' }}&gt;&#10;              &lt;Box style={{ width: `${v}%`, height: '100%', background: c, borderRadius: 3 }} /&gt;&#10;            &lt;/Box&gt;&#10;          &lt;/Box&gt;&#10;        ))}&#10;      &lt;/Box&gt;&#10;    &lt;/Box&gt;&#10;  &lt;/Box&gt;&#10;&#10;  {/* 底部说明 */}&#10;  &lt;Box style={{ position: 'absolute', bottom: 50, left: 80, right: 80, justifyContent: 'center' }}&gt;&#10;    &lt;Text style={{ fontSize: 13, color: '#9CA3AF', textAlign: 'center' }}&gt;&#10;      挂断后自动生成&lt;Text style={{ color: '#A855F7' }}&gt; 通话情绪总结 &lt;/Text&gt;,风险结论回写学生档案 + 同步情绪网络图&#10;    &lt;/Text&gt;&#10;  &lt;/Box&gt;&#10;&#10;  {/* 页脚 */}&#10;  &lt;Box style={{ position: 'absolute', bottom: 30, right: 80, flexDirection: 'row', alignItems: 'center', gap: 8 }}&gt;&#10;    &lt;Text style={{ fontSize: 13, color: '#9CA3AF' }}&gt;05&lt;/Text&gt;&#10;    &lt;Box style={{ width: 30, height: 1, background: '#9CA3AF' }} /&gt;&#10;    &lt;Text style={{ fontSize: 13, color: '#9CA3AF' }}&gt;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B12"/>
          </a:solidFill>
          <a:ln/>
        </p:spPr>
        <p:txBody>
          <a:bodyPr/>
          <a:p/>
        </p:txBody>
      </p:sp>
      <p:sp>
        <p:nvSpPr>
          <p:cNvPr id="154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55F7"/>
                </a:solidFill>
                <a:latin typeface="Microsoft YaHei"/>
                <a:ea typeface="Microsoft YaHei"/>
              </a:rPr>
              <a:t>03</a:t>
            </a:r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1581150" y="381000"/>
            <a:ext cx="33242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视频通话</a:t>
            </a:r>
            <a:r>
              <a:rPr lang="en-US" sz="1800" b="1">
                <a:solidFill>
                  <a:srgbClr val="F5F5F7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多模态情绪感知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1581150" y="695325"/>
            <a:ext cx="33242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CA3AF"/>
                </a:solidFill>
                <a:latin typeface="Microsoft YaHei"/>
                <a:ea typeface="Microsoft YaHei"/>
              </a:rPr>
              <a:t>VIDEO CALL · MULTIMODAL EMOTION FUSION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62000" y="1238250"/>
            <a:ext cx="10668000" cy="457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2700" b="1">
                <a:solidFill>
                  <a:srgbClr val="F5F5F7"/>
                </a:solidFill>
                <a:latin typeface="Microsoft YaHei"/>
                <a:ea typeface="Microsoft YaHei"/>
              </a:rPr>
              <a:t>三路信号</a:t>
            </a:r>
            <a:r>
              <a:rPr lang="en-US" sz="2700" b="1">
                <a:solidFill>
                  <a:srgbClr val="F5F5F7"/>
                </a:solidFill>
                <a:latin typeface="Microsoft YaHei"/>
                <a:ea typeface="Microsoft YaHei"/>
              </a:rPr>
              <a:t> </a:t>
            </a:r>
            <a:r>
              <a:rPr lang="zh-CN" sz="2700" b="1">
                <a:solidFill>
                  <a:srgbClr val="F5F5F7"/>
                </a:solidFill>
                <a:latin typeface="Microsoft YaHei"/>
                <a:ea typeface="Microsoft YaHei"/>
              </a:rPr>
              <a:t>融合</a:t>
            </a:r>
            <a:r>
              <a:rPr lang="zh-CN" sz="2700" b="1">
                <a:solidFill>
                  <a:srgbClr val="F5F5F7"/>
                </a:solidFill>
                <a:latin typeface="Microsoft YaHei"/>
                <a:ea typeface="Microsoft YaHei"/>
              </a:rPr>
              <a:t>判断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762000" y="1752600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通话中实时显示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,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挂断后自动生成情绪总结回写学生档案</a:t>
            </a:r>
            <a:endParaRPr/>
          </a:p>
        </p:txBody>
      </p:sp>
      <p:sp>
        <p:nvSpPr>
          <p:cNvPr id="159" name=""/>
          <p:cNvSpPr/>
          <p:nvPr/>
        </p:nvSpPr>
        <p:spPr>
          <a:xfrm rot="0" flipH="0" flipV="0">
            <a:off x="762000" y="2190750"/>
            <a:ext cx="3429000" cy="1390650"/>
          </a:xfrm>
          <a:prstGeom prst="roundRect">
            <a:avLst>
              <a:gd name="adj" fmla="val 5479"/>
            </a:avLst>
          </a:prstGeom>
          <a:solidFill>
            <a:srgbClr val="15151F"/>
          </a:solidFill>
          <a:ln w="12700">
            <a:solidFill>
              <a:srgbClr val="2A2A3E"/>
            </a:solidFill>
            <a:prstDash val="solid"/>
          </a:ln>
        </p:spPr>
        <p:txBody>
          <a:bodyPr/>
          <a:p/>
        </p:txBody>
      </p:sp>
      <p:sp>
        <p:nvSpPr>
          <p:cNvPr id="160" name=""/>
          <p:cNvSpPr/>
          <p:nvPr/>
        </p:nvSpPr>
        <p:spPr>
          <a:xfrm rot="0" flipH="0" flipV="0">
            <a:off x="2266950" y="2343150"/>
            <a:ext cx="419100" cy="419100"/>
          </a:xfrm>
          <a:prstGeom prst="roundRect">
            <a:avLst>
              <a:gd name="adj" fmla="val 22725000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p/>
        </p:txBody>
      </p:sp>
      <p:sp>
        <p:nvSpPr>
          <p:cNvPr id="161" name="" descr="{&quot;isTemplate&quot;:true,&quot;type&quot;:&quot;text&quot;}"/>
          <p:cNvSpPr txBox="1"/>
          <p:nvPr/>
        </p:nvSpPr>
        <p:spPr>
          <a:xfrm rot="0" flipH="0" flipV="0">
            <a:off x="2333625" y="2428875"/>
            <a:ext cx="295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chemeClr val="tx1"/>
                </a:solidFill>
                <a:latin typeface="Microsoft YaHei"/>
                <a:ea typeface="Microsoft YaHei"/>
              </a:rPr>
              <a:t>🎤</a:t>
            </a:r>
            <a:endParaRPr/>
          </a:p>
        </p:txBody>
      </p:sp>
      <p:sp>
        <p:nvSpPr>
          <p:cNvPr id="162" name="" descr="{&quot;isTemplate&quot;:true,&quot;type&quot;:&quot;text&quot;}"/>
          <p:cNvSpPr txBox="1"/>
          <p:nvPr/>
        </p:nvSpPr>
        <p:spPr>
          <a:xfrm rot="0" flipH="0" flipV="0">
            <a:off x="2133600" y="28194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F5F7"/>
                </a:solidFill>
                <a:latin typeface="Microsoft YaHei"/>
                <a:ea typeface="Microsoft YaHei"/>
              </a:rPr>
              <a:t>语音韵律</a:t>
            </a:r>
            <a:endParaRPr/>
          </a:p>
        </p:txBody>
      </p:sp>
      <p:sp>
        <p:nvSpPr>
          <p:cNvPr id="163" name="" descr="{&quot;isTemplate&quot;:true,&quot;type&quot;:&quot;text&quot;}"/>
          <p:cNvSpPr txBox="1"/>
          <p:nvPr/>
        </p:nvSpPr>
        <p:spPr>
          <a:xfrm rot="0" flipH="0" flipV="0">
            <a:off x="2066925" y="3086100"/>
            <a:ext cx="81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A855F7"/>
                </a:solidFill>
                <a:latin typeface="Microsoft YaHei"/>
                <a:ea typeface="Microsoft YaHei"/>
              </a:rPr>
              <a:t>emotion2vec</a:t>
            </a:r>
            <a:endParaRPr/>
          </a:p>
        </p:txBody>
      </p:sp>
      <p:sp>
        <p:nvSpPr>
          <p:cNvPr id="164" name="" descr="{&quot;isTemplate&quot;:true,&quot;type&quot;:&quot;text&quot;}"/>
          <p:cNvSpPr txBox="1"/>
          <p:nvPr/>
        </p:nvSpPr>
        <p:spPr>
          <a:xfrm rot="0" flipH="0" flipV="0">
            <a:off x="2019300" y="3286125"/>
            <a:ext cx="923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语调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节奏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强度</a:t>
            </a:r>
            <a:endParaRPr/>
          </a:p>
        </p:txBody>
      </p:sp>
      <p:sp>
        <p:nvSpPr>
          <p:cNvPr id="165" name=""/>
          <p:cNvSpPr/>
          <p:nvPr/>
        </p:nvSpPr>
        <p:spPr>
          <a:xfrm rot="0" flipH="0" flipV="0">
            <a:off x="4381500" y="2190750"/>
            <a:ext cx="3429000" cy="1390650"/>
          </a:xfrm>
          <a:prstGeom prst="roundRect">
            <a:avLst>
              <a:gd name="adj" fmla="val 5479"/>
            </a:avLst>
          </a:prstGeom>
          <a:solidFill>
            <a:srgbClr val="15151F"/>
          </a:solidFill>
          <a:ln w="12700">
            <a:solidFill>
              <a:srgbClr val="2A2A3E"/>
            </a:solidFill>
            <a:prstDash val="solid"/>
          </a:ln>
        </p:spPr>
        <p:txBody>
          <a:bodyPr/>
          <a:p/>
        </p:txBody>
      </p:sp>
      <p:sp>
        <p:nvSpPr>
          <p:cNvPr id="166" name=""/>
          <p:cNvSpPr/>
          <p:nvPr/>
        </p:nvSpPr>
        <p:spPr>
          <a:xfrm rot="0" flipH="0" flipV="0">
            <a:off x="5886450" y="2343150"/>
            <a:ext cx="419100" cy="419100"/>
          </a:xfrm>
          <a:prstGeom prst="roundRect">
            <a:avLst>
              <a:gd name="adj" fmla="val 22725000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p/>
        </p:txBody>
      </p:sp>
      <p:sp>
        <p:nvSpPr>
          <p:cNvPr id="167" name="" descr="{&quot;isTemplate&quot;:true,&quot;type&quot;:&quot;text&quot;}"/>
          <p:cNvSpPr txBox="1"/>
          <p:nvPr/>
        </p:nvSpPr>
        <p:spPr>
          <a:xfrm rot="0" flipH="0" flipV="0">
            <a:off x="5943600" y="2428875"/>
            <a:ext cx="3048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chemeClr val="tx1"/>
                </a:solidFill>
                <a:latin typeface="Microsoft YaHei"/>
                <a:ea typeface="Microsoft YaHei"/>
              </a:rPr>
              <a:t>👁</a:t>
            </a:r>
            <a:endParaRPr/>
          </a:p>
        </p:txBody>
      </p:sp>
      <p:sp>
        <p:nvSpPr>
          <p:cNvPr id="168" name="" descr="{&quot;isTemplate&quot;:true,&quot;type&quot;:&quot;text&quot;}"/>
          <p:cNvSpPr txBox="1"/>
          <p:nvPr/>
        </p:nvSpPr>
        <p:spPr>
          <a:xfrm rot="0" flipH="0" flipV="0">
            <a:off x="5838825" y="281940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F5F7"/>
                </a:solidFill>
                <a:latin typeface="Microsoft YaHei"/>
                <a:ea typeface="Microsoft YaHei"/>
              </a:rPr>
              <a:t>微表情</a:t>
            </a:r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5838825" y="3086100"/>
            <a:ext cx="5238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75">
                <a:solidFill>
                  <a:srgbClr val="A855F7"/>
                </a:solidFill>
                <a:latin typeface="Microsoft YaHei"/>
                <a:ea typeface="Microsoft YaHei"/>
              </a:rPr>
              <a:t>face-api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5591175" y="3286125"/>
            <a:ext cx="1009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AU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单元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面部活动</a:t>
            </a:r>
            <a:endParaRPr/>
          </a:p>
        </p:txBody>
      </p:sp>
      <p:sp>
        <p:nvSpPr>
          <p:cNvPr id="171" name=""/>
          <p:cNvSpPr/>
          <p:nvPr/>
        </p:nvSpPr>
        <p:spPr>
          <a:xfrm rot="0" flipH="0" flipV="0">
            <a:off x="8001000" y="2190750"/>
            <a:ext cx="3429000" cy="1390650"/>
          </a:xfrm>
          <a:prstGeom prst="roundRect">
            <a:avLst>
              <a:gd name="adj" fmla="val 5479"/>
            </a:avLst>
          </a:prstGeom>
          <a:solidFill>
            <a:srgbClr val="15151F"/>
          </a:solidFill>
          <a:ln w="12700">
            <a:solidFill>
              <a:srgbClr val="2A2A3E"/>
            </a:solidFill>
            <a:prstDash val="solid"/>
          </a:ln>
        </p:spPr>
        <p:txBody>
          <a:bodyPr/>
          <a:p/>
        </p:txBody>
      </p:sp>
      <p:sp>
        <p:nvSpPr>
          <p:cNvPr id="172" name=""/>
          <p:cNvSpPr/>
          <p:nvPr/>
        </p:nvSpPr>
        <p:spPr>
          <a:xfrm rot="0" flipH="0" flipV="0">
            <a:off x="9505950" y="2343150"/>
            <a:ext cx="419100" cy="419100"/>
          </a:xfrm>
          <a:prstGeom prst="roundRect">
            <a:avLst>
              <a:gd name="adj" fmla="val 22725000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p/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9572625" y="2428875"/>
            <a:ext cx="295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chemeClr val="tx1"/>
                </a:solidFill>
                <a:latin typeface="Microsoft YaHei"/>
                <a:ea typeface="Microsoft YaHei"/>
              </a:rPr>
              <a:t>🎯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9372600" y="2819400"/>
            <a:ext cx="68580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F5F7"/>
                </a:solidFill>
                <a:latin typeface="Microsoft YaHei"/>
                <a:ea typeface="Microsoft YaHei"/>
              </a:rPr>
              <a:t>后端模型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9382125" y="3086100"/>
            <a:ext cx="676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A855F7"/>
                </a:solidFill>
                <a:latin typeface="Microsoft YaHei"/>
                <a:ea typeface="Microsoft YaHei"/>
              </a:rPr>
              <a:t>多模态</a:t>
            </a:r>
            <a:r>
              <a:rPr lang="en-US" sz="900" spc="75">
                <a:solidFill>
                  <a:srgbClr val="A855F7"/>
                </a:solidFill>
                <a:latin typeface="Microsoft YaHei"/>
                <a:ea typeface="Microsoft YaHei"/>
              </a:rPr>
              <a:t> LLM</a:t>
            </a:r>
            <a:endParaRPr/>
          </a:p>
        </p:txBody>
      </p:sp>
      <p:sp>
        <p:nvSpPr>
          <p:cNvPr id="176" name="" descr="{&quot;isTemplate&quot;:true,&quot;type&quot;:&quot;text&quot;}"/>
          <p:cNvSpPr txBox="1"/>
          <p:nvPr/>
        </p:nvSpPr>
        <p:spPr>
          <a:xfrm rot="0" flipH="0" flipV="0">
            <a:off x="9258300" y="3286125"/>
            <a:ext cx="923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上下文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语义风险</a:t>
            </a:r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5410200" y="3733800"/>
            <a:ext cx="13811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>
                <a:solidFill>
                  <a:srgbClr val="A855F7"/>
                </a:solidFill>
                <a:latin typeface="Microsoft YaHei"/>
                <a:ea typeface="Microsoft YaHei"/>
              </a:rPr>
              <a:t>▼ </a:t>
            </a:r>
            <a:r>
              <a:rPr lang="zh-CN" sz="1650">
                <a:solidFill>
                  <a:srgbClr val="A855F7"/>
                </a:solidFill>
                <a:latin typeface="Microsoft YaHei"/>
                <a:ea typeface="Microsoft YaHei"/>
              </a:rPr>
              <a:t>加权融合</a:t>
            </a:r>
            <a:r>
              <a:rPr lang="en-US" sz="1650">
                <a:solidFill>
                  <a:srgbClr val="A855F7"/>
                </a:solidFill>
                <a:latin typeface="Microsoft YaHei"/>
                <a:ea typeface="Microsoft YaHei"/>
              </a:rPr>
              <a:t> ▼</a:t>
            </a:r>
            <a:endParaRPr/>
          </a:p>
        </p:txBody>
      </p:sp>
      <p:sp>
        <p:nvSpPr>
          <p:cNvPr id="178" name=""/>
          <p:cNvSpPr/>
          <p:nvPr/>
        </p:nvSpPr>
        <p:spPr>
          <a:xfrm rot="0" flipH="0" flipV="0">
            <a:off x="762000" y="4143375"/>
            <a:ext cx="10668000" cy="1343025"/>
          </a:xfrm>
          <a:prstGeom prst="roundRect">
            <a:avLst>
              <a:gd name="adj" fmla="val 5674"/>
            </a:avLst>
          </a:prstGeom>
          <a:gradFill>
            <a:gsLst>
              <a:gs pos="0">
                <a:srgbClr val="A855F7">
                  <a:alpha val="10000"/>
                </a:srgbClr>
              </a:gs>
              <a:gs pos="100000">
                <a:srgbClr val="EC4899">
                  <a:alpha val="10000"/>
                </a:srgbClr>
              </a:gs>
            </a:gsLst>
            <a:lin ang="2700000" scaled="1"/>
          </a:gra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179" name=""/>
          <p:cNvSpPr/>
          <p:nvPr/>
        </p:nvSpPr>
        <p:spPr>
          <a:xfrm rot="0" flipH="0" flipV="0">
            <a:off x="933450" y="4314825"/>
            <a:ext cx="1162050" cy="1000125"/>
          </a:xfrm>
          <a:custGeom>
            <a:pathLst>
              <a:path w="122" h="105">
                <a:moveTo>
                  <a:pt x="121" y="0"/>
                </a:moveTo>
                <a:lnTo>
                  <a:pt x="122" y="0"/>
                </a:lnTo>
                <a:lnTo>
                  <a:pt x="122" y="105"/>
                </a:lnTo>
                <a:lnTo>
                  <a:pt x="121" y="105"/>
                </a:lnTo>
                <a:close/>
              </a:path>
            </a:pathLst>
          </a:custGeom>
          <a:solidFill>
            <a:srgbClr val="2A2A3E"/>
          </a:solidFill>
          <a:ln/>
        </p:spPr>
        <p:txBody>
          <a:bodyPr/>
          <a:p/>
        </p:txBody>
      </p:sp>
      <p:sp>
        <p:nvSpPr>
          <p:cNvPr id="180" name="" descr="{&quot;isTemplate&quot;:true,&quot;type&quot;:&quot;text&quot;}"/>
          <p:cNvSpPr txBox="1"/>
          <p:nvPr/>
        </p:nvSpPr>
        <p:spPr>
          <a:xfrm rot="0" flipH="0" flipV="0">
            <a:off x="1104900" y="4314825"/>
            <a:ext cx="628650" cy="552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3600" b="1">
                <a:solidFill>
                  <a:srgbClr val="EF4444"/>
                </a:solidFill>
                <a:latin typeface="Microsoft YaHei"/>
                <a:ea typeface="Microsoft YaHei"/>
              </a:rPr>
              <a:t>😟</a:t>
            </a:r>
            <a:endParaRPr/>
          </a:p>
        </p:txBody>
      </p:sp>
      <p:sp>
        <p:nvSpPr>
          <p:cNvPr id="181" name="" descr="{&quot;isTemplate&quot;:true,&quot;type&quot;:&quot;text&quot;}"/>
          <p:cNvSpPr txBox="1"/>
          <p:nvPr/>
        </p:nvSpPr>
        <p:spPr>
          <a:xfrm rot="0" flipH="0" flipV="0">
            <a:off x="933450" y="4905375"/>
            <a:ext cx="97155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5F5F7"/>
                </a:solidFill>
                <a:latin typeface="Microsoft YaHei"/>
                <a:ea typeface="Microsoft YaHei"/>
              </a:rPr>
              <a:t>焦虑</a:t>
            </a:r>
            <a:r>
              <a:rPr lang="en-US" sz="1500" b="1">
                <a:solidFill>
                  <a:srgbClr val="F5F5F7"/>
                </a:solidFill>
                <a:latin typeface="Microsoft YaHei"/>
                <a:ea typeface="Microsoft YaHei"/>
              </a:rPr>
              <a:t> / </a:t>
            </a:r>
            <a:r>
              <a:rPr lang="zh-CN" sz="1500" b="1">
                <a:solidFill>
                  <a:srgbClr val="F5F5F7"/>
                </a:solidFill>
                <a:latin typeface="Microsoft YaHei"/>
                <a:ea typeface="Microsoft YaHei"/>
              </a:rPr>
              <a:t>压抑</a:t>
            </a:r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1114425" y="5172075"/>
            <a:ext cx="6191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置信度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87%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2276475" y="43910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5F5F7"/>
                </a:solidFill>
                <a:latin typeface="Microsoft YaHei"/>
                <a:ea typeface="Microsoft YaHei"/>
              </a:rPr>
              <a:t>情绪强度</a:t>
            </a:r>
            <a:endParaRPr/>
          </a:p>
        </p:txBody>
      </p:sp>
      <p:sp>
        <p:nvSpPr>
          <p:cNvPr id="184" name="" descr="{&quot;isTemplate&quot;:true,&quot;type&quot;:&quot;text&quot;}"/>
          <p:cNvSpPr txBox="1"/>
          <p:nvPr/>
        </p:nvSpPr>
        <p:spPr>
          <a:xfrm rot="0" flipH="0" flipV="0">
            <a:off x="11010900" y="439102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C4899"/>
                </a:solidFill>
                <a:latin typeface="Microsoft YaHei"/>
                <a:ea typeface="Microsoft YaHei"/>
              </a:rPr>
              <a:t>72</a:t>
            </a:r>
            <a:r>
              <a:rPr lang="en-US" sz="900" b="1">
                <a:solidFill>
                  <a:srgbClr val="EC4899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185" name=""/>
          <p:cNvSpPr/>
          <p:nvPr/>
        </p:nvSpPr>
        <p:spPr>
          <a:xfrm rot="0" flipH="0" flipV="0">
            <a:off x="2276475" y="4562475"/>
            <a:ext cx="8982075" cy="47625"/>
          </a:xfrm>
          <a:prstGeom prst="roundRect">
            <a:avLst>
              <a:gd name="adj" fmla="val 60000"/>
            </a:avLst>
          </a:prstGeom>
          <a:solidFill>
            <a:srgbClr val="0B0B12"/>
          </a:solidFill>
          <a:ln/>
        </p:spPr>
        <p:txBody>
          <a:bodyPr/>
          <a:p/>
        </p:txBody>
      </p:sp>
      <p:sp>
        <p:nvSpPr>
          <p:cNvPr id="186" name=""/>
          <p:cNvSpPr/>
          <p:nvPr/>
        </p:nvSpPr>
        <p:spPr>
          <a:xfrm rot="0" flipH="0" flipV="0">
            <a:off x="2276475" y="4562475"/>
            <a:ext cx="6467475" cy="47625"/>
          </a:xfrm>
          <a:prstGeom prst="roundRect">
            <a:avLst>
              <a:gd name="adj" fmla="val 60000"/>
            </a:avLst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187" name="" descr="{&quot;isTemplate&quot;:true,&quot;type&quot;:&quot;text&quot;}"/>
          <p:cNvSpPr txBox="1"/>
          <p:nvPr/>
        </p:nvSpPr>
        <p:spPr>
          <a:xfrm rot="0" flipH="0" flipV="0">
            <a:off x="2276475" y="47053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5F5F7"/>
                </a:solidFill>
                <a:latin typeface="Microsoft YaHei"/>
                <a:ea typeface="Microsoft YaHei"/>
              </a:rPr>
              <a:t>风险等级</a:t>
            </a:r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11010900" y="4705350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EF4444"/>
                </a:solidFill>
                <a:latin typeface="Microsoft YaHei"/>
                <a:ea typeface="Microsoft YaHei"/>
              </a:rPr>
              <a:t>64</a:t>
            </a:r>
            <a:r>
              <a:rPr lang="en-US" sz="900" b="1">
                <a:solidFill>
                  <a:srgbClr val="EF4444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2276475" y="4876800"/>
            <a:ext cx="8982075" cy="47625"/>
          </a:xfrm>
          <a:prstGeom prst="roundRect">
            <a:avLst>
              <a:gd name="adj" fmla="val 60000"/>
            </a:avLst>
          </a:prstGeom>
          <a:solidFill>
            <a:srgbClr val="0B0B12"/>
          </a:solidFill>
          <a:ln/>
        </p:spPr>
        <p:txBody>
          <a:bodyPr/>
          <a:p/>
        </p:txBody>
      </p:sp>
      <p:sp>
        <p:nvSpPr>
          <p:cNvPr id="190" name=""/>
          <p:cNvSpPr/>
          <p:nvPr/>
        </p:nvSpPr>
        <p:spPr>
          <a:xfrm rot="0" flipH="0" flipV="0">
            <a:off x="2276475" y="4876800"/>
            <a:ext cx="5753100" cy="47625"/>
          </a:xfrm>
          <a:prstGeom prst="roundRect">
            <a:avLst>
              <a:gd name="adj" fmla="val 60000"/>
            </a:avLst>
          </a:prstGeom>
          <a:solidFill>
            <a:srgbClr val="EF4444"/>
          </a:solidFill>
          <a:ln/>
        </p:spPr>
        <p:txBody>
          <a:bodyPr/>
          <a:p/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2276475" y="5019675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F5F5F7"/>
                </a:solidFill>
                <a:latin typeface="Microsoft YaHei"/>
                <a:ea typeface="Microsoft YaHei"/>
              </a:rPr>
              <a:t>微表情指标</a:t>
            </a:r>
            <a:endParaRPr/>
          </a:p>
        </p:txBody>
      </p:sp>
      <p:sp>
        <p:nvSpPr>
          <p:cNvPr id="192" name="" descr="{&quot;isTemplate&quot;:true,&quot;type&quot;:&quot;text&quot;}"/>
          <p:cNvSpPr txBox="1"/>
          <p:nvPr/>
        </p:nvSpPr>
        <p:spPr>
          <a:xfrm rot="0" flipH="0" flipV="0">
            <a:off x="11010900" y="5019675"/>
            <a:ext cx="247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59E0B"/>
                </a:solidFill>
                <a:latin typeface="Microsoft YaHei"/>
                <a:ea typeface="Microsoft YaHei"/>
              </a:rPr>
              <a:t>81</a:t>
            </a:r>
            <a:r>
              <a:rPr lang="en-US" sz="900" b="1">
                <a:solidFill>
                  <a:srgbClr val="F59E0B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193" name=""/>
          <p:cNvSpPr/>
          <p:nvPr/>
        </p:nvSpPr>
        <p:spPr>
          <a:xfrm rot="0" flipH="0" flipV="0">
            <a:off x="2276475" y="5191125"/>
            <a:ext cx="8982075" cy="47625"/>
          </a:xfrm>
          <a:prstGeom prst="roundRect">
            <a:avLst>
              <a:gd name="adj" fmla="val 60000"/>
            </a:avLst>
          </a:prstGeom>
          <a:solidFill>
            <a:srgbClr val="0B0B12"/>
          </a:solidFill>
          <a:ln/>
        </p:spPr>
        <p:txBody>
          <a:bodyPr/>
          <a:p/>
        </p:txBody>
      </p:sp>
      <p:sp>
        <p:nvSpPr>
          <p:cNvPr id="194" name=""/>
          <p:cNvSpPr/>
          <p:nvPr/>
        </p:nvSpPr>
        <p:spPr>
          <a:xfrm rot="0" flipH="0" flipV="0">
            <a:off x="2276475" y="5191125"/>
            <a:ext cx="7277100" cy="47625"/>
          </a:xfrm>
          <a:prstGeom prst="roundRect">
            <a:avLst>
              <a:gd name="adj" fmla="val 60000"/>
            </a:avLst>
          </a:prstGeom>
          <a:solidFill>
            <a:srgbClr val="F59E0B"/>
          </a:solidFill>
          <a:ln/>
        </p:spPr>
        <p:txBody>
          <a:bodyPr/>
          <a:p/>
        </p:txBody>
      </p:sp>
      <p:sp>
        <p:nvSpPr>
          <p:cNvPr id="195" name="" descr="{&quot;isTemplate&quot;:true,&quot;type&quot;:&quot;text&quot;}"/>
          <p:cNvSpPr txBox="1"/>
          <p:nvPr/>
        </p:nvSpPr>
        <p:spPr>
          <a:xfrm rot="0" flipH="0" flipV="0">
            <a:off x="762000" y="6229350"/>
            <a:ext cx="10668000" cy="15240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挂断后自动生成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 </a:t>
            </a: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通话情绪总结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 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,</a:t>
            </a: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风险结论回写学生档案</a:t>
            </a: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 + </a:t>
            </a:r>
            <a:r>
              <a:rPr lang="zh-CN" sz="975">
                <a:solidFill>
                  <a:srgbClr val="9CA3AF"/>
                </a:solidFill>
                <a:latin typeface="Microsoft YaHei"/>
                <a:ea typeface="Microsoft YaHei"/>
              </a:rPr>
              <a:t>同步情绪网络图</a:t>
            </a:r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1068705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197" name=""/>
          <p:cNvSpPr/>
          <p:nvPr/>
        </p:nvSpPr>
        <p:spPr>
          <a:xfrm rot="0" flipH="0" flipV="0">
            <a:off x="10915650" y="6496050"/>
            <a:ext cx="285750" cy="9525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198" name="" descr="{&quot;isTemplate&quot;:true,&quot;type&quot;:&quot;text&quot;}"/>
          <p:cNvSpPr txBox="1"/>
          <p:nvPr/>
        </p:nvSpPr>
        <p:spPr>
          <a:xfrm rot="0" flipH="0" flipV="0">
            <a:off x="1127760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99" name="" descr="&lt;Slide style={{ width: 1280, height: 720, background: '#0B0B12', position: 'relative', overflow: 'hidden' }}&gt;&#10;  {/* 章节角标 */}&#10;  &lt;Box style={{ position: 'absolute', top: 40, left: 80, flexDirection: 'row', alignItems: 'baseline', gap: 16 }}&gt;&#10;    &lt;Text style={{ fontSize: 56, fontWeight: 'bold', color: '#A855F7', lineHeight: 1 }}&gt;04&lt;/Text&gt;&#10;    &lt;Box style={{ flexDirection: 'column', gap: 4 }}&gt;&#10;      &lt;Text style={{ fontSize: 24, color: '#F5F5F7', fontWeight: 'bold' }}&gt;危机闭环 · 工单流转&lt;/Text&gt;&#10;      &lt;Text style={{ fontSize: 12, color: '#9CA3AF', letterSpacing: 2 }}&gt;CRISIS WORKFLOW · EVIDENCE-DRIVEN&lt;/Text&gt;&#10;    &lt;/Box&gt;&#10;  &lt;/Box&gt;&#10;&#10;  {/* 主标题 */}&#10;  &lt;Box style={{ position: 'absolute', top: 130, left: 80, right: 80, flexDirection: 'column', gap: 6 }}&gt;&#10;    &lt;Text style={{ fontSize: 36, color: '#F5F5F7', fontWeight: 'bold', lineHeight: 1.1 }}&gt;&#10;      &lt;Text style={{ color: '#A855F7' }}&gt;取最高不降级&lt;/Text&gt; · 跨角色协同&#10;    &lt;/Text&gt;&#10;    &lt;Text style={{ fontSize: 14, color: '#9CA3AF' }}&gt;&#10;      测评 / 谈心 / 视频 / 数字人 多来源证据,只升不降;危机跨学工处一键指派关闭&#10;    &lt;/Text&gt;&#10;  &lt;/Box&gt;&#10;&#10;  {/* 中央横向五步流程 */}&#10;  &lt;Box style={{ position: 'absolute', top: 240, left: 80, right: 80, flexDirection: 'row', alignItems: 'stretch', gap: 0 }}&gt;&#10;    {[&#10;      { ic: '📋', t: '测评预警', desc: 'PHQ-9 高风险触发', c: '#F59E0B' },&#10;      { ic: '💬', t: '谈心记录', desc: '中风险跟进', c: '#A855F7' },&#10;      { ic: '📹', t: '视频情绪', desc: '通话结论回写', c: '#A855F7' },&#10;      { ic: '🤖', t: 'AI 危机识别', desc: '数字人识别 → 预警', c: '#EF4444' },&#10;      { ic: '🚨', t: '危机工单', desc: '跨学工处指派关闭', c: '#EF4444' },&#10;    ].map((s, i, arr) =&gt; (&#10;      &lt;Box key={i} style={{ flex: 1, flexDirection: 'column', alignItems: 'center', paddingHorizontal: 8 }}&gt;&#10;        &lt;Box style={{ width: 72, height: 72, borderRadius: 9999, background: `${s.c}25`, border: `2px solid ${s.c}`, alignItems: 'center', justifyContent: 'center' }}&gt;&#10;          &lt;Text style={{ fontSize: 32 }}&gt;{s.ic}&lt;/Text&gt;&#10;        &lt;/Box&gt;&#10;        &lt;Text style={{ fontSize: 16, color: '#F5F5F7', fontWeight: 'bold', marginTop: 10 }}&gt;{s.t}&lt;/Text&gt;&#10;        &lt;Text style={{ fontSize: 12, color: '#9CA3AF', marginTop: 4, textAlign: 'center' }}&gt;{s.desc}&lt;/Text&gt;&#10;        {i &lt; arr.length - 1 &amp;&amp; (&#10;          &lt;Text style={{ position: 'absolute', top: 28, left: '50%', transform: 'translateX(0)', fontSize: 18, color: '#A855F7' }}&gt;→&lt;/Text&gt;&#10;        )}&#10;      &lt;/Box&gt;&#10;    ))}&#10;  &lt;/Box&gt;&#10;&#10;  {/* 流程箭头(独立层) */}&#10;  &lt;Box style={{ position: 'absolute', top: 270, left: 260, right: 260, flexDirection: 'row', justifyContent: 'space-between', opacity: 0.7 }}&gt;&#10;    {[0, 1, 2, 3].map((i) =&gt; (&#10;      &lt;Box key={i} style={{ flex: 1, alignItems: 'center' }}&gt;&#10;        &lt;Text style={{ fontSize: 24, color: '#A855F7' }}&gt;›&lt;/Text&gt;&#10;      &lt;/Box&gt;&#10;    ))}&#10;  &lt;/Box&gt;&#10;&#10;  {/* 底部证据栏 */}&#10;  &lt;Box style={{ position: 'absolute', bottom: 130, left: 80, right: 80, padding: 22, background: '#15151F', border: '1px solid #2A2A3E', borderRadius: 8, flexDirection: 'row', alignItems: 'center', gap: 24 }}&gt;&#10;    &lt;Box style={{ width: 80, height: 80, borderRadius: 9999, background: 'linear-gradient(135deg, #A855F7, #EC4899)', alignItems: 'center', justifyContent: 'center' }}&gt;&#10;      &lt;Text style={{ fontSize: 32, color: '#FFFFFF', fontWeight: 'bold' }}&gt;郭&lt;/Text&gt;&#10;    &lt;/Box&gt;&#10;    &lt;Box style={{ flex: 1, flexDirection: 'column', gap: 8 }}&gt;&#10;      &lt;Box style={{ flexDirection: 'row', alignItems: 'center', gap: 10 }}&gt;&#10;        &lt;Text style={{ fontSize: 18, color: '#F5F5F7', fontWeight: 'bold' }}&gt;郭诗雨&lt;/Text&gt;&#10;        &lt;Box style={{ padding: '3px 10px', background: 'rgba(239,68,68,0.2)', borderRadius: 4 }}&gt;&#10;          &lt;Text style={{ fontSize: 12, color: '#EF4444', fontWeight: 'bold' }}&gt;当前:危机/高风险&lt;/Text&gt;&#10;        &lt;/Box&gt;&#10;      &lt;/Box&gt;&#10;      &lt;Box style={{ flexDirection: 'row', gap: 8 }}&gt;&#10;        {[&#10;          ['测评', '10/14', '#F59E0B'],&#10;          ['谈心', '10/20', '#A855F7'],&#10;          ['视频', '10/25', '#A855F7'],&#10;          ['数字人', '10/27', '#EF4444'],&#10;        ].map(([src, dt, c], i) =&gt; (&#10;          &lt;Box key={i} style={{ padding: '4px 10px', background: '#0B0B12', border: `1px solid ${c}`, borderRadius: 4, flexDirection: 'row', gap: 6 }}&gt;&#10;            &lt;Text style={{ fontSize: 11, color: c }}&gt;{src}&lt;/Text&gt;&#10;            &lt;Text style={{ fontSize: 11, color: '#9CA3AF' }}&gt;{dt}&lt;/Text&gt;&#10;          &lt;/Box&gt;&#10;        ))}&#10;      &lt;/Box&gt;&#10;    &lt;/Box&gt;&#10;  &lt;/Box&gt;&#10;&#10;  {/* 底部说明 */}&#10;  &lt;Box style={{ position: 'absolute', bottom: 50, left: 80, right: 80, justifyContent: 'center' }}&gt;&#10;    &lt;Text style={{ fontSize: 14, color: '#9CA3AF', textAlign: 'center' }}&gt;&#10;      工单&lt;Text style={{ color: '#A855F7' }}&gt; 关闭后&lt;/Text&gt;系统根据未解决预警自动&lt;Text style={{ color: '#A855F7' }}&gt; 重算&lt;/Text&gt;学生风险状态&#10;    &lt;/Text&gt;&#10;  &lt;/Box&gt;&#10;&#10;  {/* 页脚 */}&#10;  &lt;Box style={{ position: 'absolute', bottom: 30, right: 80, flexDirection: 'row', alignItems: 'center', gap: 8 }}&gt;&#10;    &lt;Text style={{ fontSize: 13, color: '#9CA3AF' }}&gt;06&lt;/Text&gt;&#10;    &lt;Box style={{ width: 30, height: 1, background: '#9CA3AF' }} /&gt;&#10;    &lt;Text style={{ fontSize: 13, color: '#9CA3AF' }}&gt;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B12"/>
          </a:solidFill>
          <a:ln/>
        </p:spPr>
        <p:txBody>
          <a:bodyPr/>
          <a:p/>
        </p:txBody>
      </p:sp>
      <p:sp>
        <p:nvSpPr>
          <p:cNvPr id="201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55F7"/>
                </a:solidFill>
                <a:latin typeface="Microsoft YaHei"/>
                <a:ea typeface="Microsoft YaHei"/>
              </a:rPr>
              <a:t>04</a:t>
            </a:r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1581150" y="381000"/>
            <a:ext cx="28289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危机闭环</a:t>
            </a:r>
            <a:r>
              <a:rPr lang="en-US" sz="1800" b="1">
                <a:solidFill>
                  <a:srgbClr val="F5F5F7"/>
                </a:solidFill>
                <a:latin typeface="Microsoft YaHei"/>
                <a:ea typeface="Microsoft YaHei"/>
              </a:rPr>
              <a:t> · </a:t>
            </a: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工单流转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1581150" y="695325"/>
            <a:ext cx="28289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CA3AF"/>
                </a:solidFill>
                <a:latin typeface="Microsoft YaHei"/>
                <a:ea typeface="Microsoft YaHei"/>
              </a:rPr>
              <a:t>CRISIS WORKFLOW · EVIDENCE-DRIVEN</a:t>
            </a:r>
            <a:endParaRPr/>
          </a:p>
        </p:txBody>
      </p:sp>
      <p:sp>
        <p:nvSpPr>
          <p:cNvPr id="204" name="" descr="{&quot;isTemplate&quot;:true,&quot;type&quot;:&quot;text&quot;}"/>
          <p:cNvSpPr txBox="1"/>
          <p:nvPr/>
        </p:nvSpPr>
        <p:spPr>
          <a:xfrm rot="0" flipH="0" flipV="0">
            <a:off x="762000" y="1238250"/>
            <a:ext cx="10668000" cy="457200"/>
          </a:xfrm>
          <a:prstGeom prst="rect"/>
        </p:spPr>
        <p:txBody>
          <a:bodyPr wrap="none" lIns="0" tIns="0" rIns="0" bIns="0"/>
          <a:p>
            <a:pPr>
              <a:lnSpc>
                <a:spcPct val="110000"/>
              </a:lnSpc>
            </a:pPr>
            <a:r>
              <a:rPr lang="zh-CN" sz="2700" b="1">
                <a:solidFill>
                  <a:srgbClr val="F5F5F7"/>
                </a:solidFill>
                <a:latin typeface="Microsoft YaHei"/>
                <a:ea typeface="Microsoft YaHei"/>
              </a:rPr>
              <a:t>取最高不降级</a:t>
            </a:r>
            <a:r>
              <a:rPr lang="en-US" sz="2700" b="1">
                <a:solidFill>
                  <a:srgbClr val="F5F5F7"/>
                </a:solidFill>
                <a:latin typeface="Microsoft YaHei"/>
                <a:ea typeface="Microsoft YaHei"/>
              </a:rPr>
              <a:t> · </a:t>
            </a:r>
            <a:r>
              <a:rPr lang="zh-CN" sz="2700" b="1">
                <a:solidFill>
                  <a:srgbClr val="F5F5F7"/>
                </a:solidFill>
                <a:latin typeface="Microsoft YaHei"/>
                <a:ea typeface="Microsoft YaHei"/>
              </a:rPr>
              <a:t>跨角色协同</a:t>
            </a:r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762000" y="1752600"/>
            <a:ext cx="106680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测评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谈心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视频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 /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数字人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多来源证据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,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只升不降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;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危机跨学工处一键指派关闭</a:t>
            </a:r>
            <a:endParaRPr/>
          </a:p>
        </p:txBody>
      </p:sp>
      <p:sp>
        <p:nvSpPr>
          <p:cNvPr id="206" name=""/>
          <p:cNvSpPr/>
          <p:nvPr/>
        </p:nvSpPr>
        <p:spPr>
          <a:xfrm rot="0" flipH="0" flipV="0">
            <a:off x="1485900" y="2286000"/>
            <a:ext cx="685800" cy="685800"/>
          </a:xfrm>
          <a:prstGeom prst="roundRect">
            <a:avLst>
              <a:gd name="adj" fmla="val 13887500"/>
            </a:avLst>
          </a:prstGeom>
          <a:solidFill>
            <a:srgbClr val="F59E0B">
              <a:alpha val="14510"/>
            </a:srgbClr>
          </a:solidFill>
          <a:ln w="254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07" name="" descr="{&quot;isTemplate&quot;:true,&quot;type&quot;:&quot;text&quot;}"/>
          <p:cNvSpPr txBox="1"/>
          <p:nvPr/>
        </p:nvSpPr>
        <p:spPr>
          <a:xfrm rot="0" flipH="0" flipV="0">
            <a:off x="1619250" y="2447925"/>
            <a:ext cx="419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chemeClr val="tx1"/>
                </a:solidFill>
                <a:latin typeface="Microsoft YaHei"/>
                <a:ea typeface="Microsoft YaHei"/>
              </a:rPr>
              <a:t>📋</a:t>
            </a:r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1524000" y="3067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F5F7"/>
                </a:solidFill>
                <a:latin typeface="Microsoft YaHei"/>
                <a:ea typeface="Microsoft YaHei"/>
              </a:rPr>
              <a:t>测评预警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1343025" y="3295650"/>
            <a:ext cx="981075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PHQ-9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高风险触发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3619500" y="2286000"/>
            <a:ext cx="685800" cy="685800"/>
          </a:xfrm>
          <a:prstGeom prst="roundRect">
            <a:avLst>
              <a:gd name="adj" fmla="val 13887500"/>
            </a:avLst>
          </a:prstGeom>
          <a:solidFill>
            <a:srgbClr val="A855F7">
              <a:alpha val="14510"/>
            </a:srgbClr>
          </a:solidFill>
          <a:ln w="254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211" name="" descr="{&quot;isTemplate&quot;:true,&quot;type&quot;:&quot;text&quot;}"/>
          <p:cNvSpPr txBox="1"/>
          <p:nvPr/>
        </p:nvSpPr>
        <p:spPr>
          <a:xfrm rot="0" flipH="0" flipV="0">
            <a:off x="3752850" y="2447925"/>
            <a:ext cx="419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chemeClr val="tx1"/>
                </a:solidFill>
                <a:latin typeface="Microsoft YaHei"/>
                <a:ea typeface="Microsoft YaHei"/>
              </a:rPr>
              <a:t>💬</a:t>
            </a:r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3657600" y="3067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F5F7"/>
                </a:solidFill>
                <a:latin typeface="Microsoft YaHei"/>
                <a:ea typeface="Microsoft YaHei"/>
              </a:rPr>
              <a:t>谈心记录</a:t>
            </a:r>
            <a:endParaRPr/>
          </a:p>
        </p:txBody>
      </p:sp>
      <p:sp>
        <p:nvSpPr>
          <p:cNvPr id="213" name="" descr="{&quot;isTemplate&quot;:true,&quot;type&quot;:&quot;text&quot;}"/>
          <p:cNvSpPr txBox="1"/>
          <p:nvPr/>
        </p:nvSpPr>
        <p:spPr>
          <a:xfrm rot="0" flipH="0" flipV="0">
            <a:off x="3676650" y="3295650"/>
            <a:ext cx="5715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中风险跟进</a:t>
            </a:r>
            <a:endParaRPr/>
          </a:p>
        </p:txBody>
      </p:sp>
      <p:sp>
        <p:nvSpPr>
          <p:cNvPr id="214" name=""/>
          <p:cNvSpPr/>
          <p:nvPr/>
        </p:nvSpPr>
        <p:spPr>
          <a:xfrm rot="0" flipH="0" flipV="0">
            <a:off x="5753100" y="2286000"/>
            <a:ext cx="685800" cy="685800"/>
          </a:xfrm>
          <a:prstGeom prst="roundRect">
            <a:avLst>
              <a:gd name="adj" fmla="val 13887500"/>
            </a:avLst>
          </a:prstGeom>
          <a:solidFill>
            <a:srgbClr val="A855F7">
              <a:alpha val="14510"/>
            </a:srgbClr>
          </a:solidFill>
          <a:ln w="254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5886450" y="2447925"/>
            <a:ext cx="419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chemeClr val="tx1"/>
                </a:solidFill>
                <a:latin typeface="Microsoft YaHei"/>
                <a:ea typeface="Microsoft YaHei"/>
              </a:rPr>
              <a:t>📹</a:t>
            </a:r>
            <a:endParaRPr/>
          </a:p>
        </p:txBody>
      </p:sp>
      <p:sp>
        <p:nvSpPr>
          <p:cNvPr id="216" name="" descr="{&quot;isTemplate&quot;:true,&quot;type&quot;:&quot;text&quot;}"/>
          <p:cNvSpPr txBox="1"/>
          <p:nvPr/>
        </p:nvSpPr>
        <p:spPr>
          <a:xfrm rot="0" flipH="0" flipV="0">
            <a:off x="5791200" y="3067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F5F7"/>
                </a:solidFill>
                <a:latin typeface="Microsoft YaHei"/>
                <a:ea typeface="Microsoft YaHei"/>
              </a:rPr>
              <a:t>视频情绪</a:t>
            </a:r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5753100" y="3295650"/>
            <a:ext cx="6858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通话结论回写</a:t>
            </a:r>
            <a:endParaRPr/>
          </a:p>
        </p:txBody>
      </p:sp>
      <p:sp>
        <p:nvSpPr>
          <p:cNvPr id="218" name=""/>
          <p:cNvSpPr/>
          <p:nvPr/>
        </p:nvSpPr>
        <p:spPr>
          <a:xfrm rot="0" flipH="0" flipV="0">
            <a:off x="7886700" y="2286000"/>
            <a:ext cx="685800" cy="685800"/>
          </a:xfrm>
          <a:prstGeom prst="roundRect">
            <a:avLst>
              <a:gd name="adj" fmla="val 13887500"/>
            </a:avLst>
          </a:prstGeom>
          <a:solidFill>
            <a:srgbClr val="EF4444">
              <a:alpha val="1451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19" name="" descr="{&quot;isTemplate&quot;:true,&quot;type&quot;:&quot;text&quot;}"/>
          <p:cNvSpPr txBox="1"/>
          <p:nvPr/>
        </p:nvSpPr>
        <p:spPr>
          <a:xfrm rot="0" flipH="0" flipV="0">
            <a:off x="8020050" y="2447925"/>
            <a:ext cx="419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chemeClr val="tx1"/>
                </a:solidFill>
                <a:latin typeface="Microsoft YaHei"/>
                <a:ea typeface="Microsoft YaHei"/>
              </a:rPr>
              <a:t>🤖</a:t>
            </a:r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7820025" y="3067050"/>
            <a:ext cx="82867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F5F7"/>
                </a:solidFill>
                <a:latin typeface="Microsoft YaHei"/>
                <a:ea typeface="Microsoft YaHei"/>
              </a:rPr>
              <a:t>AI </a:t>
            </a:r>
            <a:r>
              <a:rPr lang="zh-CN" sz="1200" b="1">
                <a:solidFill>
                  <a:srgbClr val="F5F5F7"/>
                </a:solidFill>
                <a:latin typeface="Microsoft YaHei"/>
                <a:ea typeface="Microsoft YaHei"/>
              </a:rPr>
              <a:t>危机识别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7734300" y="3295650"/>
            <a:ext cx="9906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数字人识别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预警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10020300" y="2286000"/>
            <a:ext cx="685800" cy="685800"/>
          </a:xfrm>
          <a:prstGeom prst="roundRect">
            <a:avLst>
              <a:gd name="adj" fmla="val 13887500"/>
            </a:avLst>
          </a:prstGeom>
          <a:solidFill>
            <a:srgbClr val="EF4444">
              <a:alpha val="14510"/>
            </a:srgbClr>
          </a:solidFill>
          <a:ln w="254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23" name="" descr="{&quot;isTemplate&quot;:true,&quot;type&quot;:&quot;text&quot;}"/>
          <p:cNvSpPr txBox="1"/>
          <p:nvPr/>
        </p:nvSpPr>
        <p:spPr>
          <a:xfrm rot="0" flipH="0" flipV="0">
            <a:off x="10153650" y="2447925"/>
            <a:ext cx="4191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2400">
                <a:solidFill>
                  <a:schemeClr val="tx1"/>
                </a:solidFill>
                <a:latin typeface="Microsoft YaHei"/>
                <a:ea typeface="Microsoft YaHei"/>
              </a:rPr>
              <a:t>🚨</a:t>
            </a:r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10058400" y="3067050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F5F7"/>
                </a:solidFill>
                <a:latin typeface="Microsoft YaHei"/>
                <a:ea typeface="Microsoft YaHei"/>
              </a:rPr>
              <a:t>危机工单</a:t>
            </a:r>
            <a:endParaRPr/>
          </a:p>
        </p:txBody>
      </p:sp>
      <p:sp>
        <p:nvSpPr>
          <p:cNvPr id="225" name="" descr="{&quot;isTemplate&quot;:true,&quot;type&quot;:&quot;text&quot;}"/>
          <p:cNvSpPr txBox="1"/>
          <p:nvPr/>
        </p:nvSpPr>
        <p:spPr>
          <a:xfrm rot="0" flipH="0" flipV="0">
            <a:off x="9906000" y="3295650"/>
            <a:ext cx="9144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跨学工处指派关闭</a:t>
            </a:r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1828800" y="25527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A855F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3962400" y="25527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A855F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8" name="" descr="{&quot;isTemplate&quot;:true,&quot;type&quot;:&quot;text&quot;}"/>
          <p:cNvSpPr txBox="1"/>
          <p:nvPr/>
        </p:nvSpPr>
        <p:spPr>
          <a:xfrm rot="0" flipH="0" flipV="0">
            <a:off x="6096000" y="25527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A855F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8229600" y="2552700"/>
            <a:ext cx="1714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350">
                <a:solidFill>
                  <a:srgbClr val="A855F7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3343275" y="25717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A855F7">
                    <a:alpha val="7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1" name="" descr="{&quot;isTemplate&quot;:true,&quot;type&quot;:&quot;text&quot;}"/>
          <p:cNvSpPr txBox="1"/>
          <p:nvPr/>
        </p:nvSpPr>
        <p:spPr>
          <a:xfrm rot="0" flipH="0" flipV="0">
            <a:off x="5153025" y="25717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A855F7">
                    <a:alpha val="7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6962775" y="25717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A855F7">
                    <a:alpha val="7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8772525" y="2571750"/>
            <a:ext cx="85725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800">
                <a:solidFill>
                  <a:srgbClr val="A855F7">
                    <a:alpha val="70000"/>
                  </a:srgbClr>
                </a:solidFill>
                <a:latin typeface="Microsoft YaHei"/>
                <a:ea typeface="Microsoft YaHei"/>
              </a:rPr>
              <a:t>›</a:t>
            </a:r>
            <a:endParaRPr/>
          </a:p>
        </p:txBody>
      </p:sp>
      <p:sp>
        <p:nvSpPr>
          <p:cNvPr id="234" name=""/>
          <p:cNvSpPr/>
          <p:nvPr/>
        </p:nvSpPr>
        <p:spPr>
          <a:xfrm rot="0" flipH="0" flipV="0">
            <a:off x="762000" y="4438650"/>
            <a:ext cx="10668000" cy="1181100"/>
          </a:xfrm>
          <a:prstGeom prst="roundRect">
            <a:avLst>
              <a:gd name="adj" fmla="val 6452"/>
            </a:avLst>
          </a:prstGeom>
          <a:solidFill>
            <a:srgbClr val="15151F"/>
          </a:solidFill>
          <a:ln w="12700">
            <a:solidFill>
              <a:srgbClr val="2A2A3E"/>
            </a:solidFill>
            <a:prstDash val="solid"/>
          </a:ln>
        </p:spPr>
        <p:txBody>
          <a:bodyPr/>
          <a:p/>
        </p:txBody>
      </p:sp>
      <p:sp>
        <p:nvSpPr>
          <p:cNvPr id="235" name=""/>
          <p:cNvSpPr/>
          <p:nvPr/>
        </p:nvSpPr>
        <p:spPr>
          <a:xfrm rot="0" flipH="0" flipV="0">
            <a:off x="971550" y="4648200"/>
            <a:ext cx="762000" cy="762000"/>
          </a:xfrm>
          <a:prstGeom prst="roundRect">
            <a:avLst>
              <a:gd name="adj" fmla="val 12498750"/>
            </a:avLst>
          </a:prstGeom>
          <a:gradFill>
            <a:gsLst>
              <a:gs pos="0">
                <a:srgbClr val="A855F7"/>
              </a:gs>
              <a:gs pos="100000">
                <a:srgbClr val="EC4899"/>
              </a:gs>
            </a:gsLst>
            <a:lin ang="2700000" scaled="1"/>
          </a:gradFill>
          <a:ln/>
        </p:spPr>
        <p:txBody>
          <a:bodyPr/>
          <a:p/>
        </p:txBody>
      </p:sp>
      <p:sp>
        <p:nvSpPr>
          <p:cNvPr id="236" name="" descr="{&quot;isTemplate&quot;:true,&quot;type&quot;:&quot;text&quot;}"/>
          <p:cNvSpPr txBox="1"/>
          <p:nvPr/>
        </p:nvSpPr>
        <p:spPr>
          <a:xfrm rot="0" flipH="0" flipV="0">
            <a:off x="1200150" y="4848225"/>
            <a:ext cx="3048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郭</a:t>
            </a:r>
            <a:endParaRPr/>
          </a:p>
        </p:txBody>
      </p:sp>
      <p:sp>
        <p:nvSpPr>
          <p:cNvPr id="237" name="" descr="{&quot;isTemplate&quot;:true,&quot;type&quot;:&quot;text&quot;}"/>
          <p:cNvSpPr txBox="1"/>
          <p:nvPr/>
        </p:nvSpPr>
        <p:spPr>
          <a:xfrm rot="0" flipH="0" flipV="0">
            <a:off x="1962150" y="4781550"/>
            <a:ext cx="514350" cy="2095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350" b="1">
                <a:solidFill>
                  <a:srgbClr val="F5F5F7"/>
                </a:solidFill>
                <a:latin typeface="Microsoft YaHei"/>
                <a:ea typeface="Microsoft YaHei"/>
              </a:rPr>
              <a:t>郭诗雨</a:t>
            </a:r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2571750" y="4791075"/>
            <a:ext cx="1085850" cy="200025"/>
          </a:xfrm>
          <a:prstGeom prst="roundRect">
            <a:avLst>
              <a:gd name="adj" fmla="val 19048"/>
            </a:avLst>
          </a:prstGeom>
          <a:solidFill>
            <a:srgbClr val="EF4444">
              <a:alpha val="20000"/>
            </a:srgbClr>
          </a:solidFill>
          <a:ln/>
        </p:spPr>
        <p:txBody>
          <a:bodyPr/>
          <a:p/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2667000" y="4819650"/>
            <a:ext cx="8953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EF4444"/>
                </a:solidFill>
                <a:latin typeface="Microsoft YaHei"/>
                <a:ea typeface="Microsoft YaHei"/>
              </a:rPr>
              <a:t>当前</a:t>
            </a:r>
            <a:r>
              <a:rPr lang="en-US" sz="900" b="1">
                <a:solidFill>
                  <a:srgbClr val="EF4444"/>
                </a:solidFill>
                <a:latin typeface="Microsoft YaHei"/>
                <a:ea typeface="Microsoft YaHei"/>
              </a:rPr>
              <a:t>:</a:t>
            </a:r>
            <a:r>
              <a:rPr lang="zh-CN" sz="900" b="1">
                <a:solidFill>
                  <a:srgbClr val="EF4444"/>
                </a:solidFill>
                <a:latin typeface="Microsoft YaHei"/>
                <a:ea typeface="Microsoft YaHei"/>
              </a:rPr>
              <a:t>危机</a:t>
            </a:r>
            <a:r>
              <a:rPr lang="en-US" sz="900" b="1">
                <a:solidFill>
                  <a:srgbClr val="EF4444"/>
                </a:solidFill>
                <a:latin typeface="Microsoft YaHei"/>
                <a:ea typeface="Microsoft YaHei"/>
              </a:rPr>
              <a:t>/</a:t>
            </a:r>
            <a:r>
              <a:rPr lang="zh-CN" sz="900" b="1">
                <a:solidFill>
                  <a:srgbClr val="EF4444"/>
                </a:solidFill>
                <a:latin typeface="Microsoft YaHei"/>
                <a:ea typeface="Microsoft YaHei"/>
              </a:rPr>
              <a:t>高风险</a:t>
            </a:r>
            <a:endParaRPr/>
          </a:p>
        </p:txBody>
      </p:sp>
      <p:sp>
        <p:nvSpPr>
          <p:cNvPr id="240" name=""/>
          <p:cNvSpPr/>
          <p:nvPr/>
        </p:nvSpPr>
        <p:spPr>
          <a:xfrm rot="0" flipH="0" flipV="0">
            <a:off x="1962150" y="5067300"/>
            <a:ext cx="752475" cy="209550"/>
          </a:xfrm>
          <a:prstGeom prst="roundRect">
            <a:avLst>
              <a:gd name="adj" fmla="val 18182"/>
            </a:avLst>
          </a:prstGeom>
          <a:solidFill>
            <a:srgbClr val="0B0B12"/>
          </a:solidFill>
          <a:ln w="12700">
            <a:solidFill>
              <a:srgbClr val="F59E0B"/>
            </a:solidFill>
            <a:prstDash val="solid"/>
          </a:ln>
        </p:spPr>
        <p:txBody>
          <a:bodyPr/>
          <a:p/>
        </p:txBody>
      </p:sp>
      <p:sp>
        <p:nvSpPr>
          <p:cNvPr id="241" name="" descr="{&quot;isTemplate&quot;:true,&quot;type&quot;:&quot;text&quot;}"/>
          <p:cNvSpPr txBox="1"/>
          <p:nvPr/>
        </p:nvSpPr>
        <p:spPr>
          <a:xfrm rot="0" flipH="0" flipV="0">
            <a:off x="2057400" y="51054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F59E0B"/>
                </a:solidFill>
                <a:latin typeface="Microsoft YaHei"/>
                <a:ea typeface="Microsoft YaHei"/>
              </a:rPr>
              <a:t>测评</a:t>
            </a:r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2324100" y="5105400"/>
            <a:ext cx="295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CA3AF"/>
                </a:solidFill>
                <a:latin typeface="Microsoft YaHei"/>
                <a:ea typeface="Microsoft YaHei"/>
              </a:rPr>
              <a:t>10/14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2790825" y="5067300"/>
            <a:ext cx="752475" cy="209550"/>
          </a:xfrm>
          <a:prstGeom prst="roundRect">
            <a:avLst>
              <a:gd name="adj" fmla="val 18182"/>
            </a:avLst>
          </a:prstGeom>
          <a:solidFill>
            <a:srgbClr val="0B0B12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244" name="" descr="{&quot;isTemplate&quot;:true,&quot;type&quot;:&quot;text&quot;}"/>
          <p:cNvSpPr txBox="1"/>
          <p:nvPr/>
        </p:nvSpPr>
        <p:spPr>
          <a:xfrm rot="0" flipH="0" flipV="0">
            <a:off x="2886075" y="51054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A855F7"/>
                </a:solidFill>
                <a:latin typeface="Microsoft YaHei"/>
                <a:ea typeface="Microsoft YaHei"/>
              </a:rPr>
              <a:t>谈心</a:t>
            </a:r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3152775" y="5105400"/>
            <a:ext cx="295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CA3AF"/>
                </a:solidFill>
                <a:latin typeface="Microsoft YaHei"/>
                <a:ea typeface="Microsoft YaHei"/>
              </a:rPr>
              <a:t>10/20</a:t>
            </a:r>
            <a:endParaRPr/>
          </a:p>
        </p:txBody>
      </p:sp>
      <p:sp>
        <p:nvSpPr>
          <p:cNvPr id="246" name=""/>
          <p:cNvSpPr/>
          <p:nvPr/>
        </p:nvSpPr>
        <p:spPr>
          <a:xfrm rot="0" flipH="0" flipV="0">
            <a:off x="3619500" y="5067300"/>
            <a:ext cx="752475" cy="209550"/>
          </a:xfrm>
          <a:prstGeom prst="roundRect">
            <a:avLst>
              <a:gd name="adj" fmla="val 18182"/>
            </a:avLst>
          </a:prstGeom>
          <a:solidFill>
            <a:srgbClr val="0B0B12"/>
          </a:solidFill>
          <a:ln w="12700">
            <a:solidFill>
              <a:srgbClr val="A855F7"/>
            </a:solidFill>
            <a:prstDash val="solid"/>
          </a:ln>
        </p:spPr>
        <p:txBody>
          <a:bodyPr/>
          <a:p/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3714750" y="5105400"/>
            <a:ext cx="209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A855F7"/>
                </a:solidFill>
                <a:latin typeface="Microsoft YaHei"/>
                <a:ea typeface="Microsoft YaHei"/>
              </a:rPr>
              <a:t>视频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3981450" y="5105400"/>
            <a:ext cx="295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CA3AF"/>
                </a:solidFill>
                <a:latin typeface="Microsoft YaHei"/>
                <a:ea typeface="Microsoft YaHei"/>
              </a:rPr>
              <a:t>10/25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4448175" y="5067300"/>
            <a:ext cx="857250" cy="209550"/>
          </a:xfrm>
          <a:prstGeom prst="roundRect">
            <a:avLst>
              <a:gd name="adj" fmla="val 18182"/>
            </a:avLst>
          </a:prstGeom>
          <a:solidFill>
            <a:srgbClr val="0B0B12"/>
          </a:solidFill>
          <a:ln w="12700">
            <a:solidFill>
              <a:srgbClr val="EF4444"/>
            </a:solidFill>
            <a:prstDash val="solid"/>
          </a:ln>
        </p:spPr>
        <p:txBody>
          <a:bodyPr/>
          <a:p/>
        </p:txBody>
      </p:sp>
      <p:sp>
        <p:nvSpPr>
          <p:cNvPr id="250" name="" descr="{&quot;isTemplate&quot;:true,&quot;type&quot;:&quot;text&quot;}"/>
          <p:cNvSpPr txBox="1"/>
          <p:nvPr/>
        </p:nvSpPr>
        <p:spPr>
          <a:xfrm rot="0" flipH="0" flipV="0">
            <a:off x="4543425" y="5105400"/>
            <a:ext cx="3143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EF4444"/>
                </a:solidFill>
                <a:latin typeface="Microsoft YaHei"/>
                <a:ea typeface="Microsoft YaHei"/>
              </a:rPr>
              <a:t>数字人</a:t>
            </a:r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4914900" y="5105400"/>
            <a:ext cx="295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9CA3AF"/>
                </a:solidFill>
                <a:latin typeface="Microsoft YaHei"/>
                <a:ea typeface="Microsoft YaHei"/>
              </a:rPr>
              <a:t>10/27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762000" y="6219825"/>
            <a:ext cx="10668000" cy="1619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工单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关闭后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系统根据未解决预警自动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重算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学生风险状态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1068705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06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10915650" y="6496050"/>
            <a:ext cx="285750" cy="9525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127760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256" name="" descr="&lt;Slide style={{ width: 1280, height: 720, background: '#0B0B12', position: 'relative', overflow: 'hidden' }}&gt;&#10;  {/* 背景光晕 */}&#10;  &lt;Box style={{ position: 'absolute', top: -100, left: '40%', width: 600, height: 600, borderRadius: 9999, background: 'radial-gradient(circle, rgba(168,85,247,0.2) 0%, transparent 60%)' }} /&gt;&#10;&#10;  {/* 章节角标 */}&#10;  &lt;Box style={{ position: 'absolute', top: 40, left: 80, flexDirection: 'row', alignItems: 'baseline', gap: 16 }}&gt;&#10;    &lt;Text style={{ fontSize: 56, fontWeight: 'bold', color: '#A855F7', lineHeight: 1 }}&gt;05&lt;/Text&gt;&#10;    &lt;Box style={{ flexDirection: 'column', gap: 4 }}&gt;&#10;      &lt;Text style={{ fontSize: 24, color: '#F5F5F7', fontWeight: 'bold' }}&gt;学生端 + 量化成果&lt;/Text&gt;&#10;      &lt;Text style={{ fontSize: 12, color: '#9CA3AF', letterSpacing: 2 }}&gt;STUDENT PORTAL · METRICS &amp; CLOSING&lt;/Text&gt;&#10;    &lt;/Box&gt;&#10;  &lt;/Box&gt;&#10;&#10;  {/* 左 学生端能力 */}&#10;  &lt;Box style={{ position: 'absolute', top: 140, left: 80, flexDirection: 'column', gap: 14, width: 580 }}&gt;&#10;    &lt;Text style={{ fontSize: 32, color: '#F5F5F7', fontWeight: 'bold' }}&gt;每位学生一个&lt;Text style={{ color: '#A855F7' }}&gt;求助入口&lt;/Text&gt;&lt;/Text&gt;&#10;    &lt;Text style={{ fontSize: 14, color: '#9CA3AF', marginBottom: 8 }}&gt;低门槛、可追溯、有 AI 陪伴&lt;/Text&gt;&#10;&#10;    {[&#10;      { ic: '📊', t: '标准化心理测评', d: 'PHQ-9 / GAD-7 等量表,自动评分 + 风险提示' },&#10;      { ic: '📅', t: '预约咨询', d: '在线预约老师 → 自动确认待办 → 沉淀谈心记录' },&#10;      { ic: '💬', t: '7×24 求助通道', d: '联系老师 → AI 分身立即响应 / 老师上线接入' },&#10;      { ic: '📚', t: '知识库自我学习', d: '心理科普文章检索阅读,RAG 混合检索' },&#10;    ].map(({ ic, t, d }, i) =&gt; (&#10;      &lt;Box key={i} style={{ flexDirection: 'row', alignItems: 'center', padding: 14, background: '#15151F', borderRadius: 6, borderLeft: '3px solid #A855F7', gap: 16 }}&gt;&#10;        &lt;Box style={{ width: 44, height: 44, borderRadius: 8, background: 'rgba(168,85,247,0.15)', alignItems: 'center', justifyContent: 'center', flexShrink: 0 }}&gt;&#10;          &lt;Text style={{ fontSize: 22 }}&gt;{ic}&lt;/Text&gt;&#10;        &lt;/Box&gt;&#10;        &lt;Box style={{ flex: 1 }}&gt;&#10;          &lt;Text style={{ fontSize: 16, color: '#F5F5F7', fontWeight: 'bold' }}&gt;{t}&lt;/Text&gt;&#10;          &lt;Text style={{ fontSize: 12, color: '#9CA3AF', marginTop: 2 }}&gt;{d}&lt;/Text&gt;&#10;        &lt;/Box&gt;&#10;      &lt;/Box&gt;&#10;    ))}&#10;  &lt;/Box&gt;&#10;&#10;  {/* 右 量化成果 */}&#10;  &lt;Box style={{ position: 'absolute', top: 140, right: 80, width: 420, flexDirection: 'column', gap: 20 }}&gt;&#10;    &lt;Text style={{ fontSize: 14, color: '#9CA3AF', letterSpacing: 4 }}&gt;METRICS · 平台验证&lt;/Text&gt;&#10;&#10;    {[&#10;      { n: '80', u: '项', t: '自动化测试', sub: '全部通过' },&#10;      { n: '61', u: '项', t: '数据完整性校验', sub: '全部通过' },&#10;      { n: '73.33', u: '%', t: '文本情绪识别准确率', sub: '公开数据集' },&#10;      { n: '600', u: '名', t: '演示规模覆盖', sub: '全校学生' },&#10;    ].map(({ n, u, t, sub }, i) =&gt; (&#10;      &lt;Box key={i} style={{ padding: '16px 20px', background: '#15151F', borderRadius: 6, flexDirection: 'row', alignItems: 'baseline', gap: 10, borderRight: '3px solid #A855F7' }}&gt;&#10;        &lt;Box style={{ flexDirection: 'row', alignItems: 'baseline', minWidth: 140 }}&gt;&#10;          &lt;Text style={{ fontSize: 56, fontWeight: 'bold', color: '#A855F7', lineHeight: 1 }}&gt;{n}&lt;/Text&gt;&#10;          &lt;Text style={{ fontSize: 22, color: '#EC4899', fontWeight: 'bold' }}&gt;{u}&lt;/Text&gt;&#10;        &lt;/Box&gt;&#10;        &lt;Box style={{ flex: 1 }}&gt;&#10;          &lt;Text style={{ fontSize: 14, color: '#F5F5F7', fontWeight: 'bold' }}&gt;{t}&lt;/Text&gt;&#10;          &lt;Text style={{ fontSize: 11, color: '#9CA3AF', marginTop: 2 }}&gt;{sub}&lt;/Text&gt;&#10;        &lt;/Box&gt;&#10;      &lt;/Box&gt;&#10;    ))}&#10;  &lt;/Box&gt;&#10;&#10;  {/* 底部收尾金句 */}&#10;  &lt;Box style={{ position: 'absolute', bottom: 60, left: 80, right: 80, flexDirection: 'row', alignItems: 'center', justifyContent: 'center', gap: 16 }}&gt;&#10;    &lt;Box style={{ width: 50, height: 2, background: '#A855F7' }} /&gt;&#10;    &lt;Text style={{ fontSize: 22, fontWeight: 'bold', color: '#F5F5F7', textAlign: 'center', letterSpacing: 1 }}&gt;聆心,让每一份情绪都被看见&lt;/Text&gt;&#10;    &lt;Box style={{ width: 50, height: 2, background: '#EC4899' }} /&gt;&#10;  &lt;/Box&gt;&#10;&#10;  {/* 页脚 */}&#10;  &lt;Box style={{ position: 'absolute', bottom: 30, right: 80, flexDirection: 'row', alignItems: 'center', gap: 8 }}&gt;&#10;    &lt;Text style={{ fontSize: 13, color: '#9CA3AF' }}&gt;07&lt;/Text&gt;&#10;    &lt;Box style={{ width: 30, height: 1, background: '#9CA3AF' }} /&gt;&#10;    &lt;Text style={{ fontSize: 13, color: '#9CA3AF' }}&gt;07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0B12"/>
          </a:solidFill>
          <a:ln/>
        </p:spPr>
        <p:txBody>
          <a:bodyPr/>
          <a:p/>
        </p:txBody>
      </p:sp>
      <p:sp>
        <p:nvSpPr>
          <p:cNvPr id="258" name=""/>
          <p:cNvSpPr/>
          <p:nvPr/>
        </p:nvSpPr>
        <p:spPr>
          <a:xfrm rot="0" flipH="0" flipV="0">
            <a:off x="4876800" y="-952500"/>
            <a:ext cx="5715000" cy="5715000"/>
          </a:xfrm>
          <a:custGeom>
            <a:pathLst>
              <a:path w="600" h="600">
                <a:moveTo>
                  <a:pt x="527" y="104"/>
                </a:moveTo>
                <a:lnTo>
                  <a:pt x="531" y="109"/>
                </a:lnTo>
                <a:lnTo>
                  <a:pt x="536" y="115"/>
                </a:lnTo>
                <a:lnTo>
                  <a:pt x="540" y="121"/>
                </a:lnTo>
                <a:lnTo>
                  <a:pt x="545" y="126"/>
                </a:lnTo>
                <a:lnTo>
                  <a:pt x="549" y="132"/>
                </a:lnTo>
                <a:lnTo>
                  <a:pt x="553" y="138"/>
                </a:lnTo>
                <a:lnTo>
                  <a:pt x="557" y="144"/>
                </a:lnTo>
                <a:lnTo>
                  <a:pt x="560" y="151"/>
                </a:lnTo>
                <a:lnTo>
                  <a:pt x="564" y="157"/>
                </a:lnTo>
                <a:lnTo>
                  <a:pt x="567" y="163"/>
                </a:lnTo>
                <a:lnTo>
                  <a:pt x="570" y="170"/>
                </a:lnTo>
                <a:lnTo>
                  <a:pt x="573" y="177"/>
                </a:lnTo>
                <a:lnTo>
                  <a:pt x="576" y="183"/>
                </a:lnTo>
                <a:lnTo>
                  <a:pt x="579" y="190"/>
                </a:lnTo>
                <a:lnTo>
                  <a:pt x="582" y="197"/>
                </a:lnTo>
                <a:lnTo>
                  <a:pt x="584" y="204"/>
                </a:lnTo>
                <a:lnTo>
                  <a:pt x="587" y="211"/>
                </a:lnTo>
                <a:lnTo>
                  <a:pt x="589" y="218"/>
                </a:lnTo>
                <a:lnTo>
                  <a:pt x="591" y="225"/>
                </a:lnTo>
                <a:lnTo>
                  <a:pt x="592" y="232"/>
                </a:lnTo>
                <a:lnTo>
                  <a:pt x="594" y="240"/>
                </a:lnTo>
                <a:lnTo>
                  <a:pt x="595" y="247"/>
                </a:lnTo>
                <a:lnTo>
                  <a:pt x="597" y="254"/>
                </a:lnTo>
                <a:lnTo>
                  <a:pt x="598" y="262"/>
                </a:lnTo>
                <a:lnTo>
                  <a:pt x="598" y="269"/>
                </a:lnTo>
                <a:lnTo>
                  <a:pt x="599" y="277"/>
                </a:lnTo>
                <a:lnTo>
                  <a:pt x="600" y="285"/>
                </a:lnTo>
                <a:lnTo>
                  <a:pt x="600" y="292"/>
                </a:lnTo>
                <a:lnTo>
                  <a:pt x="600" y="300"/>
                </a:lnTo>
                <a:lnTo>
                  <a:pt x="600" y="308"/>
                </a:lnTo>
                <a:lnTo>
                  <a:pt x="600" y="315"/>
                </a:lnTo>
                <a:lnTo>
                  <a:pt x="599" y="323"/>
                </a:lnTo>
                <a:lnTo>
                  <a:pt x="598" y="331"/>
                </a:lnTo>
                <a:lnTo>
                  <a:pt x="598" y="338"/>
                </a:lnTo>
                <a:lnTo>
                  <a:pt x="597" y="346"/>
                </a:lnTo>
                <a:lnTo>
                  <a:pt x="595" y="353"/>
                </a:lnTo>
                <a:lnTo>
                  <a:pt x="594" y="360"/>
                </a:lnTo>
                <a:lnTo>
                  <a:pt x="592" y="368"/>
                </a:lnTo>
                <a:lnTo>
                  <a:pt x="591" y="375"/>
                </a:lnTo>
                <a:lnTo>
                  <a:pt x="589" y="382"/>
                </a:lnTo>
                <a:lnTo>
                  <a:pt x="587" y="389"/>
                </a:lnTo>
                <a:lnTo>
                  <a:pt x="584" y="396"/>
                </a:lnTo>
                <a:lnTo>
                  <a:pt x="582" y="403"/>
                </a:lnTo>
                <a:lnTo>
                  <a:pt x="579" y="410"/>
                </a:lnTo>
                <a:lnTo>
                  <a:pt x="576" y="417"/>
                </a:lnTo>
                <a:lnTo>
                  <a:pt x="573" y="423"/>
                </a:lnTo>
                <a:lnTo>
                  <a:pt x="570" y="430"/>
                </a:lnTo>
                <a:lnTo>
                  <a:pt x="567" y="437"/>
                </a:lnTo>
                <a:lnTo>
                  <a:pt x="564" y="443"/>
                </a:lnTo>
                <a:lnTo>
                  <a:pt x="560" y="449"/>
                </a:lnTo>
                <a:lnTo>
                  <a:pt x="557" y="456"/>
                </a:lnTo>
                <a:lnTo>
                  <a:pt x="553" y="462"/>
                </a:lnTo>
                <a:lnTo>
                  <a:pt x="549" y="468"/>
                </a:lnTo>
                <a:lnTo>
                  <a:pt x="545" y="474"/>
                </a:lnTo>
                <a:lnTo>
                  <a:pt x="540" y="479"/>
                </a:lnTo>
                <a:lnTo>
                  <a:pt x="536" y="485"/>
                </a:lnTo>
                <a:lnTo>
                  <a:pt x="531" y="491"/>
                </a:lnTo>
                <a:lnTo>
                  <a:pt x="527" y="496"/>
                </a:lnTo>
                <a:lnTo>
                  <a:pt x="522" y="502"/>
                </a:lnTo>
                <a:lnTo>
                  <a:pt x="517" y="507"/>
                </a:lnTo>
                <a:lnTo>
                  <a:pt x="512" y="512"/>
                </a:lnTo>
                <a:lnTo>
                  <a:pt x="507" y="517"/>
                </a:lnTo>
                <a:lnTo>
                  <a:pt x="502" y="522"/>
                </a:lnTo>
                <a:lnTo>
                  <a:pt x="496" y="527"/>
                </a:lnTo>
                <a:lnTo>
                  <a:pt x="491" y="531"/>
                </a:lnTo>
                <a:lnTo>
                  <a:pt x="485" y="536"/>
                </a:lnTo>
                <a:lnTo>
                  <a:pt x="479" y="540"/>
                </a:lnTo>
                <a:lnTo>
                  <a:pt x="474" y="545"/>
                </a:lnTo>
                <a:lnTo>
                  <a:pt x="468" y="549"/>
                </a:lnTo>
                <a:lnTo>
                  <a:pt x="462" y="553"/>
                </a:lnTo>
                <a:lnTo>
                  <a:pt x="456" y="557"/>
                </a:lnTo>
                <a:lnTo>
                  <a:pt x="449" y="560"/>
                </a:lnTo>
                <a:lnTo>
                  <a:pt x="443" y="564"/>
                </a:lnTo>
                <a:lnTo>
                  <a:pt x="437" y="567"/>
                </a:lnTo>
                <a:lnTo>
                  <a:pt x="430" y="570"/>
                </a:lnTo>
                <a:lnTo>
                  <a:pt x="423" y="573"/>
                </a:lnTo>
                <a:lnTo>
                  <a:pt x="417" y="576"/>
                </a:lnTo>
                <a:lnTo>
                  <a:pt x="410" y="579"/>
                </a:lnTo>
                <a:lnTo>
                  <a:pt x="403" y="582"/>
                </a:lnTo>
                <a:lnTo>
                  <a:pt x="396" y="584"/>
                </a:lnTo>
                <a:lnTo>
                  <a:pt x="389" y="587"/>
                </a:lnTo>
                <a:lnTo>
                  <a:pt x="382" y="589"/>
                </a:lnTo>
                <a:lnTo>
                  <a:pt x="375" y="591"/>
                </a:lnTo>
                <a:lnTo>
                  <a:pt x="368" y="592"/>
                </a:lnTo>
                <a:lnTo>
                  <a:pt x="360" y="594"/>
                </a:lnTo>
                <a:lnTo>
                  <a:pt x="353" y="595"/>
                </a:lnTo>
                <a:lnTo>
                  <a:pt x="346" y="597"/>
                </a:lnTo>
                <a:lnTo>
                  <a:pt x="338" y="598"/>
                </a:lnTo>
                <a:lnTo>
                  <a:pt x="331" y="598"/>
                </a:lnTo>
                <a:lnTo>
                  <a:pt x="323" y="599"/>
                </a:lnTo>
                <a:lnTo>
                  <a:pt x="315" y="600"/>
                </a:lnTo>
                <a:lnTo>
                  <a:pt x="308" y="600"/>
                </a:lnTo>
                <a:lnTo>
                  <a:pt x="300" y="600"/>
                </a:lnTo>
                <a:lnTo>
                  <a:pt x="292" y="600"/>
                </a:lnTo>
                <a:lnTo>
                  <a:pt x="285" y="600"/>
                </a:lnTo>
                <a:lnTo>
                  <a:pt x="277" y="599"/>
                </a:lnTo>
                <a:lnTo>
                  <a:pt x="269" y="598"/>
                </a:lnTo>
                <a:lnTo>
                  <a:pt x="262" y="598"/>
                </a:lnTo>
                <a:lnTo>
                  <a:pt x="254" y="597"/>
                </a:lnTo>
                <a:lnTo>
                  <a:pt x="247" y="595"/>
                </a:lnTo>
                <a:lnTo>
                  <a:pt x="240" y="594"/>
                </a:lnTo>
                <a:lnTo>
                  <a:pt x="232" y="592"/>
                </a:lnTo>
                <a:lnTo>
                  <a:pt x="225" y="591"/>
                </a:lnTo>
                <a:lnTo>
                  <a:pt x="218" y="589"/>
                </a:lnTo>
                <a:lnTo>
                  <a:pt x="211" y="587"/>
                </a:lnTo>
                <a:lnTo>
                  <a:pt x="204" y="584"/>
                </a:lnTo>
                <a:lnTo>
                  <a:pt x="197" y="582"/>
                </a:lnTo>
                <a:lnTo>
                  <a:pt x="190" y="579"/>
                </a:lnTo>
                <a:lnTo>
                  <a:pt x="183" y="576"/>
                </a:lnTo>
                <a:lnTo>
                  <a:pt x="177" y="573"/>
                </a:lnTo>
                <a:lnTo>
                  <a:pt x="170" y="570"/>
                </a:lnTo>
                <a:lnTo>
                  <a:pt x="163" y="567"/>
                </a:lnTo>
                <a:lnTo>
                  <a:pt x="157" y="564"/>
                </a:lnTo>
                <a:lnTo>
                  <a:pt x="151" y="560"/>
                </a:lnTo>
                <a:lnTo>
                  <a:pt x="144" y="557"/>
                </a:lnTo>
                <a:lnTo>
                  <a:pt x="138" y="553"/>
                </a:lnTo>
                <a:lnTo>
                  <a:pt x="132" y="549"/>
                </a:lnTo>
                <a:lnTo>
                  <a:pt x="126" y="545"/>
                </a:lnTo>
                <a:lnTo>
                  <a:pt x="121" y="540"/>
                </a:lnTo>
                <a:lnTo>
                  <a:pt x="115" y="536"/>
                </a:lnTo>
                <a:lnTo>
                  <a:pt x="109" y="531"/>
                </a:lnTo>
                <a:lnTo>
                  <a:pt x="104" y="527"/>
                </a:lnTo>
                <a:lnTo>
                  <a:pt x="98" y="522"/>
                </a:lnTo>
                <a:lnTo>
                  <a:pt x="93" y="517"/>
                </a:lnTo>
                <a:lnTo>
                  <a:pt x="88" y="512"/>
                </a:lnTo>
                <a:lnTo>
                  <a:pt x="83" y="507"/>
                </a:lnTo>
                <a:lnTo>
                  <a:pt x="78" y="502"/>
                </a:lnTo>
                <a:lnTo>
                  <a:pt x="73" y="496"/>
                </a:lnTo>
                <a:lnTo>
                  <a:pt x="69" y="491"/>
                </a:lnTo>
                <a:lnTo>
                  <a:pt x="64" y="485"/>
                </a:lnTo>
                <a:lnTo>
                  <a:pt x="60" y="479"/>
                </a:lnTo>
                <a:lnTo>
                  <a:pt x="55" y="474"/>
                </a:lnTo>
                <a:lnTo>
                  <a:pt x="51" y="468"/>
                </a:lnTo>
                <a:lnTo>
                  <a:pt x="47" y="462"/>
                </a:lnTo>
                <a:lnTo>
                  <a:pt x="43" y="456"/>
                </a:lnTo>
                <a:lnTo>
                  <a:pt x="40" y="449"/>
                </a:lnTo>
                <a:lnTo>
                  <a:pt x="36" y="443"/>
                </a:lnTo>
                <a:lnTo>
                  <a:pt x="33" y="437"/>
                </a:lnTo>
                <a:lnTo>
                  <a:pt x="30" y="430"/>
                </a:lnTo>
                <a:lnTo>
                  <a:pt x="27" y="423"/>
                </a:lnTo>
                <a:lnTo>
                  <a:pt x="24" y="417"/>
                </a:lnTo>
                <a:lnTo>
                  <a:pt x="21" y="410"/>
                </a:lnTo>
                <a:lnTo>
                  <a:pt x="18" y="403"/>
                </a:lnTo>
                <a:lnTo>
                  <a:pt x="16" y="396"/>
                </a:lnTo>
                <a:lnTo>
                  <a:pt x="13" y="389"/>
                </a:lnTo>
                <a:lnTo>
                  <a:pt x="11" y="382"/>
                </a:lnTo>
                <a:lnTo>
                  <a:pt x="9" y="375"/>
                </a:lnTo>
                <a:lnTo>
                  <a:pt x="8" y="368"/>
                </a:lnTo>
                <a:lnTo>
                  <a:pt x="6" y="360"/>
                </a:lnTo>
                <a:lnTo>
                  <a:pt x="5" y="353"/>
                </a:lnTo>
                <a:lnTo>
                  <a:pt x="3" y="346"/>
                </a:lnTo>
                <a:lnTo>
                  <a:pt x="2" y="338"/>
                </a:lnTo>
                <a:lnTo>
                  <a:pt x="2" y="331"/>
                </a:lnTo>
                <a:lnTo>
                  <a:pt x="1" y="323"/>
                </a:lnTo>
                <a:lnTo>
                  <a:pt x="0" y="315"/>
                </a:lnTo>
                <a:lnTo>
                  <a:pt x="0" y="308"/>
                </a:lnTo>
                <a:lnTo>
                  <a:pt x="0" y="300"/>
                </a:lnTo>
                <a:lnTo>
                  <a:pt x="0" y="292"/>
                </a:lnTo>
                <a:lnTo>
                  <a:pt x="0" y="285"/>
                </a:lnTo>
                <a:lnTo>
                  <a:pt x="1" y="277"/>
                </a:lnTo>
                <a:lnTo>
                  <a:pt x="2" y="269"/>
                </a:lnTo>
                <a:lnTo>
                  <a:pt x="2" y="262"/>
                </a:lnTo>
                <a:lnTo>
                  <a:pt x="3" y="254"/>
                </a:lnTo>
                <a:lnTo>
                  <a:pt x="5" y="247"/>
                </a:lnTo>
                <a:lnTo>
                  <a:pt x="6" y="240"/>
                </a:lnTo>
                <a:lnTo>
                  <a:pt x="8" y="232"/>
                </a:lnTo>
                <a:lnTo>
                  <a:pt x="9" y="225"/>
                </a:lnTo>
                <a:lnTo>
                  <a:pt x="11" y="218"/>
                </a:lnTo>
                <a:lnTo>
                  <a:pt x="13" y="211"/>
                </a:lnTo>
                <a:lnTo>
                  <a:pt x="16" y="204"/>
                </a:lnTo>
                <a:lnTo>
                  <a:pt x="18" y="197"/>
                </a:lnTo>
                <a:lnTo>
                  <a:pt x="21" y="190"/>
                </a:lnTo>
                <a:lnTo>
                  <a:pt x="24" y="183"/>
                </a:lnTo>
                <a:lnTo>
                  <a:pt x="27" y="177"/>
                </a:lnTo>
                <a:lnTo>
                  <a:pt x="30" y="170"/>
                </a:lnTo>
                <a:lnTo>
                  <a:pt x="33" y="163"/>
                </a:lnTo>
                <a:lnTo>
                  <a:pt x="36" y="157"/>
                </a:lnTo>
                <a:lnTo>
                  <a:pt x="40" y="151"/>
                </a:lnTo>
                <a:lnTo>
                  <a:pt x="43" y="144"/>
                </a:lnTo>
                <a:lnTo>
                  <a:pt x="47" y="138"/>
                </a:lnTo>
                <a:lnTo>
                  <a:pt x="51" y="132"/>
                </a:lnTo>
                <a:lnTo>
                  <a:pt x="55" y="126"/>
                </a:lnTo>
                <a:lnTo>
                  <a:pt x="60" y="121"/>
                </a:lnTo>
                <a:lnTo>
                  <a:pt x="64" y="115"/>
                </a:lnTo>
                <a:lnTo>
                  <a:pt x="69" y="109"/>
                </a:lnTo>
                <a:lnTo>
                  <a:pt x="73" y="104"/>
                </a:lnTo>
                <a:lnTo>
                  <a:pt x="76" y="100"/>
                </a:lnTo>
                <a:lnTo>
                  <a:pt x="524" y="100"/>
                </a:lnTo>
                <a:close/>
              </a:path>
            </a:pathLst>
          </a:custGeom>
          <a:gradFill>
            <a:gsLst>
              <a:gs pos="0">
                <a:srgbClr val="A855F7">
                  <a:alpha val="20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/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762000" y="381000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55F7"/>
                </a:solidFill>
                <a:latin typeface="Microsoft YaHei"/>
                <a:ea typeface="Microsoft YaHei"/>
              </a:rPr>
              <a:t>05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1581150" y="381000"/>
            <a:ext cx="2914650" cy="2762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学生端</a:t>
            </a:r>
            <a:r>
              <a:rPr lang="en-US" sz="1800" b="1">
                <a:solidFill>
                  <a:srgbClr val="F5F5F7"/>
                </a:solidFill>
                <a:latin typeface="Microsoft YaHei"/>
                <a:ea typeface="Microsoft YaHei"/>
              </a:rPr>
              <a:t> + </a:t>
            </a:r>
            <a:r>
              <a:rPr lang="zh-CN" sz="1800" b="1">
                <a:solidFill>
                  <a:srgbClr val="F5F5F7"/>
                </a:solidFill>
                <a:latin typeface="Microsoft YaHei"/>
                <a:ea typeface="Microsoft YaHei"/>
              </a:rPr>
              <a:t>量化成果</a:t>
            </a:r>
            <a:endParaRPr/>
          </a:p>
        </p:txBody>
      </p:sp>
      <p:sp>
        <p:nvSpPr>
          <p:cNvPr id="261" name="" descr="{&quot;isTemplate&quot;:true,&quot;type&quot;:&quot;text&quot;}"/>
          <p:cNvSpPr txBox="1"/>
          <p:nvPr/>
        </p:nvSpPr>
        <p:spPr>
          <a:xfrm rot="0" flipH="0" flipV="0">
            <a:off x="1581150" y="695325"/>
            <a:ext cx="29146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spc="150">
                <a:solidFill>
                  <a:srgbClr val="9CA3AF"/>
                </a:solidFill>
                <a:latin typeface="Microsoft YaHei"/>
                <a:ea typeface="Microsoft YaHei"/>
              </a:rPr>
              <a:t>STUDENT PORTAL · METRICS &amp; CLOSING</a:t>
            </a:r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762000" y="1333500"/>
            <a:ext cx="5524500" cy="3714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400" b="1">
                <a:solidFill>
                  <a:srgbClr val="F5F5F7"/>
                </a:solidFill>
                <a:latin typeface="Microsoft YaHei"/>
                <a:ea typeface="Microsoft YaHei"/>
              </a:rPr>
              <a:t>每位学生一个</a:t>
            </a:r>
            <a:r>
              <a:rPr lang="zh-CN" sz="2400" b="1">
                <a:solidFill>
                  <a:srgbClr val="F5F5F7"/>
                </a:solidFill>
                <a:latin typeface="Microsoft YaHei"/>
                <a:ea typeface="Microsoft YaHei"/>
              </a:rPr>
              <a:t>求助入口</a:t>
            </a:r>
            <a:endParaRPr/>
          </a:p>
        </p:txBody>
      </p:sp>
      <p:sp>
        <p:nvSpPr>
          <p:cNvPr id="263" name="" descr="{&quot;isTemplate&quot;:true,&quot;type&quot;:&quot;text&quot;}"/>
          <p:cNvSpPr txBox="1"/>
          <p:nvPr/>
        </p:nvSpPr>
        <p:spPr>
          <a:xfrm rot="0" flipH="0" flipV="0">
            <a:off x="762000" y="1838325"/>
            <a:ext cx="5524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低门槛、可追溯、有</a:t>
            </a:r>
            <a:r>
              <a:rPr lang="en-US" sz="1050">
                <a:solidFill>
                  <a:srgbClr val="9CA3AF"/>
                </a:solidFill>
                <a:latin typeface="Microsoft YaHei"/>
                <a:ea typeface="Microsoft YaHei"/>
              </a:rPr>
              <a:t> AI </a:t>
            </a:r>
            <a:r>
              <a:rPr lang="zh-CN" sz="1050">
                <a:solidFill>
                  <a:srgbClr val="9CA3AF"/>
                </a:solidFill>
                <a:latin typeface="Microsoft YaHei"/>
                <a:ea typeface="Microsoft YaHei"/>
              </a:rPr>
              <a:t>陪伴</a:t>
            </a:r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790575" y="2209800"/>
            <a:ext cx="5524500" cy="685800"/>
          </a:xfrm>
          <a:prstGeom prst="roundRect">
            <a:avLst>
              <a:gd name="adj" fmla="val 8333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265" name=""/>
          <p:cNvSpPr/>
          <p:nvPr/>
        </p:nvSpPr>
        <p:spPr>
          <a:xfrm rot="0" flipH="0" flipV="0">
            <a:off x="790575" y="2209800"/>
            <a:ext cx="5524500" cy="685800"/>
          </a:xfrm>
          <a:custGeom>
            <a:pathLst>
              <a:path w="580" h="7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69"/>
                </a:lnTo>
                <a:cubicBezTo>
                  <a:pt x="3" y="70"/>
                  <a:pt x="4" y="72"/>
                  <a:pt x="5" y="72"/>
                </a:cubicBezTo>
                <a:cubicBezTo>
                  <a:pt x="2" y="72"/>
                  <a:pt x="0" y="69"/>
                  <a:pt x="0" y="6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266" name=""/>
          <p:cNvSpPr/>
          <p:nvPr/>
        </p:nvSpPr>
        <p:spPr>
          <a:xfrm rot="0" flipH="0" flipV="0">
            <a:off x="923925" y="23431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p/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90600" y="2428875"/>
            <a:ext cx="295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chemeClr val="tx1"/>
                </a:solidFill>
                <a:latin typeface="Microsoft YaHei"/>
                <a:ea typeface="Microsoft YaHei"/>
              </a:rPr>
              <a:t>📊</a:t>
            </a:r>
            <a:endParaRPr/>
          </a:p>
        </p:txBody>
      </p:sp>
      <p:sp>
        <p:nvSpPr>
          <p:cNvPr id="268" name="" descr="{&quot;isTemplate&quot;:true,&quot;type&quot;:&quot;text&quot;}"/>
          <p:cNvSpPr txBox="1"/>
          <p:nvPr/>
        </p:nvSpPr>
        <p:spPr>
          <a:xfrm rot="0" flipH="0" flipV="0">
            <a:off x="1495425" y="2381250"/>
            <a:ext cx="4657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F5F7"/>
                </a:solidFill>
                <a:latin typeface="Microsoft YaHei"/>
                <a:ea typeface="Microsoft YaHei"/>
              </a:rPr>
              <a:t>标准化心理测评</a:t>
            </a:r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495425" y="2590800"/>
            <a:ext cx="465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PHQ-9 / GAD-7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等量表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,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自动评分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+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风险提示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790575" y="3028950"/>
            <a:ext cx="5524500" cy="685800"/>
          </a:xfrm>
          <a:prstGeom prst="roundRect">
            <a:avLst>
              <a:gd name="adj" fmla="val 8333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271" name=""/>
          <p:cNvSpPr/>
          <p:nvPr/>
        </p:nvSpPr>
        <p:spPr>
          <a:xfrm rot="0" flipH="0" flipV="0">
            <a:off x="790575" y="3028950"/>
            <a:ext cx="5524500" cy="685800"/>
          </a:xfrm>
          <a:custGeom>
            <a:pathLst>
              <a:path w="580" h="7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69"/>
                </a:lnTo>
                <a:cubicBezTo>
                  <a:pt x="3" y="70"/>
                  <a:pt x="4" y="72"/>
                  <a:pt x="5" y="72"/>
                </a:cubicBezTo>
                <a:cubicBezTo>
                  <a:pt x="2" y="72"/>
                  <a:pt x="0" y="69"/>
                  <a:pt x="0" y="6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272" name=""/>
          <p:cNvSpPr/>
          <p:nvPr/>
        </p:nvSpPr>
        <p:spPr>
          <a:xfrm rot="0" flipH="0" flipV="0">
            <a:off x="923925" y="31623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p/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990600" y="3248025"/>
            <a:ext cx="295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chemeClr val="tx1"/>
                </a:solidFill>
                <a:latin typeface="Microsoft YaHei"/>
                <a:ea typeface="Microsoft YaHei"/>
              </a:rPr>
              <a:t>📅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1495425" y="3200400"/>
            <a:ext cx="4657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F5F7"/>
                </a:solidFill>
                <a:latin typeface="Microsoft YaHei"/>
                <a:ea typeface="Microsoft YaHei"/>
              </a:rPr>
              <a:t>预约咨询</a:t>
            </a:r>
            <a:endParaRPr/>
          </a:p>
        </p:txBody>
      </p:sp>
      <p:sp>
        <p:nvSpPr>
          <p:cNvPr id="275" name="" descr="{&quot;isTemplate&quot;:true,&quot;type&quot;:&quot;text&quot;}"/>
          <p:cNvSpPr txBox="1"/>
          <p:nvPr/>
        </p:nvSpPr>
        <p:spPr>
          <a:xfrm rot="0" flipH="0" flipV="0">
            <a:off x="1495425" y="3409950"/>
            <a:ext cx="465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在线预约老师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自动确认待办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→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沉淀谈心记录</a:t>
            </a:r>
            <a:endParaRPr/>
          </a:p>
        </p:txBody>
      </p:sp>
      <p:sp>
        <p:nvSpPr>
          <p:cNvPr id="276" name=""/>
          <p:cNvSpPr/>
          <p:nvPr/>
        </p:nvSpPr>
        <p:spPr>
          <a:xfrm rot="0" flipH="0" flipV="0">
            <a:off x="790575" y="3848100"/>
            <a:ext cx="5524500" cy="685800"/>
          </a:xfrm>
          <a:prstGeom prst="roundRect">
            <a:avLst>
              <a:gd name="adj" fmla="val 8333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277" name=""/>
          <p:cNvSpPr/>
          <p:nvPr/>
        </p:nvSpPr>
        <p:spPr>
          <a:xfrm rot="0" flipH="0" flipV="0">
            <a:off x="790575" y="3848100"/>
            <a:ext cx="5524500" cy="685800"/>
          </a:xfrm>
          <a:custGeom>
            <a:pathLst>
              <a:path w="580" h="7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69"/>
                </a:lnTo>
                <a:cubicBezTo>
                  <a:pt x="3" y="70"/>
                  <a:pt x="4" y="72"/>
                  <a:pt x="5" y="72"/>
                </a:cubicBezTo>
                <a:cubicBezTo>
                  <a:pt x="2" y="72"/>
                  <a:pt x="0" y="69"/>
                  <a:pt x="0" y="6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278" name=""/>
          <p:cNvSpPr/>
          <p:nvPr/>
        </p:nvSpPr>
        <p:spPr>
          <a:xfrm rot="0" flipH="0" flipV="0">
            <a:off x="923925" y="398145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p/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990600" y="4067175"/>
            <a:ext cx="295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chemeClr val="tx1"/>
                </a:solidFill>
                <a:latin typeface="Microsoft YaHei"/>
                <a:ea typeface="Microsoft YaHei"/>
              </a:rPr>
              <a:t>💬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1495425" y="4019550"/>
            <a:ext cx="4657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b="1">
                <a:solidFill>
                  <a:srgbClr val="F5F5F7"/>
                </a:solidFill>
                <a:latin typeface="Microsoft YaHei"/>
                <a:ea typeface="Microsoft YaHei"/>
              </a:rPr>
              <a:t>7×24 </a:t>
            </a:r>
            <a:r>
              <a:rPr lang="zh-CN" sz="1200" b="1">
                <a:solidFill>
                  <a:srgbClr val="F5F5F7"/>
                </a:solidFill>
                <a:latin typeface="Microsoft YaHei"/>
                <a:ea typeface="Microsoft YaHei"/>
              </a:rPr>
              <a:t>求助通道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1495425" y="4229100"/>
            <a:ext cx="465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联系老师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→ AI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分身立即响应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 /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老师上线接入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790575" y="4667250"/>
            <a:ext cx="5524500" cy="685800"/>
          </a:xfrm>
          <a:prstGeom prst="roundRect">
            <a:avLst>
              <a:gd name="adj" fmla="val 8333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283" name=""/>
          <p:cNvSpPr/>
          <p:nvPr/>
        </p:nvSpPr>
        <p:spPr>
          <a:xfrm rot="0" flipH="0" flipV="0">
            <a:off x="790575" y="4667250"/>
            <a:ext cx="5524500" cy="685800"/>
          </a:xfrm>
          <a:custGeom>
            <a:pathLst>
              <a:path w="580" h="72">
                <a:moveTo>
                  <a:pt x="6" y="0"/>
                </a:moveTo>
                <a:cubicBezTo>
                  <a:pt x="4" y="0"/>
                  <a:pt x="3" y="1"/>
                  <a:pt x="3" y="3"/>
                </a:cubicBezTo>
                <a:lnTo>
                  <a:pt x="3" y="69"/>
                </a:lnTo>
                <a:cubicBezTo>
                  <a:pt x="3" y="70"/>
                  <a:pt x="4" y="72"/>
                  <a:pt x="5" y="72"/>
                </a:cubicBezTo>
                <a:cubicBezTo>
                  <a:pt x="2" y="72"/>
                  <a:pt x="0" y="69"/>
                  <a:pt x="0" y="6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284" name=""/>
          <p:cNvSpPr/>
          <p:nvPr/>
        </p:nvSpPr>
        <p:spPr>
          <a:xfrm rot="0" flipH="0" flipV="0">
            <a:off x="923925" y="4800600"/>
            <a:ext cx="419100" cy="419100"/>
          </a:xfrm>
          <a:prstGeom prst="roundRect">
            <a:avLst>
              <a:gd name="adj" fmla="val 18182"/>
            </a:avLst>
          </a:prstGeom>
          <a:solidFill>
            <a:srgbClr val="A855F7">
              <a:alpha val="15000"/>
            </a:srgbClr>
          </a:solidFill>
          <a:ln/>
        </p:spPr>
        <p:txBody>
          <a:bodyPr/>
          <a:p/>
        </p:txBody>
      </p:sp>
      <p:sp>
        <p:nvSpPr>
          <p:cNvPr id="285" name="" descr="{&quot;isTemplate&quot;:true,&quot;type&quot;:&quot;text&quot;}"/>
          <p:cNvSpPr txBox="1"/>
          <p:nvPr/>
        </p:nvSpPr>
        <p:spPr>
          <a:xfrm rot="0" flipH="0" flipV="0">
            <a:off x="990600" y="4886325"/>
            <a:ext cx="29527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650">
                <a:solidFill>
                  <a:schemeClr val="tx1"/>
                </a:solidFill>
                <a:latin typeface="Microsoft YaHei"/>
                <a:ea typeface="Microsoft YaHei"/>
              </a:rPr>
              <a:t>📚</a:t>
            </a:r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495425" y="4838700"/>
            <a:ext cx="46577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F5F5F7"/>
                </a:solidFill>
                <a:latin typeface="Microsoft YaHei"/>
                <a:ea typeface="Microsoft YaHei"/>
              </a:rPr>
              <a:t>知识库自我学习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1495425" y="5048250"/>
            <a:ext cx="46577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心理科普文章检索阅读</a:t>
            </a:r>
            <a:r>
              <a:rPr lang="en-US" sz="900">
                <a:solidFill>
                  <a:srgbClr val="9CA3AF"/>
                </a:solidFill>
                <a:latin typeface="Microsoft YaHei"/>
                <a:ea typeface="Microsoft YaHei"/>
              </a:rPr>
              <a:t>,RAG </a:t>
            </a:r>
            <a:r>
              <a:rPr lang="zh-CN" sz="900">
                <a:solidFill>
                  <a:srgbClr val="9CA3AF"/>
                </a:solidFill>
                <a:latin typeface="Microsoft YaHei"/>
                <a:ea typeface="Microsoft YaHei"/>
              </a:rPr>
              <a:t>混合检索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7429500" y="1333500"/>
            <a:ext cx="40005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9CA3AF"/>
                </a:solidFill>
                <a:latin typeface="Microsoft YaHei"/>
                <a:ea typeface="Microsoft YaHei"/>
              </a:rPr>
              <a:t>METRICS · </a:t>
            </a:r>
            <a:r>
              <a:rPr lang="zh-CN" sz="1050" spc="300">
                <a:solidFill>
                  <a:srgbClr val="9CA3AF"/>
                </a:solidFill>
                <a:latin typeface="Microsoft YaHei"/>
                <a:ea typeface="Microsoft YaHei"/>
              </a:rPr>
              <a:t>平台验证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7429500" y="1685925"/>
            <a:ext cx="4000500" cy="952500"/>
          </a:xfrm>
          <a:prstGeom prst="roundRect">
            <a:avLst>
              <a:gd name="adj" fmla="val 6000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290" name=""/>
          <p:cNvSpPr/>
          <p:nvPr/>
        </p:nvSpPr>
        <p:spPr>
          <a:xfrm rot="0" flipH="0" flipV="0">
            <a:off x="7429500" y="1685925"/>
            <a:ext cx="4000500" cy="952500"/>
          </a:xfrm>
          <a:custGeom>
            <a:pathLst>
              <a:path w="420" h="100">
                <a:moveTo>
                  <a:pt x="414" y="100"/>
                </a:moveTo>
                <a:cubicBezTo>
                  <a:pt x="416" y="100"/>
                  <a:pt x="417" y="99"/>
                  <a:pt x="417" y="97"/>
                </a:cubicBezTo>
                <a:lnTo>
                  <a:pt x="417" y="3"/>
                </a:lnTo>
                <a:cubicBezTo>
                  <a:pt x="417" y="2"/>
                  <a:pt x="416" y="0"/>
                  <a:pt x="415" y="0"/>
                </a:cubicBezTo>
                <a:cubicBezTo>
                  <a:pt x="418" y="0"/>
                  <a:pt x="420" y="3"/>
                  <a:pt x="420" y="6"/>
                </a:cubicBezTo>
                <a:lnTo>
                  <a:pt x="420" y="94"/>
                </a:lnTo>
                <a:cubicBezTo>
                  <a:pt x="420" y="97"/>
                  <a:pt x="417" y="100"/>
                  <a:pt x="414" y="10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291" name="" descr="{&quot;isTemplate&quot;:true,&quot;type&quot;:&quot;text&quot;}"/>
          <p:cNvSpPr txBox="1"/>
          <p:nvPr/>
        </p:nvSpPr>
        <p:spPr>
          <a:xfrm rot="0" flipH="0" flipV="0">
            <a:off x="7620000" y="1838325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55F7"/>
                </a:solidFill>
                <a:latin typeface="Microsoft YaHei"/>
                <a:ea typeface="Microsoft YaHei"/>
              </a:rPr>
              <a:t>80</a:t>
            </a:r>
            <a:endParaRPr/>
          </a:p>
        </p:txBody>
      </p:sp>
      <p:sp>
        <p:nvSpPr>
          <p:cNvPr id="292" name="" descr="{&quot;isTemplate&quot;:true,&quot;type&quot;:&quot;text&quot;}"/>
          <p:cNvSpPr txBox="1"/>
          <p:nvPr/>
        </p:nvSpPr>
        <p:spPr>
          <a:xfrm rot="0" flipH="0" flipV="0">
            <a:off x="8286750" y="1838325"/>
            <a:ext cx="2095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C4899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9048750" y="1838325"/>
            <a:ext cx="2162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F5F7"/>
                </a:solidFill>
                <a:latin typeface="Microsoft YaHei"/>
                <a:ea typeface="Microsoft YaHei"/>
              </a:rPr>
              <a:t>自动化测试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9048750" y="2019300"/>
            <a:ext cx="2162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A3AF"/>
                </a:solidFill>
                <a:latin typeface="Microsoft YaHei"/>
                <a:ea typeface="Microsoft YaHei"/>
              </a:rPr>
              <a:t>全部通过</a:t>
            </a:r>
            <a:endParaRPr/>
          </a:p>
        </p:txBody>
      </p:sp>
      <p:sp>
        <p:nvSpPr>
          <p:cNvPr id="295" name=""/>
          <p:cNvSpPr/>
          <p:nvPr/>
        </p:nvSpPr>
        <p:spPr>
          <a:xfrm rot="0" flipH="0" flipV="0">
            <a:off x="7429500" y="2828925"/>
            <a:ext cx="4000500" cy="952500"/>
          </a:xfrm>
          <a:prstGeom prst="roundRect">
            <a:avLst>
              <a:gd name="adj" fmla="val 6000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296" name=""/>
          <p:cNvSpPr/>
          <p:nvPr/>
        </p:nvSpPr>
        <p:spPr>
          <a:xfrm rot="0" flipH="0" flipV="0">
            <a:off x="7429500" y="2828925"/>
            <a:ext cx="4000500" cy="952500"/>
          </a:xfrm>
          <a:custGeom>
            <a:pathLst>
              <a:path w="420" h="100">
                <a:moveTo>
                  <a:pt x="414" y="100"/>
                </a:moveTo>
                <a:cubicBezTo>
                  <a:pt x="416" y="100"/>
                  <a:pt x="417" y="99"/>
                  <a:pt x="417" y="97"/>
                </a:cubicBezTo>
                <a:lnTo>
                  <a:pt x="417" y="3"/>
                </a:lnTo>
                <a:cubicBezTo>
                  <a:pt x="417" y="2"/>
                  <a:pt x="416" y="0"/>
                  <a:pt x="415" y="0"/>
                </a:cubicBezTo>
                <a:cubicBezTo>
                  <a:pt x="418" y="0"/>
                  <a:pt x="420" y="3"/>
                  <a:pt x="420" y="6"/>
                </a:cubicBezTo>
                <a:lnTo>
                  <a:pt x="420" y="94"/>
                </a:lnTo>
                <a:cubicBezTo>
                  <a:pt x="420" y="97"/>
                  <a:pt x="417" y="100"/>
                  <a:pt x="414" y="10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7620000" y="2981325"/>
            <a:ext cx="6667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55F7"/>
                </a:solidFill>
                <a:latin typeface="Microsoft YaHei"/>
                <a:ea typeface="Microsoft YaHei"/>
              </a:rPr>
              <a:t>61</a:t>
            </a:r>
            <a:endParaRPr/>
          </a:p>
        </p:txBody>
      </p:sp>
      <p:sp>
        <p:nvSpPr>
          <p:cNvPr id="298" name="" descr="{&quot;isTemplate&quot;:true,&quot;type&quot;:&quot;text&quot;}"/>
          <p:cNvSpPr txBox="1"/>
          <p:nvPr/>
        </p:nvSpPr>
        <p:spPr>
          <a:xfrm rot="0" flipH="0" flipV="0">
            <a:off x="8286750" y="2981325"/>
            <a:ext cx="2095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C4899"/>
                </a:solidFill>
                <a:latin typeface="Microsoft YaHei"/>
                <a:ea typeface="Microsoft YaHei"/>
              </a:rPr>
              <a:t>项</a:t>
            </a:r>
            <a:endParaRPr/>
          </a:p>
        </p:txBody>
      </p:sp>
      <p:sp>
        <p:nvSpPr>
          <p:cNvPr id="299" name="" descr="{&quot;isTemplate&quot;:true,&quot;type&quot;:&quot;text&quot;}"/>
          <p:cNvSpPr txBox="1"/>
          <p:nvPr/>
        </p:nvSpPr>
        <p:spPr>
          <a:xfrm rot="0" flipH="0" flipV="0">
            <a:off x="9048750" y="2981325"/>
            <a:ext cx="2162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F5F7"/>
                </a:solidFill>
                <a:latin typeface="Microsoft YaHei"/>
                <a:ea typeface="Microsoft YaHei"/>
              </a:rPr>
              <a:t>数据完整性校验</a:t>
            </a:r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9048750" y="3162300"/>
            <a:ext cx="2162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A3AF"/>
                </a:solidFill>
                <a:latin typeface="Microsoft YaHei"/>
                <a:ea typeface="Microsoft YaHei"/>
              </a:rPr>
              <a:t>全部通过</a:t>
            </a:r>
            <a:endParaRPr/>
          </a:p>
        </p:txBody>
      </p:sp>
      <p:sp>
        <p:nvSpPr>
          <p:cNvPr id="301" name=""/>
          <p:cNvSpPr/>
          <p:nvPr/>
        </p:nvSpPr>
        <p:spPr>
          <a:xfrm rot="0" flipH="0" flipV="0">
            <a:off x="7429500" y="3971925"/>
            <a:ext cx="4000500" cy="952500"/>
          </a:xfrm>
          <a:prstGeom prst="roundRect">
            <a:avLst>
              <a:gd name="adj" fmla="val 6000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302" name=""/>
          <p:cNvSpPr/>
          <p:nvPr/>
        </p:nvSpPr>
        <p:spPr>
          <a:xfrm rot="0" flipH="0" flipV="0">
            <a:off x="7429500" y="3971925"/>
            <a:ext cx="4000500" cy="952500"/>
          </a:xfrm>
          <a:custGeom>
            <a:pathLst>
              <a:path w="420" h="100">
                <a:moveTo>
                  <a:pt x="414" y="100"/>
                </a:moveTo>
                <a:cubicBezTo>
                  <a:pt x="416" y="100"/>
                  <a:pt x="417" y="99"/>
                  <a:pt x="417" y="97"/>
                </a:cubicBezTo>
                <a:lnTo>
                  <a:pt x="417" y="3"/>
                </a:lnTo>
                <a:cubicBezTo>
                  <a:pt x="417" y="2"/>
                  <a:pt x="416" y="0"/>
                  <a:pt x="415" y="0"/>
                </a:cubicBezTo>
                <a:cubicBezTo>
                  <a:pt x="418" y="0"/>
                  <a:pt x="420" y="3"/>
                  <a:pt x="420" y="6"/>
                </a:cubicBezTo>
                <a:lnTo>
                  <a:pt x="420" y="94"/>
                </a:lnTo>
                <a:cubicBezTo>
                  <a:pt x="420" y="97"/>
                  <a:pt x="417" y="100"/>
                  <a:pt x="414" y="10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303" name="" descr="{&quot;isTemplate&quot;:true,&quot;type&quot;:&quot;text&quot;}"/>
          <p:cNvSpPr txBox="1"/>
          <p:nvPr/>
        </p:nvSpPr>
        <p:spPr>
          <a:xfrm rot="0" flipH="0" flipV="0">
            <a:off x="7620000" y="4124325"/>
            <a:ext cx="147637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55F7"/>
                </a:solidFill>
                <a:latin typeface="Microsoft YaHei"/>
                <a:ea typeface="Microsoft YaHei"/>
              </a:rPr>
              <a:t>73.33</a:t>
            </a:r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9096375" y="4124325"/>
            <a:ext cx="200025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EC4899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305" name="" descr="{&quot;isTemplate&quot;:true,&quot;type&quot;:&quot;text&quot;}"/>
          <p:cNvSpPr txBox="1"/>
          <p:nvPr/>
        </p:nvSpPr>
        <p:spPr>
          <a:xfrm rot="0" flipH="0" flipV="0">
            <a:off x="9391650" y="4124325"/>
            <a:ext cx="18192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F5F7"/>
                </a:solidFill>
                <a:latin typeface="Microsoft YaHei"/>
                <a:ea typeface="Microsoft YaHei"/>
              </a:rPr>
              <a:t>文本情绪识别准确率</a:t>
            </a:r>
            <a:endParaRPr/>
          </a:p>
        </p:txBody>
      </p:sp>
      <p:sp>
        <p:nvSpPr>
          <p:cNvPr id="306" name="" descr="{&quot;isTemplate&quot;:true,&quot;type&quot;:&quot;text&quot;}"/>
          <p:cNvSpPr txBox="1"/>
          <p:nvPr/>
        </p:nvSpPr>
        <p:spPr>
          <a:xfrm rot="0" flipH="0" flipV="0">
            <a:off x="9391650" y="4305300"/>
            <a:ext cx="18192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A3AF"/>
                </a:solidFill>
                <a:latin typeface="Microsoft YaHei"/>
                <a:ea typeface="Microsoft YaHei"/>
              </a:rPr>
              <a:t>公开数据集</a:t>
            </a:r>
            <a:endParaRPr/>
          </a:p>
        </p:txBody>
      </p:sp>
      <p:sp>
        <p:nvSpPr>
          <p:cNvPr id="307" name=""/>
          <p:cNvSpPr/>
          <p:nvPr/>
        </p:nvSpPr>
        <p:spPr>
          <a:xfrm rot="0" flipH="0" flipV="0">
            <a:off x="7429500" y="5114925"/>
            <a:ext cx="4000500" cy="952500"/>
          </a:xfrm>
          <a:prstGeom prst="roundRect">
            <a:avLst>
              <a:gd name="adj" fmla="val 6000"/>
            </a:avLst>
          </a:prstGeom>
          <a:solidFill>
            <a:srgbClr val="15151F"/>
          </a:solidFill>
          <a:ln/>
        </p:spPr>
        <p:txBody>
          <a:bodyPr/>
          <a:p/>
        </p:txBody>
      </p:sp>
      <p:sp>
        <p:nvSpPr>
          <p:cNvPr id="308" name=""/>
          <p:cNvSpPr/>
          <p:nvPr/>
        </p:nvSpPr>
        <p:spPr>
          <a:xfrm rot="0" flipH="0" flipV="0">
            <a:off x="7429500" y="5114925"/>
            <a:ext cx="4000500" cy="952500"/>
          </a:xfrm>
          <a:custGeom>
            <a:pathLst>
              <a:path w="420" h="100">
                <a:moveTo>
                  <a:pt x="414" y="100"/>
                </a:moveTo>
                <a:cubicBezTo>
                  <a:pt x="416" y="100"/>
                  <a:pt x="417" y="99"/>
                  <a:pt x="417" y="97"/>
                </a:cubicBezTo>
                <a:lnTo>
                  <a:pt x="417" y="3"/>
                </a:lnTo>
                <a:cubicBezTo>
                  <a:pt x="417" y="2"/>
                  <a:pt x="416" y="0"/>
                  <a:pt x="415" y="0"/>
                </a:cubicBezTo>
                <a:cubicBezTo>
                  <a:pt x="418" y="0"/>
                  <a:pt x="420" y="3"/>
                  <a:pt x="420" y="6"/>
                </a:cubicBezTo>
                <a:lnTo>
                  <a:pt x="420" y="94"/>
                </a:lnTo>
                <a:cubicBezTo>
                  <a:pt x="420" y="97"/>
                  <a:pt x="417" y="100"/>
                  <a:pt x="414" y="100"/>
                </a:cubicBezTo>
                <a:close/>
              </a:path>
            </a:pathLst>
          </a:custGeom>
          <a:solidFill>
            <a:srgbClr val="A855F7"/>
          </a:solidFill>
          <a:ln/>
        </p:spPr>
        <p:txBody>
          <a:bodyPr/>
          <a:p/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7620000" y="5267325"/>
            <a:ext cx="99060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200" b="1">
                <a:solidFill>
                  <a:srgbClr val="A855F7"/>
                </a:solidFill>
                <a:latin typeface="Microsoft YaHei"/>
                <a:ea typeface="Microsoft YaHei"/>
              </a:rPr>
              <a:t>600</a:t>
            </a:r>
            <a:endParaRPr/>
          </a:p>
        </p:txBody>
      </p:sp>
      <p:sp>
        <p:nvSpPr>
          <p:cNvPr id="310" name="" descr="{&quot;isTemplate&quot;:true,&quot;type&quot;:&quot;text&quot;}"/>
          <p:cNvSpPr txBox="1"/>
          <p:nvPr/>
        </p:nvSpPr>
        <p:spPr>
          <a:xfrm rot="0" flipH="0" flipV="0">
            <a:off x="8610600" y="5267325"/>
            <a:ext cx="209550" cy="6477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EC4899"/>
                </a:solidFill>
                <a:latin typeface="Microsoft YaHei"/>
                <a:ea typeface="Microsoft YaHei"/>
              </a:rPr>
              <a:t>名</a:t>
            </a:r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9048750" y="5267325"/>
            <a:ext cx="216217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F5F5F7"/>
                </a:solidFill>
                <a:latin typeface="Microsoft YaHei"/>
                <a:ea typeface="Microsoft YaHei"/>
              </a:rPr>
              <a:t>演示规模覆盖</a:t>
            </a:r>
            <a:endParaRPr/>
          </a:p>
        </p:txBody>
      </p:sp>
      <p:sp>
        <p:nvSpPr>
          <p:cNvPr id="312" name="" descr="{&quot;isTemplate&quot;:true,&quot;type&quot;:&quot;text&quot;}"/>
          <p:cNvSpPr txBox="1"/>
          <p:nvPr/>
        </p:nvSpPr>
        <p:spPr>
          <a:xfrm rot="0" flipH="0" flipV="0">
            <a:off x="9048750" y="5448300"/>
            <a:ext cx="2162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9CA3AF"/>
                </a:solidFill>
                <a:latin typeface="Microsoft YaHei"/>
                <a:ea typeface="Microsoft YaHei"/>
              </a:rPr>
              <a:t>全校学生</a:t>
            </a:r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4114800" y="6153150"/>
            <a:ext cx="476250" cy="19050"/>
          </a:xfrm>
          <a:prstGeom prst="rect">
            <a:avLst/>
          </a:prstGeom>
          <a:solidFill>
            <a:srgbClr val="A855F7"/>
          </a:solidFill>
          <a:ln/>
        </p:spPr>
        <p:txBody>
          <a:bodyPr/>
          <a:p/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4743450" y="6029325"/>
            <a:ext cx="2705100" cy="2571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1650" b="1" spc="75">
                <a:solidFill>
                  <a:srgbClr val="F5F5F7"/>
                </a:solidFill>
                <a:latin typeface="Microsoft YaHei"/>
                <a:ea typeface="Microsoft YaHei"/>
              </a:rPr>
              <a:t>聆心</a:t>
            </a:r>
            <a:r>
              <a:rPr lang="en-US" sz="1650" b="1" spc="75">
                <a:solidFill>
                  <a:srgbClr val="F5F5F7"/>
                </a:solidFill>
                <a:latin typeface="Microsoft YaHei"/>
                <a:ea typeface="Microsoft YaHei"/>
              </a:rPr>
              <a:t>,</a:t>
            </a:r>
            <a:r>
              <a:rPr lang="zh-CN" sz="1650" b="1" spc="75">
                <a:solidFill>
                  <a:srgbClr val="F5F5F7"/>
                </a:solidFill>
                <a:latin typeface="Microsoft YaHei"/>
                <a:ea typeface="Microsoft YaHei"/>
              </a:rPr>
              <a:t>让每一份情绪都被看见</a:t>
            </a:r>
            <a:endParaRPr/>
          </a:p>
        </p:txBody>
      </p:sp>
      <p:sp>
        <p:nvSpPr>
          <p:cNvPr id="315" name=""/>
          <p:cNvSpPr/>
          <p:nvPr/>
        </p:nvSpPr>
        <p:spPr>
          <a:xfrm rot="0" flipH="0" flipV="0">
            <a:off x="7600950" y="6153150"/>
            <a:ext cx="476250" cy="19050"/>
          </a:xfrm>
          <a:prstGeom prst="rect">
            <a:avLst/>
          </a:prstGeom>
          <a:solidFill>
            <a:srgbClr val="EC4899"/>
          </a:solidFill>
          <a:ln/>
        </p:spPr>
        <p:txBody>
          <a:bodyPr/>
          <a:p/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1068705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10915650" y="6496050"/>
            <a:ext cx="285750" cy="9525"/>
          </a:xfrm>
          <a:prstGeom prst="rect">
            <a:avLst/>
          </a:prstGeom>
          <a:solidFill>
            <a:srgbClr val="9CA3AF"/>
          </a:solidFill>
          <a:ln/>
        </p:spPr>
        <p:txBody>
          <a:bodyPr/>
          <a:p/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1277600" y="6419850"/>
            <a:ext cx="152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9CA3AF"/>
                </a:solidFill>
                <a:latin typeface="Microsoft YaHei"/>
                <a:ea typeface="Microsoft YaHei"/>
              </a:rPr>
              <a:t>07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2026-09-03T00:08:01Z</dcterms:created>
  <dcterms:modified xsi:type="dcterms:W3CDTF">2026-09-03T00:08:01Z</dcterms:modified>
</cp:coreProperties>
</file>