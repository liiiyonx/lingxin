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256" r:id="rId3"/>
    <p:sldId id="257" r:id="rId4"/>
    <p:sldId id="258" r:id="rId5"/>
    <p:sldId id="260" r:id="rId6"/>
    <p:sldId id="262" r:id="rId7"/>
    <p:sldId id="264" r:id="rId8"/>
    <p:sldId id="266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 descr="&lt;Slide style={{ width: 1280, height: 720, background: '#FFFFFF', position: 'relative', overflow: 'hidden' }}&gt;&#10;  {/* 背景右上淡紫 */}&#10;  &lt;Box style={{ position: 'absolute', top: -200, right: -200, width: 600, height: 600, borderRadius: 9999, background: 'radial-gradient(circle, rgba(168,85,247,0.08) 0%, transparent 60%)' }} /&gt;&#10;  &lt;Box style={{ position: 'absolute', bottom: -250, left: -150, width: 700, height: 700, borderRadius: 9999, background: 'radial-gradient(circle, rgba(236,72,153,0.05) 0%, transparent 60%)' }} /&gt;&#10;&#10;  {/* 顶部小标 */}&#10;  &lt;Box style={{ position: 'absolute', top: 60, left: 80, flexDirection: 'row', alignItems: 'center', gap: 12 }}&gt;&#10;    &lt;Box style={{ width: 8, height: 8, borderRadius: 9999, background: '#7C3AED' }} /&gt;&#10;    &lt;Text style={{ fontSize: 14, color: '#64748B', letterSpacing: 4 }}&gt;TINGXIN · 高校心理预警平台&lt;/Text&gt;&#10;  &lt;/Box&gt;&#10;&#10;  {/* 主标题渐变大字 */}&#10;  &lt;Box style={{ position: 'absolute', left: 80, top: 200, flexDirection: 'column', gap: 16 }}&gt;&#10;    &lt;Text style={{ fontSize: 220, fontWeight: 'bold', lineHeight: 1, backgroundImage: 'linear-gradient(135deg, #7C3AED 0%, #EC4899 100%)', backgroundClip: 'text', color: 'transparent', letterSpacing: -8 }}&gt;聆心&lt;/Text&gt;&#10;    &lt;Text style={{ fontSize: 28, color: '#0F172A', fontWeight: 'normal', marginTop: 12 }}&gt;辅导员减负 · 学生被看见 · 风险不漏一人&lt;/Text&gt;&#10;    &lt;Text style={{ fontSize: 16, color: '#64748B', marginTop: 8, letterSpacing: 2 }}&gt;基于大模型智能体的心理预警与 AI 陪伴一体化平台&lt;/Text&gt;&#10;  &lt;/Box&gt;&#10;&#10;  {/* 右下底标 */}&#10;  &lt;Box style={{ position: 'absolute', bottom: 50, right: 80, flexDirection: 'row', alignItems: 'center', gap: 16 }}&gt;&#10;    &lt;Box style={{ width: 60, height: 2, background: '#7C3AED' }} /&gt;&#10;    &lt;Text style={{ fontSize: 14, color: '#64748B' }}&gt;演示视频 · 4 分钟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" name="任意多边形 2"/>
          <p:cNvSpPr/>
          <p:nvPr/>
        </p:nvSpPr>
        <p:spPr>
          <a:xfrm>
            <a:off x="8382000" y="-1905000"/>
            <a:ext cx="5715000" cy="5715000"/>
          </a:xfrm>
          <a:custGeom>
            <a:avLst/>
            <a:gdLst/>
            <a:ahLst/>
            <a:cxnLst/>
            <a:pathLst>
              <a:path w="600" h="600">
                <a:moveTo>
                  <a:pt x="400" y="583"/>
                </a:moveTo>
                <a:lnTo>
                  <a:pt x="396" y="584"/>
                </a:lnTo>
                <a:lnTo>
                  <a:pt x="389" y="587"/>
                </a:lnTo>
                <a:lnTo>
                  <a:pt x="382" y="589"/>
                </a:lnTo>
                <a:lnTo>
                  <a:pt x="375" y="591"/>
                </a:lnTo>
                <a:lnTo>
                  <a:pt x="368" y="592"/>
                </a:lnTo>
                <a:lnTo>
                  <a:pt x="360" y="594"/>
                </a:lnTo>
                <a:lnTo>
                  <a:pt x="353" y="595"/>
                </a:lnTo>
                <a:lnTo>
                  <a:pt x="346" y="597"/>
                </a:lnTo>
                <a:lnTo>
                  <a:pt x="338" y="598"/>
                </a:lnTo>
                <a:lnTo>
                  <a:pt x="331" y="598"/>
                </a:lnTo>
                <a:lnTo>
                  <a:pt x="323" y="599"/>
                </a:lnTo>
                <a:lnTo>
                  <a:pt x="315" y="600"/>
                </a:lnTo>
                <a:lnTo>
                  <a:pt x="308" y="600"/>
                </a:lnTo>
                <a:lnTo>
                  <a:pt x="300" y="600"/>
                </a:lnTo>
                <a:lnTo>
                  <a:pt x="292" y="600"/>
                </a:lnTo>
                <a:lnTo>
                  <a:pt x="285" y="600"/>
                </a:lnTo>
                <a:lnTo>
                  <a:pt x="277" y="599"/>
                </a:lnTo>
                <a:lnTo>
                  <a:pt x="269" y="598"/>
                </a:lnTo>
                <a:lnTo>
                  <a:pt x="262" y="598"/>
                </a:lnTo>
                <a:lnTo>
                  <a:pt x="254" y="597"/>
                </a:lnTo>
                <a:lnTo>
                  <a:pt x="247" y="595"/>
                </a:lnTo>
                <a:lnTo>
                  <a:pt x="240" y="594"/>
                </a:lnTo>
                <a:lnTo>
                  <a:pt x="232" y="592"/>
                </a:lnTo>
                <a:lnTo>
                  <a:pt x="225" y="591"/>
                </a:lnTo>
                <a:lnTo>
                  <a:pt x="218" y="589"/>
                </a:lnTo>
                <a:lnTo>
                  <a:pt x="211" y="587"/>
                </a:lnTo>
                <a:lnTo>
                  <a:pt x="204" y="584"/>
                </a:lnTo>
                <a:lnTo>
                  <a:pt x="197" y="582"/>
                </a:lnTo>
                <a:lnTo>
                  <a:pt x="190" y="579"/>
                </a:lnTo>
                <a:lnTo>
                  <a:pt x="183" y="576"/>
                </a:lnTo>
                <a:lnTo>
                  <a:pt x="177" y="573"/>
                </a:lnTo>
                <a:lnTo>
                  <a:pt x="170" y="570"/>
                </a:lnTo>
                <a:lnTo>
                  <a:pt x="163" y="567"/>
                </a:lnTo>
                <a:lnTo>
                  <a:pt x="157" y="564"/>
                </a:lnTo>
                <a:lnTo>
                  <a:pt x="151" y="560"/>
                </a:lnTo>
                <a:lnTo>
                  <a:pt x="144" y="557"/>
                </a:lnTo>
                <a:lnTo>
                  <a:pt x="138" y="553"/>
                </a:lnTo>
                <a:lnTo>
                  <a:pt x="132" y="549"/>
                </a:lnTo>
                <a:lnTo>
                  <a:pt x="126" y="545"/>
                </a:lnTo>
                <a:lnTo>
                  <a:pt x="121" y="540"/>
                </a:lnTo>
                <a:lnTo>
                  <a:pt x="115" y="536"/>
                </a:lnTo>
                <a:lnTo>
                  <a:pt x="109" y="531"/>
                </a:lnTo>
                <a:lnTo>
                  <a:pt x="104" y="527"/>
                </a:lnTo>
                <a:lnTo>
                  <a:pt x="98" y="522"/>
                </a:lnTo>
                <a:lnTo>
                  <a:pt x="93" y="517"/>
                </a:lnTo>
                <a:lnTo>
                  <a:pt x="88" y="512"/>
                </a:lnTo>
                <a:lnTo>
                  <a:pt x="83" y="507"/>
                </a:lnTo>
                <a:lnTo>
                  <a:pt x="78" y="502"/>
                </a:lnTo>
                <a:lnTo>
                  <a:pt x="73" y="496"/>
                </a:lnTo>
                <a:lnTo>
                  <a:pt x="69" y="491"/>
                </a:lnTo>
                <a:lnTo>
                  <a:pt x="64" y="485"/>
                </a:lnTo>
                <a:lnTo>
                  <a:pt x="60" y="479"/>
                </a:lnTo>
                <a:lnTo>
                  <a:pt x="55" y="474"/>
                </a:lnTo>
                <a:lnTo>
                  <a:pt x="51" y="468"/>
                </a:lnTo>
                <a:lnTo>
                  <a:pt x="47" y="462"/>
                </a:lnTo>
                <a:lnTo>
                  <a:pt x="43" y="456"/>
                </a:lnTo>
                <a:lnTo>
                  <a:pt x="40" y="449"/>
                </a:lnTo>
                <a:lnTo>
                  <a:pt x="36" y="443"/>
                </a:lnTo>
                <a:lnTo>
                  <a:pt x="33" y="437"/>
                </a:lnTo>
                <a:lnTo>
                  <a:pt x="30" y="430"/>
                </a:lnTo>
                <a:lnTo>
                  <a:pt x="27" y="423"/>
                </a:lnTo>
                <a:lnTo>
                  <a:pt x="24" y="417"/>
                </a:lnTo>
                <a:lnTo>
                  <a:pt x="21" y="410"/>
                </a:lnTo>
                <a:lnTo>
                  <a:pt x="18" y="403"/>
                </a:lnTo>
                <a:lnTo>
                  <a:pt x="16" y="396"/>
                </a:lnTo>
                <a:lnTo>
                  <a:pt x="13" y="389"/>
                </a:lnTo>
                <a:lnTo>
                  <a:pt x="11" y="382"/>
                </a:lnTo>
                <a:lnTo>
                  <a:pt x="9" y="375"/>
                </a:lnTo>
                <a:lnTo>
                  <a:pt x="8" y="368"/>
                </a:lnTo>
                <a:lnTo>
                  <a:pt x="6" y="360"/>
                </a:lnTo>
                <a:lnTo>
                  <a:pt x="5" y="353"/>
                </a:lnTo>
                <a:lnTo>
                  <a:pt x="3" y="346"/>
                </a:lnTo>
                <a:lnTo>
                  <a:pt x="2" y="338"/>
                </a:lnTo>
                <a:lnTo>
                  <a:pt x="2" y="331"/>
                </a:lnTo>
                <a:lnTo>
                  <a:pt x="1" y="323"/>
                </a:lnTo>
                <a:lnTo>
                  <a:pt x="0" y="315"/>
                </a:lnTo>
                <a:lnTo>
                  <a:pt x="0" y="308"/>
                </a:lnTo>
                <a:lnTo>
                  <a:pt x="0" y="300"/>
                </a:lnTo>
                <a:lnTo>
                  <a:pt x="0" y="292"/>
                </a:lnTo>
                <a:lnTo>
                  <a:pt x="0" y="285"/>
                </a:lnTo>
                <a:lnTo>
                  <a:pt x="1" y="277"/>
                </a:lnTo>
                <a:lnTo>
                  <a:pt x="2" y="269"/>
                </a:lnTo>
                <a:lnTo>
                  <a:pt x="2" y="262"/>
                </a:lnTo>
                <a:lnTo>
                  <a:pt x="3" y="254"/>
                </a:lnTo>
                <a:lnTo>
                  <a:pt x="5" y="247"/>
                </a:lnTo>
                <a:lnTo>
                  <a:pt x="6" y="240"/>
                </a:lnTo>
                <a:lnTo>
                  <a:pt x="8" y="232"/>
                </a:lnTo>
                <a:lnTo>
                  <a:pt x="9" y="225"/>
                </a:lnTo>
                <a:lnTo>
                  <a:pt x="11" y="218"/>
                </a:lnTo>
                <a:lnTo>
                  <a:pt x="13" y="211"/>
                </a:lnTo>
                <a:lnTo>
                  <a:pt x="16" y="204"/>
                </a:lnTo>
                <a:lnTo>
                  <a:pt x="17" y="200"/>
                </a:lnTo>
                <a:lnTo>
                  <a:pt x="400" y="200"/>
                </a:lnTo>
                <a:close/>
              </a:path>
            </a:pathLst>
          </a:custGeom>
          <a:gradFill>
            <a:gsLst>
              <a:gs pos="0">
                <a:srgbClr val="A855F7">
                  <a:alpha val="8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4" name="任意多边形 3"/>
          <p:cNvSpPr/>
          <p:nvPr/>
        </p:nvSpPr>
        <p:spPr>
          <a:xfrm>
            <a:off x="-1428750" y="2571750"/>
            <a:ext cx="6667500" cy="6667500"/>
          </a:xfrm>
          <a:custGeom>
            <a:avLst/>
            <a:gdLst/>
            <a:ahLst/>
            <a:cxnLst/>
            <a:pathLst>
              <a:path w="700" h="700">
                <a:moveTo>
                  <a:pt x="359" y="0"/>
                </a:moveTo>
                <a:lnTo>
                  <a:pt x="368" y="0"/>
                </a:lnTo>
                <a:lnTo>
                  <a:pt x="377" y="1"/>
                </a:lnTo>
                <a:lnTo>
                  <a:pt x="386" y="2"/>
                </a:lnTo>
                <a:lnTo>
                  <a:pt x="395" y="3"/>
                </a:lnTo>
                <a:lnTo>
                  <a:pt x="403" y="4"/>
                </a:lnTo>
                <a:lnTo>
                  <a:pt x="412" y="5"/>
                </a:lnTo>
                <a:lnTo>
                  <a:pt x="421" y="7"/>
                </a:lnTo>
                <a:lnTo>
                  <a:pt x="429" y="9"/>
                </a:lnTo>
                <a:lnTo>
                  <a:pt x="437" y="11"/>
                </a:lnTo>
                <a:lnTo>
                  <a:pt x="446" y="13"/>
                </a:lnTo>
                <a:lnTo>
                  <a:pt x="454" y="16"/>
                </a:lnTo>
                <a:lnTo>
                  <a:pt x="462" y="18"/>
                </a:lnTo>
                <a:lnTo>
                  <a:pt x="470" y="21"/>
                </a:lnTo>
                <a:lnTo>
                  <a:pt x="478" y="24"/>
                </a:lnTo>
                <a:lnTo>
                  <a:pt x="486" y="28"/>
                </a:lnTo>
                <a:lnTo>
                  <a:pt x="494" y="31"/>
                </a:lnTo>
                <a:lnTo>
                  <a:pt x="502" y="35"/>
                </a:lnTo>
                <a:lnTo>
                  <a:pt x="509" y="38"/>
                </a:lnTo>
                <a:lnTo>
                  <a:pt x="517" y="42"/>
                </a:lnTo>
                <a:lnTo>
                  <a:pt x="524" y="46"/>
                </a:lnTo>
                <a:lnTo>
                  <a:pt x="531" y="51"/>
                </a:lnTo>
                <a:lnTo>
                  <a:pt x="539" y="55"/>
                </a:lnTo>
                <a:lnTo>
                  <a:pt x="546" y="60"/>
                </a:lnTo>
                <a:lnTo>
                  <a:pt x="553" y="65"/>
                </a:lnTo>
                <a:lnTo>
                  <a:pt x="559" y="70"/>
                </a:lnTo>
                <a:lnTo>
                  <a:pt x="566" y="75"/>
                </a:lnTo>
                <a:lnTo>
                  <a:pt x="573" y="80"/>
                </a:lnTo>
                <a:lnTo>
                  <a:pt x="579" y="85"/>
                </a:lnTo>
                <a:lnTo>
                  <a:pt x="585" y="91"/>
                </a:lnTo>
                <a:lnTo>
                  <a:pt x="591" y="97"/>
                </a:lnTo>
                <a:lnTo>
                  <a:pt x="597" y="103"/>
                </a:lnTo>
                <a:lnTo>
                  <a:pt x="603" y="109"/>
                </a:lnTo>
                <a:lnTo>
                  <a:pt x="609" y="115"/>
                </a:lnTo>
                <a:lnTo>
                  <a:pt x="615" y="121"/>
                </a:lnTo>
                <a:lnTo>
                  <a:pt x="620" y="127"/>
                </a:lnTo>
                <a:lnTo>
                  <a:pt x="625" y="134"/>
                </a:lnTo>
                <a:lnTo>
                  <a:pt x="630" y="141"/>
                </a:lnTo>
                <a:lnTo>
                  <a:pt x="635" y="147"/>
                </a:lnTo>
                <a:lnTo>
                  <a:pt x="640" y="154"/>
                </a:lnTo>
                <a:lnTo>
                  <a:pt x="645" y="161"/>
                </a:lnTo>
                <a:lnTo>
                  <a:pt x="649" y="169"/>
                </a:lnTo>
                <a:lnTo>
                  <a:pt x="654" y="176"/>
                </a:lnTo>
                <a:lnTo>
                  <a:pt x="658" y="183"/>
                </a:lnTo>
                <a:lnTo>
                  <a:pt x="662" y="191"/>
                </a:lnTo>
                <a:lnTo>
                  <a:pt x="665" y="198"/>
                </a:lnTo>
                <a:lnTo>
                  <a:pt x="669" y="206"/>
                </a:lnTo>
                <a:lnTo>
                  <a:pt x="672" y="214"/>
                </a:lnTo>
                <a:lnTo>
                  <a:pt x="676" y="222"/>
                </a:lnTo>
                <a:lnTo>
                  <a:pt x="679" y="230"/>
                </a:lnTo>
                <a:lnTo>
                  <a:pt x="682" y="238"/>
                </a:lnTo>
                <a:lnTo>
                  <a:pt x="684" y="246"/>
                </a:lnTo>
                <a:lnTo>
                  <a:pt x="687" y="254"/>
                </a:lnTo>
                <a:lnTo>
                  <a:pt x="689" y="263"/>
                </a:lnTo>
                <a:lnTo>
                  <a:pt x="691" y="271"/>
                </a:lnTo>
                <a:lnTo>
                  <a:pt x="693" y="280"/>
                </a:lnTo>
                <a:lnTo>
                  <a:pt x="695" y="288"/>
                </a:lnTo>
                <a:lnTo>
                  <a:pt x="696" y="297"/>
                </a:lnTo>
                <a:lnTo>
                  <a:pt x="697" y="305"/>
                </a:lnTo>
                <a:lnTo>
                  <a:pt x="698" y="314"/>
                </a:lnTo>
                <a:lnTo>
                  <a:pt x="699" y="323"/>
                </a:lnTo>
                <a:lnTo>
                  <a:pt x="700" y="332"/>
                </a:lnTo>
                <a:lnTo>
                  <a:pt x="700" y="341"/>
                </a:lnTo>
                <a:lnTo>
                  <a:pt x="700" y="350"/>
                </a:lnTo>
                <a:lnTo>
                  <a:pt x="700" y="359"/>
                </a:lnTo>
                <a:lnTo>
                  <a:pt x="700" y="368"/>
                </a:lnTo>
                <a:lnTo>
                  <a:pt x="699" y="377"/>
                </a:lnTo>
                <a:lnTo>
                  <a:pt x="698" y="386"/>
                </a:lnTo>
                <a:lnTo>
                  <a:pt x="697" y="395"/>
                </a:lnTo>
                <a:lnTo>
                  <a:pt x="696" y="403"/>
                </a:lnTo>
                <a:lnTo>
                  <a:pt x="695" y="412"/>
                </a:lnTo>
                <a:lnTo>
                  <a:pt x="693" y="421"/>
                </a:lnTo>
                <a:lnTo>
                  <a:pt x="691" y="429"/>
                </a:lnTo>
                <a:lnTo>
                  <a:pt x="689" y="437"/>
                </a:lnTo>
                <a:lnTo>
                  <a:pt x="687" y="446"/>
                </a:lnTo>
                <a:lnTo>
                  <a:pt x="685" y="450"/>
                </a:lnTo>
                <a:lnTo>
                  <a:pt x="150" y="450"/>
                </a:lnTo>
                <a:lnTo>
                  <a:pt x="150" y="63"/>
                </a:lnTo>
                <a:lnTo>
                  <a:pt x="154" y="60"/>
                </a:lnTo>
                <a:lnTo>
                  <a:pt x="161" y="55"/>
                </a:lnTo>
                <a:lnTo>
                  <a:pt x="169" y="51"/>
                </a:lnTo>
                <a:lnTo>
                  <a:pt x="176" y="46"/>
                </a:lnTo>
                <a:lnTo>
                  <a:pt x="183" y="42"/>
                </a:lnTo>
                <a:lnTo>
                  <a:pt x="191" y="38"/>
                </a:lnTo>
                <a:lnTo>
                  <a:pt x="198" y="35"/>
                </a:lnTo>
                <a:lnTo>
                  <a:pt x="206" y="31"/>
                </a:lnTo>
                <a:lnTo>
                  <a:pt x="214" y="28"/>
                </a:lnTo>
                <a:lnTo>
                  <a:pt x="222" y="24"/>
                </a:lnTo>
                <a:lnTo>
                  <a:pt x="230" y="21"/>
                </a:lnTo>
                <a:lnTo>
                  <a:pt x="238" y="18"/>
                </a:lnTo>
                <a:lnTo>
                  <a:pt x="246" y="16"/>
                </a:lnTo>
                <a:lnTo>
                  <a:pt x="254" y="13"/>
                </a:lnTo>
                <a:lnTo>
                  <a:pt x="263" y="11"/>
                </a:lnTo>
                <a:lnTo>
                  <a:pt x="271" y="9"/>
                </a:lnTo>
                <a:lnTo>
                  <a:pt x="280" y="7"/>
                </a:lnTo>
                <a:lnTo>
                  <a:pt x="288" y="5"/>
                </a:lnTo>
                <a:lnTo>
                  <a:pt x="297" y="4"/>
                </a:lnTo>
                <a:lnTo>
                  <a:pt x="305" y="3"/>
                </a:lnTo>
                <a:lnTo>
                  <a:pt x="314" y="2"/>
                </a:lnTo>
                <a:lnTo>
                  <a:pt x="323" y="1"/>
                </a:lnTo>
                <a:lnTo>
                  <a:pt x="332" y="0"/>
                </a:lnTo>
                <a:lnTo>
                  <a:pt x="341" y="0"/>
                </a:lnTo>
                <a:lnTo>
                  <a:pt x="350" y="0"/>
                </a:lnTo>
                <a:close/>
              </a:path>
            </a:pathLst>
          </a:custGeom>
          <a:gradFill>
            <a:gsLst>
              <a:gs pos="0">
                <a:srgbClr val="EC4899">
                  <a:alpha val="5000"/>
                </a:srgbClr>
              </a:gs>
              <a:gs pos="6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5" name="圆角矩形 4"/>
          <p:cNvSpPr/>
          <p:nvPr/>
        </p:nvSpPr>
        <p:spPr>
          <a:xfrm>
            <a:off x="762000" y="619125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7C3AED"/>
          </a:solidFill>
        </p:spPr>
        <p:txBody>
          <a:bodyPr/>
          <a:p/>
        </p:txBody>
      </p:sp>
      <p:sp>
        <p:nvSpPr>
          <p:cNvPr id="6" name="文本框 5" descr="{&quot;isTemplate&quot;:true,&quot;type&quot;:&quot;text&quot;}"/>
          <p:cNvSpPr txBox="1"/>
          <p:nvPr/>
        </p:nvSpPr>
        <p:spPr>
          <a:xfrm>
            <a:off x="952500" y="571500"/>
            <a:ext cx="24288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LINGXIN · </a:t>
            </a:r>
            <a:r>
              <a:rPr lang="zh-CN" sz="1050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高校心理预警平台</a:t>
            </a:r>
            <a:endParaRPr lang="zh-CN" sz="1050" spc="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 descr="{&quot;isTemplate&quot;:true,&quot;type&quot;:&quot;text&quot;}"/>
          <p:cNvSpPr txBox="1"/>
          <p:nvPr/>
        </p:nvSpPr>
        <p:spPr>
          <a:xfrm>
            <a:off x="762000" y="1905000"/>
            <a:ext cx="4714875" cy="25146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0" b="1" spc="-600">
                <a:gradFill>
                  <a:gsLst>
                    <a:gs pos="0">
                      <a:srgbClr val="7C3AED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聆心</a:t>
            </a:r>
            <a:endParaRPr lang="zh-CN" sz="16500" b="1" spc="-600">
              <a:gradFill>
                <a:gsLst>
                  <a:gs pos="0">
                    <a:srgbClr val="7C3AED"/>
                  </a:gs>
                  <a:gs pos="100000">
                    <a:srgbClr val="EC4899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 descr="{&quot;isTemplate&quot;:true,&quot;type&quot;:&quot;text&quot;}"/>
          <p:cNvSpPr txBox="1"/>
          <p:nvPr/>
        </p:nvSpPr>
        <p:spPr>
          <a:xfrm>
            <a:off x="762000" y="4686300"/>
            <a:ext cx="4714875" cy="3238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21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辅导员减负</a:t>
            </a:r>
            <a:r>
              <a:rPr lang="en-US" sz="21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学生被看见</a:t>
            </a:r>
            <a:r>
              <a:rPr lang="en-US" sz="21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2100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风险不漏一人</a:t>
            </a:r>
            <a:endParaRPr lang="zh-CN" sz="2100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 descr="{&quot;isTemplate&quot;:true,&quot;type&quot;:&quot;text&quot;}"/>
          <p:cNvSpPr txBox="1"/>
          <p:nvPr/>
        </p:nvSpPr>
        <p:spPr>
          <a:xfrm>
            <a:off x="762000" y="5238750"/>
            <a:ext cx="471487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基于大模型智能体的心理预警与</a:t>
            </a:r>
            <a:r>
              <a:rPr lang="en-US" sz="120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200" spc="1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陪伴一体化平台</a:t>
            </a:r>
            <a:endParaRPr lang="zh-CN" sz="1200" spc="1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40" name="" descr="&lt;Slide style={{ width: 1280, height: 720, background: '#FFFFFF', position: 'relative', overflow: 'hidden' }}&gt;&#10;  {/* 左上 CONTENTS */}&#10;  &lt;Box style={{ position: 'absolute', top: 60, left: 80, flexDirection: 'column', gap: 18 }}&gt;&#10;    &lt;Text style={{ fontSize: 14, color: '#64748B', letterSpacing: 6 }}&gt;CONTENTS&lt;/Text&gt;&#10;    &lt;Text style={{ fontSize: 96, fontWeight: 'bold', color: '#0F172A', lineHeight: 1 }}&gt;目录&lt;/Text&gt;&#10;    &lt;Box style={{ width: 80, height: 4, background: '#7C3AED', marginTop: 12 }} /&gt;&#10;  &lt;/Box&gt;&#10;&#10;  {/* 五个章节 */}&#10;  &lt;Box style={{ position: 'absolute', right: 120, top: 100, width: 600, flexDirection: 'column', gap: 22 }}&gt;&#10;    {[&#10;      ['01', '辅导员工作台 + 情绪网络图', 'Counselor Dashboard'],&#10;      ['02', '老师端 · AI 数字人', 'AI Digital Human'],&#10;      ['03', '视频通话 · 多模态情绪', 'Video Call'],&#10;      ['04', '危机闭环 · 工单流转', 'Crisis Workflow'],&#10;      ['05', '学生端 · 测评与求助', 'Student Portal'],&#10;    ].map(([num, cn, en], i) =&gt; (&#10;      &lt;Box key={i} style={{ flexDirection: 'row', alignItems: 'baseline', gap: 28, paddingBottom: 16, borderBottom: '1px solid #E2E8F0' }}&gt;&#10;        &lt;Text style={{ fontSize: 48, fontWeight: 'bold', color: '#7C3AED', lineHeight: 1, width: 80 }}&gt;{num}&lt;/Text&gt;&#10;        &lt;Box style={{ flexDirection: 'column', gap: 6 }}&gt;&#10;          &lt;Text style={{ fontSize: 22, color: '#0F172A', fontWeight: 'bold' }}&gt;{cn}&lt;/Text&gt;&#10;          &lt;Text style={{ fontSize: 13, color: '#64748B', letterSpacing: 1 }}&gt;{en}&lt;/Text&gt;&#10;        &lt;/Box&gt;&#10;      &lt;/Box&gt;&#10;    ))}&#10;  &lt;/Box&gt;&#10;&#10;  &lt;Box style={{ position: 'absolute', bottom: 30, right: 80, flexDirection: 'row', alignItems: 'center', gap: 8 }}&gt;&#10;    &lt;Text style={{ fontSize: 13, color: '#64748B' }}&gt;02&lt;/Text&gt;&#10;    &lt;Box style={{ width: 30, height: 1, background: '#64748B' }} /&gt;&#10;    &lt;Text style={{ fontSize: 13, color: '#64748B' }}&gt;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矩形 14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42" name="文本框 141" descr="{&quot;isTemplate&quot;:true,&quot;type&quot;:&quot;text&quot;}"/>
          <p:cNvSpPr txBox="1"/>
          <p:nvPr/>
        </p:nvSpPr>
        <p:spPr>
          <a:xfrm>
            <a:off x="762000" y="571500"/>
            <a:ext cx="182880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spc="4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CONTENTS</a:t>
            </a:r>
            <a:endParaRPr lang="en-US" sz="1050" spc="4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3" name="文本框 142" descr="{&quot;isTemplate&quot;:true,&quot;type&quot;:&quot;text&quot;}"/>
          <p:cNvSpPr txBox="1"/>
          <p:nvPr/>
        </p:nvSpPr>
        <p:spPr>
          <a:xfrm>
            <a:off x="762000" y="904875"/>
            <a:ext cx="1828800" cy="11049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目录</a:t>
            </a:r>
            <a:endParaRPr lang="zh-CN" sz="7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4" name="矩形 143"/>
          <p:cNvSpPr/>
          <p:nvPr/>
        </p:nvSpPr>
        <p:spPr>
          <a:xfrm>
            <a:off x="762000" y="2295525"/>
            <a:ext cx="762000" cy="38100"/>
          </a:xfrm>
          <a:prstGeom prst="rect">
            <a:avLst/>
          </a:prstGeom>
          <a:solidFill>
            <a:srgbClr val="7C3AED"/>
          </a:solidFill>
        </p:spPr>
        <p:txBody>
          <a:bodyPr/>
          <a:p/>
        </p:txBody>
      </p:sp>
      <p:sp>
        <p:nvSpPr>
          <p:cNvPr id="145" name="任意多边形 144"/>
          <p:cNvSpPr/>
          <p:nvPr/>
        </p:nvSpPr>
        <p:spPr>
          <a:xfrm>
            <a:off x="5334000" y="952500"/>
            <a:ext cx="5715000" cy="723900"/>
          </a:xfrm>
          <a:custGeom>
            <a:avLst/>
            <a:gdLst/>
            <a:ahLst/>
            <a:cxnLst/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46" name="文本框 145" descr="{&quot;isTemplate&quot;:true,&quot;type&quot;:&quot;text&quot;}"/>
          <p:cNvSpPr txBox="1"/>
          <p:nvPr/>
        </p:nvSpPr>
        <p:spPr>
          <a:xfrm>
            <a:off x="5334000" y="952500"/>
            <a:ext cx="762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36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7" name="文本框 146" descr="{&quot;isTemplate&quot;:true,&quot;type&quot;:&quot;text&quot;}"/>
          <p:cNvSpPr txBox="1"/>
          <p:nvPr/>
        </p:nvSpPr>
        <p:spPr>
          <a:xfrm>
            <a:off x="6362700" y="952500"/>
            <a:ext cx="259080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辅导员工作台</a:t>
            </a:r>
            <a:r>
              <a:rPr lang="en-US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情绪网络图</a:t>
            </a:r>
            <a:endParaRPr lang="zh-CN"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8" name="文本框 147" descr="{&quot;isTemplate&quot;:true,&quot;type&quot;:&quot;text&quot;}"/>
          <p:cNvSpPr txBox="1"/>
          <p:nvPr/>
        </p:nvSpPr>
        <p:spPr>
          <a:xfrm>
            <a:off x="6362700" y="1266825"/>
            <a:ext cx="259080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Counselor Dashboard</a:t>
            </a:r>
            <a:endParaRPr lang="en-US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9" name="任意多边形 148"/>
          <p:cNvSpPr/>
          <p:nvPr/>
        </p:nvSpPr>
        <p:spPr>
          <a:xfrm>
            <a:off x="5334000" y="1876425"/>
            <a:ext cx="5715000" cy="723900"/>
          </a:xfrm>
          <a:custGeom>
            <a:avLst/>
            <a:gdLst/>
            <a:ahLst/>
            <a:cxnLst/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50" name="文本框 149" descr="{&quot;isTemplate&quot;:true,&quot;type&quot;:&quot;text&quot;}"/>
          <p:cNvSpPr txBox="1"/>
          <p:nvPr/>
        </p:nvSpPr>
        <p:spPr>
          <a:xfrm>
            <a:off x="5334000" y="1876425"/>
            <a:ext cx="762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36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1" name="文本框 150" descr="{&quot;isTemplate&quot;:true,&quot;type&quot;:&quot;text&quot;}"/>
          <p:cNvSpPr txBox="1"/>
          <p:nvPr/>
        </p:nvSpPr>
        <p:spPr>
          <a:xfrm>
            <a:off x="6362700" y="1876425"/>
            <a:ext cx="1771650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老师端</a:t>
            </a:r>
            <a:r>
              <a:rPr lang="en-US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AI </a:t>
            </a: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数字人</a:t>
            </a:r>
            <a:endParaRPr lang="zh-CN"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2" name="文本框 151" descr="{&quot;isTemplate&quot;:true,&quot;type&quot;:&quot;text&quot;}"/>
          <p:cNvSpPr txBox="1"/>
          <p:nvPr/>
        </p:nvSpPr>
        <p:spPr>
          <a:xfrm>
            <a:off x="6362700" y="2190750"/>
            <a:ext cx="1771650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AI Digital Human</a:t>
            </a:r>
            <a:endParaRPr lang="en-US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3" name="任意多边形 152"/>
          <p:cNvSpPr/>
          <p:nvPr/>
        </p:nvSpPr>
        <p:spPr>
          <a:xfrm>
            <a:off x="5334000" y="2800350"/>
            <a:ext cx="5715000" cy="723900"/>
          </a:xfrm>
          <a:custGeom>
            <a:avLst/>
            <a:gdLst/>
            <a:ahLst/>
            <a:cxnLst/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54" name="文本框 153" descr="{&quot;isTemplate&quot;:true,&quot;type&quot;:&quot;text&quot;}"/>
          <p:cNvSpPr txBox="1"/>
          <p:nvPr/>
        </p:nvSpPr>
        <p:spPr>
          <a:xfrm>
            <a:off x="5334000" y="2800350"/>
            <a:ext cx="762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36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5" name="文本框 154" descr="{&quot;isTemplate&quot;:true,&quot;type&quot;:&quot;text&quot;}"/>
          <p:cNvSpPr txBox="1"/>
          <p:nvPr/>
        </p:nvSpPr>
        <p:spPr>
          <a:xfrm>
            <a:off x="6362700" y="2800350"/>
            <a:ext cx="210502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视频通话</a:t>
            </a:r>
            <a:r>
              <a:rPr lang="en-US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多模态情绪</a:t>
            </a:r>
            <a:endParaRPr lang="zh-CN"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6" name="文本框 155" descr="{&quot;isTemplate&quot;:true,&quot;type&quot;:&quot;text&quot;}"/>
          <p:cNvSpPr txBox="1"/>
          <p:nvPr/>
        </p:nvSpPr>
        <p:spPr>
          <a:xfrm>
            <a:off x="6362700" y="3114675"/>
            <a:ext cx="210502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Video Call</a:t>
            </a:r>
            <a:endParaRPr lang="en-US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7" name="任意多边形 156"/>
          <p:cNvSpPr/>
          <p:nvPr/>
        </p:nvSpPr>
        <p:spPr>
          <a:xfrm>
            <a:off x="5334000" y="3724275"/>
            <a:ext cx="5715000" cy="723900"/>
          </a:xfrm>
          <a:custGeom>
            <a:avLst/>
            <a:gdLst/>
            <a:ahLst/>
            <a:cxnLst/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58" name="文本框 157" descr="{&quot;isTemplate&quot;:true,&quot;type&quot;:&quot;text&quot;}"/>
          <p:cNvSpPr txBox="1"/>
          <p:nvPr/>
        </p:nvSpPr>
        <p:spPr>
          <a:xfrm>
            <a:off x="5334000" y="3724275"/>
            <a:ext cx="762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36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59" name="文本框 158" descr="{&quot;isTemplate&quot;:true,&quot;type&quot;:&quot;text&quot;}"/>
          <p:cNvSpPr txBox="1"/>
          <p:nvPr/>
        </p:nvSpPr>
        <p:spPr>
          <a:xfrm>
            <a:off x="6362700" y="3724275"/>
            <a:ext cx="18954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危机闭环</a:t>
            </a:r>
            <a:r>
              <a:rPr lang="en-US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工单流转</a:t>
            </a:r>
            <a:endParaRPr lang="zh-CN"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0" name="文本框 159" descr="{&quot;isTemplate&quot;:true,&quot;type&quot;:&quot;text&quot;}"/>
          <p:cNvSpPr txBox="1"/>
          <p:nvPr/>
        </p:nvSpPr>
        <p:spPr>
          <a:xfrm>
            <a:off x="6362700" y="4038600"/>
            <a:ext cx="1895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Crisis Workflow</a:t>
            </a:r>
            <a:endParaRPr lang="en-US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1" name="任意多边形 160"/>
          <p:cNvSpPr/>
          <p:nvPr/>
        </p:nvSpPr>
        <p:spPr>
          <a:xfrm>
            <a:off x="5334000" y="4648200"/>
            <a:ext cx="5715000" cy="723900"/>
          </a:xfrm>
          <a:custGeom>
            <a:avLst/>
            <a:gdLst/>
            <a:ahLst/>
            <a:cxnLst/>
            <a:pathLst>
              <a:path w="600" h="76">
                <a:moveTo>
                  <a:pt x="0" y="75"/>
                </a:moveTo>
                <a:lnTo>
                  <a:pt x="600" y="75"/>
                </a:lnTo>
                <a:lnTo>
                  <a:pt x="600" y="76"/>
                </a:lnTo>
                <a:lnTo>
                  <a:pt x="0" y="76"/>
                </a:lnTo>
                <a:close/>
              </a:path>
            </a:pathLst>
          </a:custGeom>
          <a:solidFill>
            <a:srgbClr val="E2E8F0"/>
          </a:solidFill>
        </p:spPr>
        <p:txBody>
          <a:bodyPr/>
          <a:p/>
        </p:txBody>
      </p:sp>
      <p:sp>
        <p:nvSpPr>
          <p:cNvPr id="162" name="文本框 161" descr="{&quot;isTemplate&quot;:true,&quot;type&quot;:&quot;text&quot;}"/>
          <p:cNvSpPr txBox="1"/>
          <p:nvPr/>
        </p:nvSpPr>
        <p:spPr>
          <a:xfrm>
            <a:off x="5334000" y="4648200"/>
            <a:ext cx="762000" cy="55245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600" b="1">
                <a:solidFill>
                  <a:srgbClr val="7C3AED"/>
                </a:soli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3600" b="1">
              <a:solidFill>
                <a:srgbClr val="7C3AED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3" name="文本框 162" descr="{&quot;isTemplate&quot;:true,&quot;type&quot;:&quot;text&quot;}"/>
          <p:cNvSpPr txBox="1"/>
          <p:nvPr/>
        </p:nvSpPr>
        <p:spPr>
          <a:xfrm>
            <a:off x="6362700" y="4648200"/>
            <a:ext cx="1895475" cy="25717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r>
              <a:rPr lang="en-US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165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测评与求助</a:t>
            </a:r>
            <a:endParaRPr lang="zh-CN" sz="165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4" name="文本框 163" descr="{&quot;isTemplate&quot;:true,&quot;type&quot;:&quot;text&quot;}"/>
          <p:cNvSpPr txBox="1"/>
          <p:nvPr/>
        </p:nvSpPr>
        <p:spPr>
          <a:xfrm>
            <a:off x="6362700" y="4962525"/>
            <a:ext cx="18954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75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Student Portal</a:t>
            </a:r>
            <a:endParaRPr lang="en-US" sz="975" spc="75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68" name="" descr="&lt;Slide style={{ width: 1280, height: 720, background: '#FFFFFF', position: 'relative', overflow: 'hidden' }}&gt;&#10;  {/* 中心巨型光晕 */}&#10;  &lt;Box style={{ position: 'absolute', top: '50%', left: '50%', transform: 'translate(-50%, -50%)', width: 800, height: 800, borderRadius: 9999, background: 'radial-gradient(circle, rgba(168,85,247,0.12) 0%, rgba(236,72,153,0.06) 40%, transparent 70%)' }} /&gt;&#10;&#10;  {/* 顶部小角标 */}&#10;  &lt;Box style={{ position: 'absolute', top: 50, left: 80, flexDirection: 'row', alignItems: 'center', gap: 12 }}&gt;&#10;    &lt;Box style={{ width: 8, height: 8, borderRadius: 9999, background: '#7C3AED' }} /&gt;&#10;    &lt;Text style={{ fontSize: 13, color: '#64748B', letterSpacing: 4 }}&gt;PART 01 · 5&lt;/Text&gt;&#10;  &lt;/Box&gt;&#10;&#10;  {/* 巨型渐变数字 */}&#10;  &lt;Box style={{ position: 'absolute', top: '50%', left: '50%', transform: 'translate(-50%, -60%)', flexDirection: 'column', alignItems: 'center', gap: 18 }}&gt;&#10;    &lt;Text style={{ fontSize: 280, fontWeight: 'bold', lineHeight: 1, backgroundImage: 'linear-gradient(135deg, #7C3AED 0%, #EC4899 100%)', backgroundClip: 'text', color: 'transparent' }}&gt;01&lt;/Text&gt;&#10;    &lt;Text style={{ fontSize: 56, color: '#0F172A', fontWeight: 'bold', lineHeight: 1 }}&gt;辅导员工作台 + 情绪网络图&lt;/Text&gt;&#10;    &lt;Text style={{ fontSize: 16, color: '#64748B', letterSpacing: 6 }}&gt;COUNSELOR DASHBOARD&lt;/Text&gt;&#10;  &lt;/Box&gt;&#10;&#10;  {/* 底部引语 */}&#10;  &lt;Box style={{ position: 'absolute', bottom: 60, left: 0, right: 0, justifyContent: 'center', flexDirection: 'row', alignItems: 'center', gap: 12 }}&gt;&#10;    &lt;Text style={{ fontSize: 14, color: '#64748B', fontStyle: 'italic' }}&gt;&quot;辅导员登录后,今日工作台自动汇总待办;情绪网络图以一张全局视图呈现全班情绪聚类。&quot;&lt;/Text&gt;&#10;  &lt;/Box&gt;&#10;&#10;  {/* 页脚 */}&#10;  &lt;Box style={{ position: 'absolute', bottom: 30, right: 80, flexDirection: 'row', alignItems: 'center', gap: 8 }}&gt;&#10;    &lt;Text style={{ fontSize: 13, color: '#64748B' }}&gt;03&lt;/Text&gt;&#10;    &lt;Box style={{ width: 30, height: 1, background: '#64748B' }} /&gt;&#10;    &lt;Text style={{ fontSize: 13, color: '#64748B' }}&gt;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矩形 16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170" name="任意多边形 169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pathLst>
              <a:path w="800" h="800">
                <a:moveTo>
                  <a:pt x="582" y="44"/>
                </a:moveTo>
                <a:lnTo>
                  <a:pt x="591" y="48"/>
                </a:lnTo>
                <a:lnTo>
                  <a:pt x="599" y="53"/>
                </a:lnTo>
                <a:lnTo>
                  <a:pt x="607" y="58"/>
                </a:lnTo>
                <a:lnTo>
                  <a:pt x="616" y="63"/>
                </a:lnTo>
                <a:lnTo>
                  <a:pt x="624" y="68"/>
                </a:lnTo>
                <a:lnTo>
                  <a:pt x="631" y="74"/>
                </a:lnTo>
                <a:lnTo>
                  <a:pt x="639" y="80"/>
                </a:lnTo>
                <a:lnTo>
                  <a:pt x="647" y="85"/>
                </a:lnTo>
                <a:lnTo>
                  <a:pt x="654" y="91"/>
                </a:lnTo>
                <a:lnTo>
                  <a:pt x="662" y="98"/>
                </a:lnTo>
                <a:lnTo>
                  <a:pt x="669" y="104"/>
                </a:lnTo>
                <a:lnTo>
                  <a:pt x="676" y="111"/>
                </a:lnTo>
                <a:lnTo>
                  <a:pt x="683" y="117"/>
                </a:lnTo>
                <a:lnTo>
                  <a:pt x="689" y="124"/>
                </a:lnTo>
                <a:lnTo>
                  <a:pt x="696" y="131"/>
                </a:lnTo>
                <a:lnTo>
                  <a:pt x="702" y="138"/>
                </a:lnTo>
                <a:lnTo>
                  <a:pt x="709" y="146"/>
                </a:lnTo>
                <a:lnTo>
                  <a:pt x="715" y="153"/>
                </a:lnTo>
                <a:lnTo>
                  <a:pt x="720" y="161"/>
                </a:lnTo>
                <a:lnTo>
                  <a:pt x="726" y="169"/>
                </a:lnTo>
                <a:lnTo>
                  <a:pt x="732" y="176"/>
                </a:lnTo>
                <a:lnTo>
                  <a:pt x="737" y="184"/>
                </a:lnTo>
                <a:lnTo>
                  <a:pt x="742" y="193"/>
                </a:lnTo>
                <a:lnTo>
                  <a:pt x="747" y="201"/>
                </a:lnTo>
                <a:lnTo>
                  <a:pt x="752" y="209"/>
                </a:lnTo>
                <a:lnTo>
                  <a:pt x="756" y="218"/>
                </a:lnTo>
                <a:lnTo>
                  <a:pt x="761" y="227"/>
                </a:lnTo>
                <a:lnTo>
                  <a:pt x="765" y="235"/>
                </a:lnTo>
                <a:lnTo>
                  <a:pt x="769" y="244"/>
                </a:lnTo>
                <a:lnTo>
                  <a:pt x="772" y="253"/>
                </a:lnTo>
                <a:lnTo>
                  <a:pt x="776" y="263"/>
                </a:lnTo>
                <a:lnTo>
                  <a:pt x="779" y="272"/>
                </a:lnTo>
                <a:lnTo>
                  <a:pt x="782" y="281"/>
                </a:lnTo>
                <a:lnTo>
                  <a:pt x="785" y="291"/>
                </a:lnTo>
                <a:lnTo>
                  <a:pt x="787" y="300"/>
                </a:lnTo>
                <a:lnTo>
                  <a:pt x="790" y="310"/>
                </a:lnTo>
                <a:lnTo>
                  <a:pt x="792" y="319"/>
                </a:lnTo>
                <a:lnTo>
                  <a:pt x="794" y="329"/>
                </a:lnTo>
                <a:lnTo>
                  <a:pt x="795" y="339"/>
                </a:lnTo>
                <a:lnTo>
                  <a:pt x="797" y="349"/>
                </a:lnTo>
                <a:lnTo>
                  <a:pt x="798" y="359"/>
                </a:lnTo>
                <a:lnTo>
                  <a:pt x="799" y="369"/>
                </a:lnTo>
                <a:lnTo>
                  <a:pt x="799" y="379"/>
                </a:lnTo>
                <a:lnTo>
                  <a:pt x="800" y="390"/>
                </a:lnTo>
                <a:lnTo>
                  <a:pt x="800" y="400"/>
                </a:lnTo>
                <a:lnTo>
                  <a:pt x="800" y="410"/>
                </a:lnTo>
                <a:lnTo>
                  <a:pt x="799" y="421"/>
                </a:lnTo>
                <a:lnTo>
                  <a:pt x="799" y="431"/>
                </a:lnTo>
                <a:lnTo>
                  <a:pt x="798" y="441"/>
                </a:lnTo>
                <a:lnTo>
                  <a:pt x="797" y="451"/>
                </a:lnTo>
                <a:lnTo>
                  <a:pt x="795" y="461"/>
                </a:lnTo>
                <a:lnTo>
                  <a:pt x="794" y="471"/>
                </a:lnTo>
                <a:lnTo>
                  <a:pt x="792" y="481"/>
                </a:lnTo>
                <a:lnTo>
                  <a:pt x="790" y="490"/>
                </a:lnTo>
                <a:lnTo>
                  <a:pt x="787" y="500"/>
                </a:lnTo>
                <a:lnTo>
                  <a:pt x="785" y="509"/>
                </a:lnTo>
                <a:lnTo>
                  <a:pt x="782" y="519"/>
                </a:lnTo>
                <a:lnTo>
                  <a:pt x="779" y="528"/>
                </a:lnTo>
                <a:lnTo>
                  <a:pt x="776" y="537"/>
                </a:lnTo>
                <a:lnTo>
                  <a:pt x="772" y="547"/>
                </a:lnTo>
                <a:lnTo>
                  <a:pt x="769" y="556"/>
                </a:lnTo>
                <a:lnTo>
                  <a:pt x="765" y="565"/>
                </a:lnTo>
                <a:lnTo>
                  <a:pt x="761" y="573"/>
                </a:lnTo>
                <a:lnTo>
                  <a:pt x="756" y="582"/>
                </a:lnTo>
                <a:lnTo>
                  <a:pt x="752" y="591"/>
                </a:lnTo>
                <a:lnTo>
                  <a:pt x="747" y="599"/>
                </a:lnTo>
                <a:lnTo>
                  <a:pt x="742" y="607"/>
                </a:lnTo>
                <a:lnTo>
                  <a:pt x="737" y="616"/>
                </a:lnTo>
                <a:lnTo>
                  <a:pt x="732" y="624"/>
                </a:lnTo>
                <a:lnTo>
                  <a:pt x="726" y="631"/>
                </a:lnTo>
                <a:lnTo>
                  <a:pt x="720" y="639"/>
                </a:lnTo>
                <a:lnTo>
                  <a:pt x="715" y="647"/>
                </a:lnTo>
                <a:lnTo>
                  <a:pt x="709" y="654"/>
                </a:lnTo>
                <a:lnTo>
                  <a:pt x="702" y="662"/>
                </a:lnTo>
                <a:lnTo>
                  <a:pt x="696" y="669"/>
                </a:lnTo>
                <a:lnTo>
                  <a:pt x="689" y="676"/>
                </a:lnTo>
                <a:lnTo>
                  <a:pt x="683" y="683"/>
                </a:lnTo>
                <a:lnTo>
                  <a:pt x="676" y="689"/>
                </a:lnTo>
                <a:lnTo>
                  <a:pt x="669" y="696"/>
                </a:lnTo>
                <a:lnTo>
                  <a:pt x="662" y="702"/>
                </a:lnTo>
                <a:lnTo>
                  <a:pt x="654" y="709"/>
                </a:lnTo>
                <a:lnTo>
                  <a:pt x="647" y="715"/>
                </a:lnTo>
                <a:lnTo>
                  <a:pt x="639" y="720"/>
                </a:lnTo>
                <a:lnTo>
                  <a:pt x="631" y="726"/>
                </a:lnTo>
                <a:lnTo>
                  <a:pt x="624" y="732"/>
                </a:lnTo>
                <a:lnTo>
                  <a:pt x="616" y="737"/>
                </a:lnTo>
                <a:lnTo>
                  <a:pt x="607" y="742"/>
                </a:ln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4" y="760"/>
                </a:lnTo>
                <a:lnTo>
                  <a:pt x="226" y="760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8" y="193"/>
                </a:lnTo>
                <a:lnTo>
                  <a:pt x="63" y="184"/>
                </a:lnTo>
                <a:lnTo>
                  <a:pt x="68" y="176"/>
                </a:lnTo>
                <a:lnTo>
                  <a:pt x="74" y="169"/>
                </a:lnTo>
                <a:lnTo>
                  <a:pt x="80" y="161"/>
                </a:lnTo>
                <a:lnTo>
                  <a:pt x="85" y="153"/>
                </a:lnTo>
                <a:lnTo>
                  <a:pt x="91" y="146"/>
                </a:lnTo>
                <a:lnTo>
                  <a:pt x="98" y="138"/>
                </a:lnTo>
                <a:lnTo>
                  <a:pt x="104" y="131"/>
                </a:lnTo>
                <a:lnTo>
                  <a:pt x="111" y="124"/>
                </a:lnTo>
                <a:lnTo>
                  <a:pt x="117" y="117"/>
                </a:lnTo>
                <a:lnTo>
                  <a:pt x="124" y="111"/>
                </a:lnTo>
                <a:lnTo>
                  <a:pt x="131" y="104"/>
                </a:lnTo>
                <a:lnTo>
                  <a:pt x="138" y="98"/>
                </a:lnTo>
                <a:lnTo>
                  <a:pt x="146" y="91"/>
                </a:lnTo>
                <a:lnTo>
                  <a:pt x="153" y="85"/>
                </a:lnTo>
                <a:lnTo>
                  <a:pt x="161" y="80"/>
                </a:lnTo>
                <a:lnTo>
                  <a:pt x="169" y="74"/>
                </a:lnTo>
                <a:lnTo>
                  <a:pt x="176" y="68"/>
                </a:lnTo>
                <a:lnTo>
                  <a:pt x="184" y="63"/>
                </a:lnTo>
                <a:lnTo>
                  <a:pt x="193" y="58"/>
                </a:lnTo>
                <a:lnTo>
                  <a:pt x="201" y="53"/>
                </a:lnTo>
                <a:lnTo>
                  <a:pt x="209" y="48"/>
                </a:lnTo>
                <a:lnTo>
                  <a:pt x="218" y="44"/>
                </a:lnTo>
                <a:lnTo>
                  <a:pt x="226" y="40"/>
                </a:lnTo>
                <a:lnTo>
                  <a:pt x="574" y="40"/>
                </a:lnTo>
                <a:close/>
              </a:path>
            </a:pathLst>
          </a:custGeom>
          <a:gradFill>
            <a:gsLst>
              <a:gs pos="0">
                <a:srgbClr val="A855F7">
                  <a:alpha val="12000"/>
                </a:srgbClr>
              </a:gs>
              <a:gs pos="40000">
                <a:srgbClr val="EC4899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171" name="圆角矩形 170"/>
          <p:cNvSpPr/>
          <p:nvPr/>
        </p:nvSpPr>
        <p:spPr>
          <a:xfrm>
            <a:off x="762000" y="514350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7C3AED"/>
          </a:solidFill>
        </p:spPr>
        <p:txBody>
          <a:bodyPr/>
          <a:p/>
        </p:txBody>
      </p:sp>
      <p:sp>
        <p:nvSpPr>
          <p:cNvPr id="172" name="文本框 171" descr="{&quot;isTemplate&quot;:true,&quot;type&quot;:&quot;text&quot;}"/>
          <p:cNvSpPr txBox="1"/>
          <p:nvPr/>
        </p:nvSpPr>
        <p:spPr>
          <a:xfrm>
            <a:off x="952500" y="4762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PART 01 · 5</a:t>
            </a:r>
            <a:endParaRPr lang="en-US" sz="975" spc="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3" name="文本框 172" descr="{&quot;isTemplate&quot;:true,&quot;type&quot;:&quot;text&quot;}"/>
          <p:cNvSpPr txBox="1"/>
          <p:nvPr/>
        </p:nvSpPr>
        <p:spPr>
          <a:xfrm>
            <a:off x="4448175" y="800100"/>
            <a:ext cx="3295650" cy="3200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gradFill>
                  <a:gsLst>
                    <a:gs pos="0">
                      <a:srgbClr val="7C3AED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01</a:t>
            </a:r>
            <a:endParaRPr lang="en-US" sz="21000" b="1">
              <a:gradFill>
                <a:gsLst>
                  <a:gs pos="0">
                    <a:srgbClr val="7C3AED"/>
                  </a:gs>
                  <a:gs pos="100000">
                    <a:srgbClr val="EC4899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" name="文本框 173" descr="{&quot;isTemplate&quot;:true,&quot;type&quot;:&quot;text&quot;}"/>
          <p:cNvSpPr txBox="1"/>
          <p:nvPr/>
        </p:nvSpPr>
        <p:spPr>
          <a:xfrm>
            <a:off x="2800350" y="4171950"/>
            <a:ext cx="65913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辅导员工作台</a:t>
            </a:r>
            <a:r>
              <a:rPr lang="en-US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+ </a:t>
            </a: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情绪网络图</a:t>
            </a:r>
            <a:endParaRPr lang="zh-CN" sz="4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5" name="文本框 174" descr="{&quot;isTemplate&quot;:true,&quot;type&quot;:&quot;text&quot;}"/>
          <p:cNvSpPr txBox="1"/>
          <p:nvPr/>
        </p:nvSpPr>
        <p:spPr>
          <a:xfrm>
            <a:off x="4572000" y="4991100"/>
            <a:ext cx="3048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COUNSELOR DASHBOARD</a:t>
            </a:r>
            <a:endParaRPr lang="en-US" sz="1200" spc="4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6" name="文本框 175" descr="{&quot;isTemplate&quot;:true,&quot;type&quot;:&quot;text&quot;}"/>
          <p:cNvSpPr txBox="1"/>
          <p:nvPr/>
        </p:nvSpPr>
        <p:spPr>
          <a:xfrm>
            <a:off x="3476625" y="6124575"/>
            <a:ext cx="52482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辅导员登录后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今日工作台自动汇总待办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情绪网络图以一张全局视图呈现全班情绪聚类。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53" name="" descr="&lt;Slide style={{ width: 1280, height: 720, background: '#FFFFFF', position: 'relative', overflow: 'hidden' }}&gt;&#10;  &lt;Box style={{ position: 'absolute', top: '50%', left: '50%', transform: 'translate(-50%, -50%)', width: 800, height: 800, borderRadius: 9999, background: 'radial-gradient(circle, rgba(236,72,153,0.12) 0%, rgba(168,85,247,0.06) 40%, transparent 70%)' }} /&gt;&#10;&#10;  &lt;Box style={{ position: 'absolute', top: 50, left: 80, flexDirection: 'row', alignItems: 'center', gap: 12 }}&gt;&#10;    &lt;Box style={{ width: 8, height: 8, borderRadius: 9999, background: '#EC4899' }} /&gt;&#10;    &lt;Text style={{ fontSize: 13, color: '#64748B', letterSpacing: 4 }}&gt;PART 02 · 5&lt;/Text&gt;&#10;  &lt;/Box&gt;&#10;&#10;  &lt;Box style={{ position: 'absolute', top: '50%', left: '50%', transform: 'translate(-50%, -60%)', flexDirection: 'column', alignItems: 'center', gap: 18 }}&gt;&#10;    &lt;Text style={{ fontSize: 280, fontWeight: 'bold', lineHeight: 1, backgroundImage: 'linear-gradient(135deg, #7C3AED 0%, #EC4899 100%)', backgroundClip: 'text', color: 'transparent' }}&gt;02&lt;/Text&gt;&#10;    &lt;Text style={{ fontSize: 56, color: '#0F172A', fontWeight: 'bold', lineHeight: 1 }}&gt;老师端 · AI 数字人&lt;/Text&gt;&#10;    &lt;Text style={{ fontSize: 16, color: '#64748B', letterSpacing: 6 }}&gt;AI DIGITAL HUMAN&lt;/Text&gt;&#10;  &lt;/Box&gt;&#10;&#10;  &lt;Box style={{ position: 'absolute', bottom: 60, left: 0, right: 0, justifyContent: 'center', flexDirection: 'row', alignItems: 'center', gap: 12 }}&gt;&#10;    &lt;Text style={{ fontSize: 14, color: '#64748B', fontStyle: 'italic' }}&gt;&quot;老师不在线时,7×24 的 AI 分身幽默亲切地陪伴学生,危机识别直接生成高危预警。&quot;&lt;/Text&gt;&#10;  &lt;/Box&gt;&#10;&#10;  &lt;Box style={{ position: 'absolute', bottom: 30, right: 80, flexDirection: 'row', alignItems: 'center', gap: 8 }}&gt;&#10;    &lt;Text style={{ fontSize: 13, color: '#64748B' }}&gt;05&lt;/Text&gt;&#10;    &lt;Box style={{ width: 30, height: 1, background: '#64748B' }} /&gt;&#10;    &lt;Text style={{ fontSize: 13, color: '#64748B' }}&gt;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矩形 25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255" name="任意多边形 254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pathLst>
              <a:path w="800" h="800">
                <a:moveTo>
                  <a:pt x="582" y="44"/>
                </a:moveTo>
                <a:lnTo>
                  <a:pt x="591" y="48"/>
                </a:lnTo>
                <a:lnTo>
                  <a:pt x="599" y="53"/>
                </a:lnTo>
                <a:lnTo>
                  <a:pt x="607" y="58"/>
                </a:lnTo>
                <a:lnTo>
                  <a:pt x="616" y="63"/>
                </a:lnTo>
                <a:lnTo>
                  <a:pt x="624" y="68"/>
                </a:lnTo>
                <a:lnTo>
                  <a:pt x="631" y="74"/>
                </a:lnTo>
                <a:lnTo>
                  <a:pt x="639" y="80"/>
                </a:lnTo>
                <a:lnTo>
                  <a:pt x="647" y="85"/>
                </a:lnTo>
                <a:lnTo>
                  <a:pt x="654" y="91"/>
                </a:lnTo>
                <a:lnTo>
                  <a:pt x="662" y="98"/>
                </a:lnTo>
                <a:lnTo>
                  <a:pt x="669" y="104"/>
                </a:lnTo>
                <a:lnTo>
                  <a:pt x="676" y="111"/>
                </a:lnTo>
                <a:lnTo>
                  <a:pt x="683" y="117"/>
                </a:lnTo>
                <a:lnTo>
                  <a:pt x="689" y="124"/>
                </a:lnTo>
                <a:lnTo>
                  <a:pt x="696" y="131"/>
                </a:lnTo>
                <a:lnTo>
                  <a:pt x="702" y="138"/>
                </a:lnTo>
                <a:lnTo>
                  <a:pt x="709" y="146"/>
                </a:lnTo>
                <a:lnTo>
                  <a:pt x="715" y="153"/>
                </a:lnTo>
                <a:lnTo>
                  <a:pt x="720" y="161"/>
                </a:lnTo>
                <a:lnTo>
                  <a:pt x="726" y="169"/>
                </a:lnTo>
                <a:lnTo>
                  <a:pt x="732" y="176"/>
                </a:lnTo>
                <a:lnTo>
                  <a:pt x="737" y="184"/>
                </a:lnTo>
                <a:lnTo>
                  <a:pt x="742" y="193"/>
                </a:lnTo>
                <a:lnTo>
                  <a:pt x="747" y="201"/>
                </a:lnTo>
                <a:lnTo>
                  <a:pt x="752" y="209"/>
                </a:lnTo>
                <a:lnTo>
                  <a:pt x="756" y="218"/>
                </a:lnTo>
                <a:lnTo>
                  <a:pt x="761" y="227"/>
                </a:lnTo>
                <a:lnTo>
                  <a:pt x="765" y="235"/>
                </a:lnTo>
                <a:lnTo>
                  <a:pt x="769" y="244"/>
                </a:lnTo>
                <a:lnTo>
                  <a:pt x="772" y="253"/>
                </a:lnTo>
                <a:lnTo>
                  <a:pt x="776" y="263"/>
                </a:lnTo>
                <a:lnTo>
                  <a:pt x="779" y="272"/>
                </a:lnTo>
                <a:lnTo>
                  <a:pt x="782" y="281"/>
                </a:lnTo>
                <a:lnTo>
                  <a:pt x="785" y="291"/>
                </a:lnTo>
                <a:lnTo>
                  <a:pt x="787" y="300"/>
                </a:lnTo>
                <a:lnTo>
                  <a:pt x="790" y="310"/>
                </a:lnTo>
                <a:lnTo>
                  <a:pt x="792" y="319"/>
                </a:lnTo>
                <a:lnTo>
                  <a:pt x="794" y="329"/>
                </a:lnTo>
                <a:lnTo>
                  <a:pt x="795" y="339"/>
                </a:lnTo>
                <a:lnTo>
                  <a:pt x="797" y="349"/>
                </a:lnTo>
                <a:lnTo>
                  <a:pt x="798" y="359"/>
                </a:lnTo>
                <a:lnTo>
                  <a:pt x="799" y="369"/>
                </a:lnTo>
                <a:lnTo>
                  <a:pt x="799" y="379"/>
                </a:lnTo>
                <a:lnTo>
                  <a:pt x="800" y="390"/>
                </a:lnTo>
                <a:lnTo>
                  <a:pt x="800" y="400"/>
                </a:lnTo>
                <a:lnTo>
                  <a:pt x="800" y="410"/>
                </a:lnTo>
                <a:lnTo>
                  <a:pt x="799" y="421"/>
                </a:lnTo>
                <a:lnTo>
                  <a:pt x="799" y="431"/>
                </a:lnTo>
                <a:lnTo>
                  <a:pt x="798" y="441"/>
                </a:lnTo>
                <a:lnTo>
                  <a:pt x="797" y="451"/>
                </a:lnTo>
                <a:lnTo>
                  <a:pt x="795" y="461"/>
                </a:lnTo>
                <a:lnTo>
                  <a:pt x="794" y="471"/>
                </a:lnTo>
                <a:lnTo>
                  <a:pt x="792" y="481"/>
                </a:lnTo>
                <a:lnTo>
                  <a:pt x="790" y="490"/>
                </a:lnTo>
                <a:lnTo>
                  <a:pt x="787" y="500"/>
                </a:lnTo>
                <a:lnTo>
                  <a:pt x="785" y="509"/>
                </a:lnTo>
                <a:lnTo>
                  <a:pt x="782" y="519"/>
                </a:lnTo>
                <a:lnTo>
                  <a:pt x="779" y="528"/>
                </a:lnTo>
                <a:lnTo>
                  <a:pt x="776" y="537"/>
                </a:lnTo>
                <a:lnTo>
                  <a:pt x="772" y="547"/>
                </a:lnTo>
                <a:lnTo>
                  <a:pt x="769" y="556"/>
                </a:lnTo>
                <a:lnTo>
                  <a:pt x="765" y="565"/>
                </a:lnTo>
                <a:lnTo>
                  <a:pt x="761" y="573"/>
                </a:lnTo>
                <a:lnTo>
                  <a:pt x="756" y="582"/>
                </a:lnTo>
                <a:lnTo>
                  <a:pt x="752" y="591"/>
                </a:lnTo>
                <a:lnTo>
                  <a:pt x="747" y="599"/>
                </a:lnTo>
                <a:lnTo>
                  <a:pt x="742" y="607"/>
                </a:lnTo>
                <a:lnTo>
                  <a:pt x="737" y="616"/>
                </a:lnTo>
                <a:lnTo>
                  <a:pt x="732" y="624"/>
                </a:lnTo>
                <a:lnTo>
                  <a:pt x="726" y="631"/>
                </a:lnTo>
                <a:lnTo>
                  <a:pt x="720" y="639"/>
                </a:lnTo>
                <a:lnTo>
                  <a:pt x="715" y="647"/>
                </a:lnTo>
                <a:lnTo>
                  <a:pt x="709" y="654"/>
                </a:lnTo>
                <a:lnTo>
                  <a:pt x="702" y="662"/>
                </a:lnTo>
                <a:lnTo>
                  <a:pt x="696" y="669"/>
                </a:lnTo>
                <a:lnTo>
                  <a:pt x="689" y="676"/>
                </a:lnTo>
                <a:lnTo>
                  <a:pt x="683" y="683"/>
                </a:lnTo>
                <a:lnTo>
                  <a:pt x="676" y="689"/>
                </a:lnTo>
                <a:lnTo>
                  <a:pt x="669" y="696"/>
                </a:lnTo>
                <a:lnTo>
                  <a:pt x="662" y="702"/>
                </a:lnTo>
                <a:lnTo>
                  <a:pt x="654" y="709"/>
                </a:lnTo>
                <a:lnTo>
                  <a:pt x="647" y="715"/>
                </a:lnTo>
                <a:lnTo>
                  <a:pt x="639" y="720"/>
                </a:lnTo>
                <a:lnTo>
                  <a:pt x="631" y="726"/>
                </a:lnTo>
                <a:lnTo>
                  <a:pt x="624" y="732"/>
                </a:lnTo>
                <a:lnTo>
                  <a:pt x="616" y="737"/>
                </a:lnTo>
                <a:lnTo>
                  <a:pt x="607" y="742"/>
                </a:ln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4" y="760"/>
                </a:lnTo>
                <a:lnTo>
                  <a:pt x="226" y="760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8" y="193"/>
                </a:lnTo>
                <a:lnTo>
                  <a:pt x="63" y="184"/>
                </a:lnTo>
                <a:lnTo>
                  <a:pt x="68" y="176"/>
                </a:lnTo>
                <a:lnTo>
                  <a:pt x="74" y="169"/>
                </a:lnTo>
                <a:lnTo>
                  <a:pt x="80" y="161"/>
                </a:lnTo>
                <a:lnTo>
                  <a:pt x="85" y="153"/>
                </a:lnTo>
                <a:lnTo>
                  <a:pt x="91" y="146"/>
                </a:lnTo>
                <a:lnTo>
                  <a:pt x="98" y="138"/>
                </a:lnTo>
                <a:lnTo>
                  <a:pt x="104" y="131"/>
                </a:lnTo>
                <a:lnTo>
                  <a:pt x="111" y="124"/>
                </a:lnTo>
                <a:lnTo>
                  <a:pt x="117" y="117"/>
                </a:lnTo>
                <a:lnTo>
                  <a:pt x="124" y="111"/>
                </a:lnTo>
                <a:lnTo>
                  <a:pt x="131" y="104"/>
                </a:lnTo>
                <a:lnTo>
                  <a:pt x="138" y="98"/>
                </a:lnTo>
                <a:lnTo>
                  <a:pt x="146" y="91"/>
                </a:lnTo>
                <a:lnTo>
                  <a:pt x="153" y="85"/>
                </a:lnTo>
                <a:lnTo>
                  <a:pt x="161" y="80"/>
                </a:lnTo>
                <a:lnTo>
                  <a:pt x="169" y="74"/>
                </a:lnTo>
                <a:lnTo>
                  <a:pt x="176" y="68"/>
                </a:lnTo>
                <a:lnTo>
                  <a:pt x="184" y="63"/>
                </a:lnTo>
                <a:lnTo>
                  <a:pt x="193" y="58"/>
                </a:lnTo>
                <a:lnTo>
                  <a:pt x="201" y="53"/>
                </a:lnTo>
                <a:lnTo>
                  <a:pt x="209" y="48"/>
                </a:lnTo>
                <a:lnTo>
                  <a:pt x="218" y="44"/>
                </a:lnTo>
                <a:lnTo>
                  <a:pt x="226" y="40"/>
                </a:lnTo>
                <a:lnTo>
                  <a:pt x="574" y="40"/>
                </a:lnTo>
                <a:close/>
              </a:path>
            </a:pathLst>
          </a:custGeom>
          <a:gradFill>
            <a:gsLst>
              <a:gs pos="0">
                <a:srgbClr val="EC4899">
                  <a:alpha val="12000"/>
                </a:srgbClr>
              </a:gs>
              <a:gs pos="40000">
                <a:srgbClr val="A855F7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256" name="圆角矩形 255"/>
          <p:cNvSpPr/>
          <p:nvPr/>
        </p:nvSpPr>
        <p:spPr>
          <a:xfrm>
            <a:off x="762000" y="514350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EC4899"/>
          </a:solidFill>
        </p:spPr>
        <p:txBody>
          <a:bodyPr/>
          <a:p/>
        </p:txBody>
      </p:sp>
      <p:sp>
        <p:nvSpPr>
          <p:cNvPr id="257" name="文本框 256" descr="{&quot;isTemplate&quot;:true,&quot;type&quot;:&quot;text&quot;}"/>
          <p:cNvSpPr txBox="1"/>
          <p:nvPr/>
        </p:nvSpPr>
        <p:spPr>
          <a:xfrm>
            <a:off x="952500" y="4762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PART 02 · 5</a:t>
            </a:r>
            <a:endParaRPr lang="en-US" sz="975" spc="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8" name="文本框 257" descr="{&quot;isTemplate&quot;:true,&quot;type&quot;:&quot;text&quot;}"/>
          <p:cNvSpPr txBox="1"/>
          <p:nvPr/>
        </p:nvSpPr>
        <p:spPr>
          <a:xfrm>
            <a:off x="4448175" y="800100"/>
            <a:ext cx="3295650" cy="3200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gradFill>
                  <a:gsLst>
                    <a:gs pos="0">
                      <a:srgbClr val="7C3AED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02</a:t>
            </a:r>
            <a:endParaRPr lang="en-US" sz="21000" b="1">
              <a:gradFill>
                <a:gsLst>
                  <a:gs pos="0">
                    <a:srgbClr val="7C3AED"/>
                  </a:gs>
                  <a:gs pos="100000">
                    <a:srgbClr val="EC4899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59" name="文本框 258" descr="{&quot;isTemplate&quot;:true,&quot;type&quot;:&quot;text&quot;}"/>
          <p:cNvSpPr txBox="1"/>
          <p:nvPr/>
        </p:nvSpPr>
        <p:spPr>
          <a:xfrm>
            <a:off x="3848100" y="4171950"/>
            <a:ext cx="449580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老师端</a:t>
            </a:r>
            <a:r>
              <a:rPr lang="en-US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AI </a:t>
            </a: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数字人</a:t>
            </a:r>
            <a:endParaRPr lang="zh-CN" sz="4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0" name="文本框 259" descr="{&quot;isTemplate&quot;:true,&quot;type&quot;:&quot;text&quot;}"/>
          <p:cNvSpPr txBox="1"/>
          <p:nvPr/>
        </p:nvSpPr>
        <p:spPr>
          <a:xfrm>
            <a:off x="4914900" y="4991100"/>
            <a:ext cx="23622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AI DIGITAL HUMAN</a:t>
            </a:r>
            <a:endParaRPr lang="en-US" sz="1200" spc="4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61" name="文本框 260" descr="{&quot;isTemplate&quot;:true,&quot;type&quot;:&quot;text&quot;}"/>
          <p:cNvSpPr txBox="1"/>
          <p:nvPr/>
        </p:nvSpPr>
        <p:spPr>
          <a:xfrm>
            <a:off x="3648075" y="6124575"/>
            <a:ext cx="49053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老师不在线时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,7×24 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 AI 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分身幽默亲切地陪伴学生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危机识别直接生成高危预警。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04" name="" descr="&lt;Slide style={{ width: 1280, height: 720, background: '#FFFFFF', position: 'relative', overflow: 'hidden' }}&gt;&#10;  &lt;Box style={{ position: 'absolute', top: '50%', left: '50%', transform: 'translate(-50%, -50%)', width: 800, height: 800, borderRadius: 9999, background: 'radial-gradient(circle, rgba(168,85,247,0.12) 0%, rgba(124,58,237,0.06) 40%, transparent 70%)' }} /&gt;&#10;&#10;  &lt;Box style={{ position: 'absolute', top: 50, left: 80, flexDirection: 'row', alignItems: 'center', gap: 12 }}&gt;&#10;    &lt;Box style={{ width: 8, height: 8, borderRadius: 9999, background: '#7C3AED' }} /&gt;&#10;    &lt;Text style={{ fontSize: 13, color: '#64748B', letterSpacing: 4 }}&gt;PART 03 · 5&lt;/Text&gt;&#10;  &lt;/Box&gt;&#10;&#10;  &lt;Box style={{ position: 'absolute', top: '50%', left: '50%', transform: 'translate(-50%, -60%)', flexDirection: 'column', alignItems: 'center', gap: 18 }}&gt;&#10;    &lt;Text style={{ fontSize: 280, fontWeight: 'bold', lineHeight: 1, backgroundImage: 'linear-gradient(135deg, #7C3AED 0%, #EC4899 100%)', backgroundClip: 'text', color: 'transparent' }}&gt;03&lt;/Text&gt;&#10;    &lt;Text style={{ fontSize: 56, color: '#0F172A', fontWeight: 'bold', lineHeight: 1 }}&gt;视频通话 · 多模态情绪&lt;/Text&gt;&#10;    &lt;Text style={{ fontSize: 16, color: '#64748B', letterSpacing: 6 }}&gt;VIDEO CALL · MULTIMODAL FUSION&lt;/Text&gt;&#10;  &lt;/Box&gt;&#10;&#10;  &lt;Box style={{ position: 'absolute', bottom: 60, left: 0, right: 0, justifyContent: 'center', flexDirection: 'row', alignItems: 'center', gap: 12 }}&gt;&#10;    &lt;Text style={{ fontSize: 14, color: '#64748B', fontStyle: 'italic' }}&gt;&quot;通话中实时显示三路信号,挂断后自动生成情绪总结回写学生档案。&quot;&lt;/Text&gt;&#10;  &lt;/Box&gt;&#10;&#10;  &lt;Box style={{ position: 'absolute', bottom: 30, right: 80, flexDirection: 'row', alignItems: 'center', gap: 8 }}&gt;&#10;    &lt;Text style={{ fontSize: 13, color: '#64748B' }}&gt;07&lt;/Text&gt;&#10;    &lt;Box style={{ width: 30, height: 1, background: '#64748B' }} /&gt;&#10;    &lt;Text style={{ fontSize: 13, color: '#64748B' }}&gt;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矩形 30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06" name="任意多边形 305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pathLst>
              <a:path w="800" h="800">
                <a:moveTo>
                  <a:pt x="582" y="44"/>
                </a:moveTo>
                <a:lnTo>
                  <a:pt x="591" y="48"/>
                </a:lnTo>
                <a:lnTo>
                  <a:pt x="599" y="53"/>
                </a:lnTo>
                <a:lnTo>
                  <a:pt x="607" y="58"/>
                </a:lnTo>
                <a:lnTo>
                  <a:pt x="616" y="63"/>
                </a:lnTo>
                <a:lnTo>
                  <a:pt x="624" y="68"/>
                </a:lnTo>
                <a:lnTo>
                  <a:pt x="631" y="74"/>
                </a:lnTo>
                <a:lnTo>
                  <a:pt x="639" y="80"/>
                </a:lnTo>
                <a:lnTo>
                  <a:pt x="647" y="85"/>
                </a:lnTo>
                <a:lnTo>
                  <a:pt x="654" y="91"/>
                </a:lnTo>
                <a:lnTo>
                  <a:pt x="662" y="98"/>
                </a:lnTo>
                <a:lnTo>
                  <a:pt x="669" y="104"/>
                </a:lnTo>
                <a:lnTo>
                  <a:pt x="676" y="111"/>
                </a:lnTo>
                <a:lnTo>
                  <a:pt x="683" y="117"/>
                </a:lnTo>
                <a:lnTo>
                  <a:pt x="689" y="124"/>
                </a:lnTo>
                <a:lnTo>
                  <a:pt x="696" y="131"/>
                </a:lnTo>
                <a:lnTo>
                  <a:pt x="702" y="138"/>
                </a:lnTo>
                <a:lnTo>
                  <a:pt x="709" y="146"/>
                </a:lnTo>
                <a:lnTo>
                  <a:pt x="715" y="153"/>
                </a:lnTo>
                <a:lnTo>
                  <a:pt x="720" y="161"/>
                </a:lnTo>
                <a:lnTo>
                  <a:pt x="726" y="169"/>
                </a:lnTo>
                <a:lnTo>
                  <a:pt x="732" y="176"/>
                </a:lnTo>
                <a:lnTo>
                  <a:pt x="737" y="184"/>
                </a:lnTo>
                <a:lnTo>
                  <a:pt x="742" y="193"/>
                </a:lnTo>
                <a:lnTo>
                  <a:pt x="747" y="201"/>
                </a:lnTo>
                <a:lnTo>
                  <a:pt x="752" y="209"/>
                </a:lnTo>
                <a:lnTo>
                  <a:pt x="756" y="218"/>
                </a:lnTo>
                <a:lnTo>
                  <a:pt x="761" y="227"/>
                </a:lnTo>
                <a:lnTo>
                  <a:pt x="765" y="235"/>
                </a:lnTo>
                <a:lnTo>
                  <a:pt x="769" y="244"/>
                </a:lnTo>
                <a:lnTo>
                  <a:pt x="772" y="253"/>
                </a:lnTo>
                <a:lnTo>
                  <a:pt x="776" y="263"/>
                </a:lnTo>
                <a:lnTo>
                  <a:pt x="779" y="272"/>
                </a:lnTo>
                <a:lnTo>
                  <a:pt x="782" y="281"/>
                </a:lnTo>
                <a:lnTo>
                  <a:pt x="785" y="291"/>
                </a:lnTo>
                <a:lnTo>
                  <a:pt x="787" y="300"/>
                </a:lnTo>
                <a:lnTo>
                  <a:pt x="790" y="310"/>
                </a:lnTo>
                <a:lnTo>
                  <a:pt x="792" y="319"/>
                </a:lnTo>
                <a:lnTo>
                  <a:pt x="794" y="329"/>
                </a:lnTo>
                <a:lnTo>
                  <a:pt x="795" y="339"/>
                </a:lnTo>
                <a:lnTo>
                  <a:pt x="797" y="349"/>
                </a:lnTo>
                <a:lnTo>
                  <a:pt x="798" y="359"/>
                </a:lnTo>
                <a:lnTo>
                  <a:pt x="799" y="369"/>
                </a:lnTo>
                <a:lnTo>
                  <a:pt x="799" y="379"/>
                </a:lnTo>
                <a:lnTo>
                  <a:pt x="800" y="390"/>
                </a:lnTo>
                <a:lnTo>
                  <a:pt x="800" y="400"/>
                </a:lnTo>
                <a:lnTo>
                  <a:pt x="800" y="410"/>
                </a:lnTo>
                <a:lnTo>
                  <a:pt x="799" y="421"/>
                </a:lnTo>
                <a:lnTo>
                  <a:pt x="799" y="431"/>
                </a:lnTo>
                <a:lnTo>
                  <a:pt x="798" y="441"/>
                </a:lnTo>
                <a:lnTo>
                  <a:pt x="797" y="451"/>
                </a:lnTo>
                <a:lnTo>
                  <a:pt x="795" y="461"/>
                </a:lnTo>
                <a:lnTo>
                  <a:pt x="794" y="471"/>
                </a:lnTo>
                <a:lnTo>
                  <a:pt x="792" y="481"/>
                </a:lnTo>
                <a:lnTo>
                  <a:pt x="790" y="490"/>
                </a:lnTo>
                <a:lnTo>
                  <a:pt x="787" y="500"/>
                </a:lnTo>
                <a:lnTo>
                  <a:pt x="785" y="509"/>
                </a:lnTo>
                <a:lnTo>
                  <a:pt x="782" y="519"/>
                </a:lnTo>
                <a:lnTo>
                  <a:pt x="779" y="528"/>
                </a:lnTo>
                <a:lnTo>
                  <a:pt x="776" y="537"/>
                </a:lnTo>
                <a:lnTo>
                  <a:pt x="772" y="547"/>
                </a:lnTo>
                <a:lnTo>
                  <a:pt x="769" y="556"/>
                </a:lnTo>
                <a:lnTo>
                  <a:pt x="765" y="565"/>
                </a:lnTo>
                <a:lnTo>
                  <a:pt x="761" y="573"/>
                </a:lnTo>
                <a:lnTo>
                  <a:pt x="756" y="582"/>
                </a:lnTo>
                <a:lnTo>
                  <a:pt x="752" y="591"/>
                </a:lnTo>
                <a:lnTo>
                  <a:pt x="747" y="599"/>
                </a:lnTo>
                <a:lnTo>
                  <a:pt x="742" y="607"/>
                </a:lnTo>
                <a:lnTo>
                  <a:pt x="737" y="616"/>
                </a:lnTo>
                <a:lnTo>
                  <a:pt x="732" y="624"/>
                </a:lnTo>
                <a:lnTo>
                  <a:pt x="726" y="631"/>
                </a:lnTo>
                <a:lnTo>
                  <a:pt x="720" y="639"/>
                </a:lnTo>
                <a:lnTo>
                  <a:pt x="715" y="647"/>
                </a:lnTo>
                <a:lnTo>
                  <a:pt x="709" y="654"/>
                </a:lnTo>
                <a:lnTo>
                  <a:pt x="702" y="662"/>
                </a:lnTo>
                <a:lnTo>
                  <a:pt x="696" y="669"/>
                </a:lnTo>
                <a:lnTo>
                  <a:pt x="689" y="676"/>
                </a:lnTo>
                <a:lnTo>
                  <a:pt x="683" y="683"/>
                </a:lnTo>
                <a:lnTo>
                  <a:pt x="676" y="689"/>
                </a:lnTo>
                <a:lnTo>
                  <a:pt x="669" y="696"/>
                </a:lnTo>
                <a:lnTo>
                  <a:pt x="662" y="702"/>
                </a:lnTo>
                <a:lnTo>
                  <a:pt x="654" y="709"/>
                </a:lnTo>
                <a:lnTo>
                  <a:pt x="647" y="715"/>
                </a:lnTo>
                <a:lnTo>
                  <a:pt x="639" y="720"/>
                </a:lnTo>
                <a:lnTo>
                  <a:pt x="631" y="726"/>
                </a:lnTo>
                <a:lnTo>
                  <a:pt x="624" y="732"/>
                </a:lnTo>
                <a:lnTo>
                  <a:pt x="616" y="737"/>
                </a:lnTo>
                <a:lnTo>
                  <a:pt x="607" y="742"/>
                </a:ln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4" y="760"/>
                </a:lnTo>
                <a:lnTo>
                  <a:pt x="226" y="760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8" y="193"/>
                </a:lnTo>
                <a:lnTo>
                  <a:pt x="63" y="184"/>
                </a:lnTo>
                <a:lnTo>
                  <a:pt x="68" y="176"/>
                </a:lnTo>
                <a:lnTo>
                  <a:pt x="74" y="169"/>
                </a:lnTo>
                <a:lnTo>
                  <a:pt x="80" y="161"/>
                </a:lnTo>
                <a:lnTo>
                  <a:pt x="85" y="153"/>
                </a:lnTo>
                <a:lnTo>
                  <a:pt x="91" y="146"/>
                </a:lnTo>
                <a:lnTo>
                  <a:pt x="98" y="138"/>
                </a:lnTo>
                <a:lnTo>
                  <a:pt x="104" y="131"/>
                </a:lnTo>
                <a:lnTo>
                  <a:pt x="111" y="124"/>
                </a:lnTo>
                <a:lnTo>
                  <a:pt x="117" y="117"/>
                </a:lnTo>
                <a:lnTo>
                  <a:pt x="124" y="111"/>
                </a:lnTo>
                <a:lnTo>
                  <a:pt x="131" y="104"/>
                </a:lnTo>
                <a:lnTo>
                  <a:pt x="138" y="98"/>
                </a:lnTo>
                <a:lnTo>
                  <a:pt x="146" y="91"/>
                </a:lnTo>
                <a:lnTo>
                  <a:pt x="153" y="85"/>
                </a:lnTo>
                <a:lnTo>
                  <a:pt x="161" y="80"/>
                </a:lnTo>
                <a:lnTo>
                  <a:pt x="169" y="74"/>
                </a:lnTo>
                <a:lnTo>
                  <a:pt x="176" y="68"/>
                </a:lnTo>
                <a:lnTo>
                  <a:pt x="184" y="63"/>
                </a:lnTo>
                <a:lnTo>
                  <a:pt x="193" y="58"/>
                </a:lnTo>
                <a:lnTo>
                  <a:pt x="201" y="53"/>
                </a:lnTo>
                <a:lnTo>
                  <a:pt x="209" y="48"/>
                </a:lnTo>
                <a:lnTo>
                  <a:pt x="218" y="44"/>
                </a:lnTo>
                <a:lnTo>
                  <a:pt x="226" y="40"/>
                </a:lnTo>
                <a:lnTo>
                  <a:pt x="574" y="40"/>
                </a:lnTo>
                <a:close/>
              </a:path>
            </a:pathLst>
          </a:custGeom>
          <a:gradFill>
            <a:gsLst>
              <a:gs pos="0">
                <a:srgbClr val="A855F7">
                  <a:alpha val="12000"/>
                </a:srgbClr>
              </a:gs>
              <a:gs pos="40000">
                <a:srgbClr val="7C3AED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307" name="圆角矩形 306"/>
          <p:cNvSpPr/>
          <p:nvPr/>
        </p:nvSpPr>
        <p:spPr>
          <a:xfrm>
            <a:off x="762000" y="514350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7C3AED"/>
          </a:solidFill>
        </p:spPr>
        <p:txBody>
          <a:bodyPr/>
          <a:p/>
        </p:txBody>
      </p:sp>
      <p:sp>
        <p:nvSpPr>
          <p:cNvPr id="308" name="文本框 307" descr="{&quot;isTemplate&quot;:true,&quot;type&quot;:&quot;text&quot;}"/>
          <p:cNvSpPr txBox="1"/>
          <p:nvPr/>
        </p:nvSpPr>
        <p:spPr>
          <a:xfrm>
            <a:off x="952500" y="4762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PART 03 · 5</a:t>
            </a:r>
            <a:endParaRPr lang="en-US" sz="975" spc="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09" name="文本框 308" descr="{&quot;isTemplate&quot;:true,&quot;type&quot;:&quot;text&quot;}"/>
          <p:cNvSpPr txBox="1"/>
          <p:nvPr/>
        </p:nvSpPr>
        <p:spPr>
          <a:xfrm>
            <a:off x="4448175" y="800100"/>
            <a:ext cx="3295650" cy="3200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gradFill>
                  <a:gsLst>
                    <a:gs pos="0">
                      <a:srgbClr val="7C3AED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03</a:t>
            </a:r>
            <a:endParaRPr lang="en-US" sz="21000" b="1">
              <a:gradFill>
                <a:gsLst>
                  <a:gs pos="0">
                    <a:srgbClr val="7C3AED"/>
                  </a:gs>
                  <a:gs pos="100000">
                    <a:srgbClr val="EC4899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0" name="文本框 309" descr="{&quot;isTemplate&quot;:true,&quot;type&quot;:&quot;text&quot;}"/>
          <p:cNvSpPr txBox="1"/>
          <p:nvPr/>
        </p:nvSpPr>
        <p:spPr>
          <a:xfrm>
            <a:off x="3419475" y="4171950"/>
            <a:ext cx="53530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视频通话</a:t>
            </a:r>
            <a:r>
              <a:rPr lang="en-US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多模态情绪</a:t>
            </a:r>
            <a:endParaRPr lang="zh-CN" sz="4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1" name="文本框 310" descr="{&quot;isTemplate&quot;:true,&quot;type&quot;:&quot;text&quot;}"/>
          <p:cNvSpPr txBox="1"/>
          <p:nvPr/>
        </p:nvSpPr>
        <p:spPr>
          <a:xfrm>
            <a:off x="3895725" y="4991100"/>
            <a:ext cx="440055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VIDEO CALL · MULTIMODAL FUSION</a:t>
            </a:r>
            <a:endParaRPr lang="en-US" sz="1200" spc="4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12" name="文本框 311" descr="{&quot;isTemplate&quot;:true,&quot;type&quot;:&quot;text&quot;}"/>
          <p:cNvSpPr txBox="1"/>
          <p:nvPr/>
        </p:nvSpPr>
        <p:spPr>
          <a:xfrm>
            <a:off x="4086225" y="6124575"/>
            <a:ext cx="40195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通话中实时显示三路信号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挂断后自动生成情绪总结回写学生档案。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63" name="" descr="&lt;Slide style={{ width: 1280, height: 720, background: '#FFFFFF', position: 'relative', overflow: 'hidden' }}&gt;&#10;  &lt;Box style={{ position: 'absolute', top: '50%', left: '50%', transform: 'translate(-50%, -50%)', width: 800, height: 800, borderRadius: 9999, background: 'radial-gradient(circle, rgba(239,68,68,0.08) 0%, rgba(168,85,247,0.06) 40%, transparent 70%)' }} /&gt;&#10;&#10;  &lt;Box style={{ position: 'absolute', top: 50, left: 80, flexDirection: 'row', alignItems: 'center', gap: 12 }}&gt;&#10;    &lt;Box style={{ width: 8, height: 8, borderRadius: 9999, background: '#EF4444' }} /&gt;&#10;    &lt;Text style={{ fontSize: 13, color: '#64748B', letterSpacing: 4 }}&gt;PART 04 · 5&lt;/Text&gt;&#10;  &lt;/Box&gt;&#10;&#10;  &lt;Box style={{ position: 'absolute', top: '50%', left: '50%', transform: 'translate(-50%, -60%)', flexDirection: 'column', alignItems: 'center', gap: 18 }}&gt;&#10;    &lt;Text style={{ fontSize: 280, fontWeight: 'bold', lineHeight: 1, backgroundImage: 'linear-gradient(135deg, #7C3AED 0%, #EC4899 100%)', backgroundClip: 'text', color: 'transparent' }}&gt;04&lt;/Text&gt;&#10;    &lt;Text style={{ fontSize: 56, color: '#0F172A', fontWeight: 'bold', lineHeight: 1 }}&gt;危机闭环 · 工单流转&lt;/Text&gt;&#10;    &lt;Text style={{ fontSize: 16, color: '#64748B', letterSpacing: 6 }}&gt;CRISIS WORKFLOW&lt;/Text&gt;&#10;  &lt;/Box&gt;&#10;&#10;  &lt;Box style={{ position: 'absolute', bottom: 60, left: 0, right: 0, justifyContent: 'center', flexDirection: 'row', alignItems: 'center', gap: 12 }}&gt;&#10;    &lt;Text style={{ fontSize: 14, color: '#64748B', fontStyle: 'italic' }}&gt;&quot;测评、谈心、视频、数字人多来源证据取最高风险只升不降,危机跨学工处一键指派关闭。&quot;&lt;/Text&gt;&#10;  &lt;/Box&gt;&#10;&#10;  &lt;Box style={{ position: 'absolute', bottom: 30, right: 80, flexDirection: 'row', alignItems: 'center', gap: 8 }}&gt;&#10;    &lt;Text style={{ fontSize: 13, color: '#64748B' }}&gt;09&lt;/Text&gt;&#10;    &lt;Box style={{ width: 30, height: 1, background: '#64748B' }} /&gt;&#10;    &lt;Text style={{ fontSize: 13, color: '#64748B' }}&gt;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矩形 3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365" name="任意多边形 364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pathLst>
              <a:path w="800" h="800">
                <a:moveTo>
                  <a:pt x="582" y="44"/>
                </a:moveTo>
                <a:lnTo>
                  <a:pt x="591" y="48"/>
                </a:lnTo>
                <a:lnTo>
                  <a:pt x="599" y="53"/>
                </a:lnTo>
                <a:lnTo>
                  <a:pt x="607" y="58"/>
                </a:lnTo>
                <a:lnTo>
                  <a:pt x="616" y="63"/>
                </a:lnTo>
                <a:lnTo>
                  <a:pt x="624" y="68"/>
                </a:lnTo>
                <a:lnTo>
                  <a:pt x="631" y="74"/>
                </a:lnTo>
                <a:lnTo>
                  <a:pt x="639" y="80"/>
                </a:lnTo>
                <a:lnTo>
                  <a:pt x="647" y="85"/>
                </a:lnTo>
                <a:lnTo>
                  <a:pt x="654" y="91"/>
                </a:lnTo>
                <a:lnTo>
                  <a:pt x="662" y="98"/>
                </a:lnTo>
                <a:lnTo>
                  <a:pt x="669" y="104"/>
                </a:lnTo>
                <a:lnTo>
                  <a:pt x="676" y="111"/>
                </a:lnTo>
                <a:lnTo>
                  <a:pt x="683" y="117"/>
                </a:lnTo>
                <a:lnTo>
                  <a:pt x="689" y="124"/>
                </a:lnTo>
                <a:lnTo>
                  <a:pt x="696" y="131"/>
                </a:lnTo>
                <a:lnTo>
                  <a:pt x="702" y="138"/>
                </a:lnTo>
                <a:lnTo>
                  <a:pt x="709" y="146"/>
                </a:lnTo>
                <a:lnTo>
                  <a:pt x="715" y="153"/>
                </a:lnTo>
                <a:lnTo>
                  <a:pt x="720" y="161"/>
                </a:lnTo>
                <a:lnTo>
                  <a:pt x="726" y="169"/>
                </a:lnTo>
                <a:lnTo>
                  <a:pt x="732" y="176"/>
                </a:lnTo>
                <a:lnTo>
                  <a:pt x="737" y="184"/>
                </a:lnTo>
                <a:lnTo>
                  <a:pt x="742" y="193"/>
                </a:lnTo>
                <a:lnTo>
                  <a:pt x="747" y="201"/>
                </a:lnTo>
                <a:lnTo>
                  <a:pt x="752" y="209"/>
                </a:lnTo>
                <a:lnTo>
                  <a:pt x="756" y="218"/>
                </a:lnTo>
                <a:lnTo>
                  <a:pt x="761" y="227"/>
                </a:lnTo>
                <a:lnTo>
                  <a:pt x="765" y="235"/>
                </a:lnTo>
                <a:lnTo>
                  <a:pt x="769" y="244"/>
                </a:lnTo>
                <a:lnTo>
                  <a:pt x="772" y="253"/>
                </a:lnTo>
                <a:lnTo>
                  <a:pt x="776" y="263"/>
                </a:lnTo>
                <a:lnTo>
                  <a:pt x="779" y="272"/>
                </a:lnTo>
                <a:lnTo>
                  <a:pt x="782" y="281"/>
                </a:lnTo>
                <a:lnTo>
                  <a:pt x="785" y="291"/>
                </a:lnTo>
                <a:lnTo>
                  <a:pt x="787" y="300"/>
                </a:lnTo>
                <a:lnTo>
                  <a:pt x="790" y="310"/>
                </a:lnTo>
                <a:lnTo>
                  <a:pt x="792" y="319"/>
                </a:lnTo>
                <a:lnTo>
                  <a:pt x="794" y="329"/>
                </a:lnTo>
                <a:lnTo>
                  <a:pt x="795" y="339"/>
                </a:lnTo>
                <a:lnTo>
                  <a:pt x="797" y="349"/>
                </a:lnTo>
                <a:lnTo>
                  <a:pt x="798" y="359"/>
                </a:lnTo>
                <a:lnTo>
                  <a:pt x="799" y="369"/>
                </a:lnTo>
                <a:lnTo>
                  <a:pt x="799" y="379"/>
                </a:lnTo>
                <a:lnTo>
                  <a:pt x="800" y="390"/>
                </a:lnTo>
                <a:lnTo>
                  <a:pt x="800" y="400"/>
                </a:lnTo>
                <a:lnTo>
                  <a:pt x="800" y="410"/>
                </a:lnTo>
                <a:lnTo>
                  <a:pt x="799" y="421"/>
                </a:lnTo>
                <a:lnTo>
                  <a:pt x="799" y="431"/>
                </a:lnTo>
                <a:lnTo>
                  <a:pt x="798" y="441"/>
                </a:lnTo>
                <a:lnTo>
                  <a:pt x="797" y="451"/>
                </a:lnTo>
                <a:lnTo>
                  <a:pt x="795" y="461"/>
                </a:lnTo>
                <a:lnTo>
                  <a:pt x="794" y="471"/>
                </a:lnTo>
                <a:lnTo>
                  <a:pt x="792" y="481"/>
                </a:lnTo>
                <a:lnTo>
                  <a:pt x="790" y="490"/>
                </a:lnTo>
                <a:lnTo>
                  <a:pt x="787" y="500"/>
                </a:lnTo>
                <a:lnTo>
                  <a:pt x="785" y="509"/>
                </a:lnTo>
                <a:lnTo>
                  <a:pt x="782" y="519"/>
                </a:lnTo>
                <a:lnTo>
                  <a:pt x="779" y="528"/>
                </a:lnTo>
                <a:lnTo>
                  <a:pt x="776" y="537"/>
                </a:lnTo>
                <a:lnTo>
                  <a:pt x="772" y="547"/>
                </a:lnTo>
                <a:lnTo>
                  <a:pt x="769" y="556"/>
                </a:lnTo>
                <a:lnTo>
                  <a:pt x="765" y="565"/>
                </a:lnTo>
                <a:lnTo>
                  <a:pt x="761" y="573"/>
                </a:lnTo>
                <a:lnTo>
                  <a:pt x="756" y="582"/>
                </a:lnTo>
                <a:lnTo>
                  <a:pt x="752" y="591"/>
                </a:lnTo>
                <a:lnTo>
                  <a:pt x="747" y="599"/>
                </a:lnTo>
                <a:lnTo>
                  <a:pt x="742" y="607"/>
                </a:lnTo>
                <a:lnTo>
                  <a:pt x="737" y="616"/>
                </a:lnTo>
                <a:lnTo>
                  <a:pt x="732" y="624"/>
                </a:lnTo>
                <a:lnTo>
                  <a:pt x="726" y="631"/>
                </a:lnTo>
                <a:lnTo>
                  <a:pt x="720" y="639"/>
                </a:lnTo>
                <a:lnTo>
                  <a:pt x="715" y="647"/>
                </a:lnTo>
                <a:lnTo>
                  <a:pt x="709" y="654"/>
                </a:lnTo>
                <a:lnTo>
                  <a:pt x="702" y="662"/>
                </a:lnTo>
                <a:lnTo>
                  <a:pt x="696" y="669"/>
                </a:lnTo>
                <a:lnTo>
                  <a:pt x="689" y="676"/>
                </a:lnTo>
                <a:lnTo>
                  <a:pt x="683" y="683"/>
                </a:lnTo>
                <a:lnTo>
                  <a:pt x="676" y="689"/>
                </a:lnTo>
                <a:lnTo>
                  <a:pt x="669" y="696"/>
                </a:lnTo>
                <a:lnTo>
                  <a:pt x="662" y="702"/>
                </a:lnTo>
                <a:lnTo>
                  <a:pt x="654" y="709"/>
                </a:lnTo>
                <a:lnTo>
                  <a:pt x="647" y="715"/>
                </a:lnTo>
                <a:lnTo>
                  <a:pt x="639" y="720"/>
                </a:lnTo>
                <a:lnTo>
                  <a:pt x="631" y="726"/>
                </a:lnTo>
                <a:lnTo>
                  <a:pt x="624" y="732"/>
                </a:lnTo>
                <a:lnTo>
                  <a:pt x="616" y="737"/>
                </a:lnTo>
                <a:lnTo>
                  <a:pt x="607" y="742"/>
                </a:ln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4" y="760"/>
                </a:lnTo>
                <a:lnTo>
                  <a:pt x="226" y="760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8" y="193"/>
                </a:lnTo>
                <a:lnTo>
                  <a:pt x="63" y="184"/>
                </a:lnTo>
                <a:lnTo>
                  <a:pt x="68" y="176"/>
                </a:lnTo>
                <a:lnTo>
                  <a:pt x="74" y="169"/>
                </a:lnTo>
                <a:lnTo>
                  <a:pt x="80" y="161"/>
                </a:lnTo>
                <a:lnTo>
                  <a:pt x="85" y="153"/>
                </a:lnTo>
                <a:lnTo>
                  <a:pt x="91" y="146"/>
                </a:lnTo>
                <a:lnTo>
                  <a:pt x="98" y="138"/>
                </a:lnTo>
                <a:lnTo>
                  <a:pt x="104" y="131"/>
                </a:lnTo>
                <a:lnTo>
                  <a:pt x="111" y="124"/>
                </a:lnTo>
                <a:lnTo>
                  <a:pt x="117" y="117"/>
                </a:lnTo>
                <a:lnTo>
                  <a:pt x="124" y="111"/>
                </a:lnTo>
                <a:lnTo>
                  <a:pt x="131" y="104"/>
                </a:lnTo>
                <a:lnTo>
                  <a:pt x="138" y="98"/>
                </a:lnTo>
                <a:lnTo>
                  <a:pt x="146" y="91"/>
                </a:lnTo>
                <a:lnTo>
                  <a:pt x="153" y="85"/>
                </a:lnTo>
                <a:lnTo>
                  <a:pt x="161" y="80"/>
                </a:lnTo>
                <a:lnTo>
                  <a:pt x="169" y="74"/>
                </a:lnTo>
                <a:lnTo>
                  <a:pt x="176" y="68"/>
                </a:lnTo>
                <a:lnTo>
                  <a:pt x="184" y="63"/>
                </a:lnTo>
                <a:lnTo>
                  <a:pt x="193" y="58"/>
                </a:lnTo>
                <a:lnTo>
                  <a:pt x="201" y="53"/>
                </a:lnTo>
                <a:lnTo>
                  <a:pt x="209" y="48"/>
                </a:lnTo>
                <a:lnTo>
                  <a:pt x="218" y="44"/>
                </a:lnTo>
                <a:lnTo>
                  <a:pt x="226" y="40"/>
                </a:lnTo>
                <a:lnTo>
                  <a:pt x="574" y="40"/>
                </a:lnTo>
                <a:close/>
              </a:path>
            </a:pathLst>
          </a:custGeom>
          <a:gradFill>
            <a:gsLst>
              <a:gs pos="0">
                <a:srgbClr val="EF4444">
                  <a:alpha val="8000"/>
                </a:srgbClr>
              </a:gs>
              <a:gs pos="40000">
                <a:srgbClr val="A855F7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366" name="圆角矩形 365"/>
          <p:cNvSpPr/>
          <p:nvPr/>
        </p:nvSpPr>
        <p:spPr>
          <a:xfrm>
            <a:off x="762000" y="514350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EF4444"/>
          </a:solidFill>
        </p:spPr>
        <p:txBody>
          <a:bodyPr/>
          <a:p/>
        </p:txBody>
      </p:sp>
      <p:sp>
        <p:nvSpPr>
          <p:cNvPr id="367" name="文本框 366" descr="{&quot;isTemplate&quot;:true,&quot;type&quot;:&quot;text&quot;}"/>
          <p:cNvSpPr txBox="1"/>
          <p:nvPr/>
        </p:nvSpPr>
        <p:spPr>
          <a:xfrm>
            <a:off x="952500" y="4762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PART 04 · 5</a:t>
            </a:r>
            <a:endParaRPr lang="en-US" sz="975" spc="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8" name="文本框 367" descr="{&quot;isTemplate&quot;:true,&quot;type&quot;:&quot;text&quot;}"/>
          <p:cNvSpPr txBox="1"/>
          <p:nvPr/>
        </p:nvSpPr>
        <p:spPr>
          <a:xfrm>
            <a:off x="4448175" y="800100"/>
            <a:ext cx="3295650" cy="3200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gradFill>
                  <a:gsLst>
                    <a:gs pos="0">
                      <a:srgbClr val="7C3AED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04</a:t>
            </a:r>
            <a:endParaRPr lang="en-US" sz="21000" b="1">
              <a:gradFill>
                <a:gsLst>
                  <a:gs pos="0">
                    <a:srgbClr val="7C3AED"/>
                  </a:gs>
                  <a:gs pos="100000">
                    <a:srgbClr val="EC4899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69" name="文本框 368" descr="{&quot;isTemplate&quot;:true,&quot;type&quot;:&quot;text&quot;}"/>
          <p:cNvSpPr txBox="1"/>
          <p:nvPr/>
        </p:nvSpPr>
        <p:spPr>
          <a:xfrm>
            <a:off x="3686175" y="4171950"/>
            <a:ext cx="48196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危机闭环</a:t>
            </a:r>
            <a:r>
              <a:rPr lang="en-US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工单流转</a:t>
            </a:r>
            <a:endParaRPr lang="zh-CN" sz="4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0" name="文本框 369" descr="{&quot;isTemplate&quot;:true,&quot;type&quot;:&quot;text&quot;}"/>
          <p:cNvSpPr txBox="1"/>
          <p:nvPr/>
        </p:nvSpPr>
        <p:spPr>
          <a:xfrm>
            <a:off x="4953000" y="4991100"/>
            <a:ext cx="2286000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CRISIS WORKFLOW</a:t>
            </a:r>
            <a:endParaRPr lang="en-US" sz="1200" spc="4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71" name="文本框 370" descr="{&quot;isTemplate&quot;:true,&quot;type&quot;:&quot;text&quot;}"/>
          <p:cNvSpPr txBox="1"/>
          <p:nvPr/>
        </p:nvSpPr>
        <p:spPr>
          <a:xfrm>
            <a:off x="3419475" y="6124575"/>
            <a:ext cx="5353050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测评、谈心、视频、数字人多来源证据取最高风险只升不降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危机跨学工处一键指派关闭。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 descr="&lt;Slide style={{ width: 1280, height: 720, background: '#FFFFFF', position: 'relative', overflow: 'hidden' }}&gt;&#10;  &lt;Box style={{ position: 'absolute', top: '50%', left: '50%', transform: 'translate(-50%, -50%)', width: 800, height: 800, borderRadius: 9999, background: 'radial-gradient(circle, rgba(236,72,153,0.12) 0%, rgba(168,85,247,0.06) 40%, transparent 70%)' }} /&gt;&#10;&#10;  &lt;Box style={{ position: 'absolute', top: 50, left: 80, flexDirection: 'row', alignItems: 'center', gap: 12 }}&gt;&#10;    &lt;Box style={{ width: 8, height: 8, borderRadius: 9999, background: '#EC4899' }} /&gt;&#10;    &lt;Text style={{ fontSize: 13, color: '#64748B', letterSpacing: 4 }}&gt;PART 05 · 5&lt;/Text&gt;&#10;  &lt;/Box&gt;&#10;&#10;  &lt;Box style={{ position: 'absolute', top: '50%', left: '50%', transform: 'translate(-50%, -60%)', flexDirection: 'column', alignItems: 'center', gap: 18 }}&gt;&#10;    &lt;Text style={{ fontSize: 280, fontWeight: 'bold', lineHeight: 1, backgroundImage: 'linear-gradient(135deg, #7C3AED 0%, #EC4899 100%)', backgroundClip: 'text', color: 'transparent' }}&gt;05&lt;/Text&gt;&#10;    &lt;Text style={{ fontSize: 56, color: '#0F172A', fontWeight: 'bold', lineHeight: 1 }}&gt;学生端 · 测评与求助&lt;/Text&gt;&#10;    &lt;Text style={{ fontSize: 16, color: '#64748B', letterSpacing: 6 }}&gt;STUDENT PORTAL&lt;/Text&gt;&#10;  &lt;/Box&gt;&#10;&#10;  &lt;Box style={{ position: 'absolute', bottom: 60, left: 0, right: 0, justifyContent: 'center', flexDirection: 'row', alignItems: 'center', gap: 12 }}&gt;&#10;    &lt;Text style={{ fontSize: 14, color: '#64748B', fontStyle: 'italic' }}&gt;&quot;每位学生一个低门槛求助入口,标准化测评、预约咨询、7×24 AI 陪伴。&quot;&lt;/Text&gt;&#10;  &lt;/Box&gt;&#10;&#10;  &lt;Box style={{ position: 'absolute', bottom: 30, right: 80, flexDirection: 'row', alignItems: 'center', gap: 8 }}&gt;&#10;    &lt;Text style={{ fontSize: 13, color: '#64748B' }}&gt;11&lt;/Text&gt;&#10;    &lt;Box style={{ width: 30, height: 1, background: '#64748B' }} /&gt;&#10;    &lt;Text style={{ fontSize: 13, color: '#64748B' }}&gt;12&lt;/Text&gt;&#10;  &lt;/Box&gt;&#10;&lt;/Slide&gt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矩形 6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</p:spPr>
        <p:txBody>
          <a:bodyPr/>
          <a:p/>
        </p:txBody>
      </p:sp>
      <p:sp>
        <p:nvSpPr>
          <p:cNvPr id="67" name="任意多边形 66"/>
          <p:cNvSpPr/>
          <p:nvPr/>
        </p:nvSpPr>
        <p:spPr>
          <a:xfrm>
            <a:off x="2286000" y="-381000"/>
            <a:ext cx="7620000" cy="7620000"/>
          </a:xfrm>
          <a:custGeom>
            <a:avLst/>
            <a:gdLst/>
            <a:ahLst/>
            <a:cxnLst/>
            <a:pathLst>
              <a:path w="800" h="800">
                <a:moveTo>
                  <a:pt x="582" y="44"/>
                </a:moveTo>
                <a:lnTo>
                  <a:pt x="591" y="48"/>
                </a:lnTo>
                <a:lnTo>
                  <a:pt x="599" y="53"/>
                </a:lnTo>
                <a:lnTo>
                  <a:pt x="607" y="58"/>
                </a:lnTo>
                <a:lnTo>
                  <a:pt x="616" y="63"/>
                </a:lnTo>
                <a:lnTo>
                  <a:pt x="624" y="68"/>
                </a:lnTo>
                <a:lnTo>
                  <a:pt x="631" y="74"/>
                </a:lnTo>
                <a:lnTo>
                  <a:pt x="639" y="80"/>
                </a:lnTo>
                <a:lnTo>
                  <a:pt x="647" y="85"/>
                </a:lnTo>
                <a:lnTo>
                  <a:pt x="654" y="91"/>
                </a:lnTo>
                <a:lnTo>
                  <a:pt x="662" y="98"/>
                </a:lnTo>
                <a:lnTo>
                  <a:pt x="669" y="104"/>
                </a:lnTo>
                <a:lnTo>
                  <a:pt x="676" y="111"/>
                </a:lnTo>
                <a:lnTo>
                  <a:pt x="683" y="117"/>
                </a:lnTo>
                <a:lnTo>
                  <a:pt x="689" y="124"/>
                </a:lnTo>
                <a:lnTo>
                  <a:pt x="696" y="131"/>
                </a:lnTo>
                <a:lnTo>
                  <a:pt x="702" y="138"/>
                </a:lnTo>
                <a:lnTo>
                  <a:pt x="709" y="146"/>
                </a:lnTo>
                <a:lnTo>
                  <a:pt x="715" y="153"/>
                </a:lnTo>
                <a:lnTo>
                  <a:pt x="720" y="161"/>
                </a:lnTo>
                <a:lnTo>
                  <a:pt x="726" y="169"/>
                </a:lnTo>
                <a:lnTo>
                  <a:pt x="732" y="176"/>
                </a:lnTo>
                <a:lnTo>
                  <a:pt x="737" y="184"/>
                </a:lnTo>
                <a:lnTo>
                  <a:pt x="742" y="193"/>
                </a:lnTo>
                <a:lnTo>
                  <a:pt x="747" y="201"/>
                </a:lnTo>
                <a:lnTo>
                  <a:pt x="752" y="209"/>
                </a:lnTo>
                <a:lnTo>
                  <a:pt x="756" y="218"/>
                </a:lnTo>
                <a:lnTo>
                  <a:pt x="761" y="227"/>
                </a:lnTo>
                <a:lnTo>
                  <a:pt x="765" y="235"/>
                </a:lnTo>
                <a:lnTo>
                  <a:pt x="769" y="244"/>
                </a:lnTo>
                <a:lnTo>
                  <a:pt x="772" y="253"/>
                </a:lnTo>
                <a:lnTo>
                  <a:pt x="776" y="263"/>
                </a:lnTo>
                <a:lnTo>
                  <a:pt x="779" y="272"/>
                </a:lnTo>
                <a:lnTo>
                  <a:pt x="782" y="281"/>
                </a:lnTo>
                <a:lnTo>
                  <a:pt x="785" y="291"/>
                </a:lnTo>
                <a:lnTo>
                  <a:pt x="787" y="300"/>
                </a:lnTo>
                <a:lnTo>
                  <a:pt x="790" y="310"/>
                </a:lnTo>
                <a:lnTo>
                  <a:pt x="792" y="319"/>
                </a:lnTo>
                <a:lnTo>
                  <a:pt x="794" y="329"/>
                </a:lnTo>
                <a:lnTo>
                  <a:pt x="795" y="339"/>
                </a:lnTo>
                <a:lnTo>
                  <a:pt x="797" y="349"/>
                </a:lnTo>
                <a:lnTo>
                  <a:pt x="798" y="359"/>
                </a:lnTo>
                <a:lnTo>
                  <a:pt x="799" y="369"/>
                </a:lnTo>
                <a:lnTo>
                  <a:pt x="799" y="379"/>
                </a:lnTo>
                <a:lnTo>
                  <a:pt x="800" y="390"/>
                </a:lnTo>
                <a:lnTo>
                  <a:pt x="800" y="400"/>
                </a:lnTo>
                <a:lnTo>
                  <a:pt x="800" y="410"/>
                </a:lnTo>
                <a:lnTo>
                  <a:pt x="799" y="421"/>
                </a:lnTo>
                <a:lnTo>
                  <a:pt x="799" y="431"/>
                </a:lnTo>
                <a:lnTo>
                  <a:pt x="798" y="441"/>
                </a:lnTo>
                <a:lnTo>
                  <a:pt x="797" y="451"/>
                </a:lnTo>
                <a:lnTo>
                  <a:pt x="795" y="461"/>
                </a:lnTo>
                <a:lnTo>
                  <a:pt x="794" y="471"/>
                </a:lnTo>
                <a:lnTo>
                  <a:pt x="792" y="481"/>
                </a:lnTo>
                <a:lnTo>
                  <a:pt x="790" y="490"/>
                </a:lnTo>
                <a:lnTo>
                  <a:pt x="787" y="500"/>
                </a:lnTo>
                <a:lnTo>
                  <a:pt x="785" y="509"/>
                </a:lnTo>
                <a:lnTo>
                  <a:pt x="782" y="519"/>
                </a:lnTo>
                <a:lnTo>
                  <a:pt x="779" y="528"/>
                </a:lnTo>
                <a:lnTo>
                  <a:pt x="776" y="537"/>
                </a:lnTo>
                <a:lnTo>
                  <a:pt x="772" y="547"/>
                </a:lnTo>
                <a:lnTo>
                  <a:pt x="769" y="556"/>
                </a:lnTo>
                <a:lnTo>
                  <a:pt x="765" y="565"/>
                </a:lnTo>
                <a:lnTo>
                  <a:pt x="761" y="573"/>
                </a:lnTo>
                <a:lnTo>
                  <a:pt x="756" y="582"/>
                </a:lnTo>
                <a:lnTo>
                  <a:pt x="752" y="591"/>
                </a:lnTo>
                <a:lnTo>
                  <a:pt x="747" y="599"/>
                </a:lnTo>
                <a:lnTo>
                  <a:pt x="742" y="607"/>
                </a:lnTo>
                <a:lnTo>
                  <a:pt x="737" y="616"/>
                </a:lnTo>
                <a:lnTo>
                  <a:pt x="732" y="624"/>
                </a:lnTo>
                <a:lnTo>
                  <a:pt x="726" y="631"/>
                </a:lnTo>
                <a:lnTo>
                  <a:pt x="720" y="639"/>
                </a:lnTo>
                <a:lnTo>
                  <a:pt x="715" y="647"/>
                </a:lnTo>
                <a:lnTo>
                  <a:pt x="709" y="654"/>
                </a:lnTo>
                <a:lnTo>
                  <a:pt x="702" y="662"/>
                </a:lnTo>
                <a:lnTo>
                  <a:pt x="696" y="669"/>
                </a:lnTo>
                <a:lnTo>
                  <a:pt x="689" y="676"/>
                </a:lnTo>
                <a:lnTo>
                  <a:pt x="683" y="683"/>
                </a:lnTo>
                <a:lnTo>
                  <a:pt x="676" y="689"/>
                </a:lnTo>
                <a:lnTo>
                  <a:pt x="669" y="696"/>
                </a:lnTo>
                <a:lnTo>
                  <a:pt x="662" y="702"/>
                </a:lnTo>
                <a:lnTo>
                  <a:pt x="654" y="709"/>
                </a:lnTo>
                <a:lnTo>
                  <a:pt x="647" y="715"/>
                </a:lnTo>
                <a:lnTo>
                  <a:pt x="639" y="720"/>
                </a:lnTo>
                <a:lnTo>
                  <a:pt x="631" y="726"/>
                </a:lnTo>
                <a:lnTo>
                  <a:pt x="624" y="732"/>
                </a:lnTo>
                <a:lnTo>
                  <a:pt x="616" y="737"/>
                </a:lnTo>
                <a:lnTo>
                  <a:pt x="607" y="742"/>
                </a:lnTo>
                <a:lnTo>
                  <a:pt x="599" y="747"/>
                </a:lnTo>
                <a:lnTo>
                  <a:pt x="591" y="752"/>
                </a:lnTo>
                <a:lnTo>
                  <a:pt x="582" y="756"/>
                </a:lnTo>
                <a:lnTo>
                  <a:pt x="574" y="760"/>
                </a:lnTo>
                <a:lnTo>
                  <a:pt x="226" y="760"/>
                </a:lnTo>
                <a:lnTo>
                  <a:pt x="218" y="756"/>
                </a:lnTo>
                <a:lnTo>
                  <a:pt x="209" y="752"/>
                </a:lnTo>
                <a:lnTo>
                  <a:pt x="201" y="747"/>
                </a:lnTo>
                <a:lnTo>
                  <a:pt x="193" y="742"/>
                </a:lnTo>
                <a:lnTo>
                  <a:pt x="184" y="737"/>
                </a:lnTo>
                <a:lnTo>
                  <a:pt x="176" y="732"/>
                </a:lnTo>
                <a:lnTo>
                  <a:pt x="169" y="726"/>
                </a:lnTo>
                <a:lnTo>
                  <a:pt x="161" y="720"/>
                </a:lnTo>
                <a:lnTo>
                  <a:pt x="153" y="715"/>
                </a:lnTo>
                <a:lnTo>
                  <a:pt x="146" y="709"/>
                </a:lnTo>
                <a:lnTo>
                  <a:pt x="138" y="702"/>
                </a:lnTo>
                <a:lnTo>
                  <a:pt x="131" y="696"/>
                </a:lnTo>
                <a:lnTo>
                  <a:pt x="124" y="689"/>
                </a:lnTo>
                <a:lnTo>
                  <a:pt x="117" y="683"/>
                </a:lnTo>
                <a:lnTo>
                  <a:pt x="111" y="676"/>
                </a:lnTo>
                <a:lnTo>
                  <a:pt x="104" y="669"/>
                </a:lnTo>
                <a:lnTo>
                  <a:pt x="98" y="662"/>
                </a:lnTo>
                <a:lnTo>
                  <a:pt x="91" y="654"/>
                </a:lnTo>
                <a:lnTo>
                  <a:pt x="85" y="647"/>
                </a:lnTo>
                <a:lnTo>
                  <a:pt x="80" y="639"/>
                </a:lnTo>
                <a:lnTo>
                  <a:pt x="74" y="631"/>
                </a:lnTo>
                <a:lnTo>
                  <a:pt x="68" y="624"/>
                </a:lnTo>
                <a:lnTo>
                  <a:pt x="63" y="616"/>
                </a:lnTo>
                <a:lnTo>
                  <a:pt x="58" y="607"/>
                </a:lnTo>
                <a:lnTo>
                  <a:pt x="53" y="599"/>
                </a:lnTo>
                <a:lnTo>
                  <a:pt x="48" y="591"/>
                </a:lnTo>
                <a:lnTo>
                  <a:pt x="44" y="582"/>
                </a:lnTo>
                <a:lnTo>
                  <a:pt x="39" y="573"/>
                </a:lnTo>
                <a:lnTo>
                  <a:pt x="35" y="565"/>
                </a:lnTo>
                <a:lnTo>
                  <a:pt x="31" y="556"/>
                </a:lnTo>
                <a:lnTo>
                  <a:pt x="28" y="547"/>
                </a:lnTo>
                <a:lnTo>
                  <a:pt x="24" y="537"/>
                </a:lnTo>
                <a:lnTo>
                  <a:pt x="21" y="528"/>
                </a:lnTo>
                <a:lnTo>
                  <a:pt x="18" y="519"/>
                </a:lnTo>
                <a:lnTo>
                  <a:pt x="15" y="509"/>
                </a:lnTo>
                <a:lnTo>
                  <a:pt x="13" y="500"/>
                </a:lnTo>
                <a:lnTo>
                  <a:pt x="10" y="490"/>
                </a:lnTo>
                <a:lnTo>
                  <a:pt x="8" y="481"/>
                </a:lnTo>
                <a:lnTo>
                  <a:pt x="6" y="471"/>
                </a:lnTo>
                <a:lnTo>
                  <a:pt x="5" y="461"/>
                </a:lnTo>
                <a:lnTo>
                  <a:pt x="3" y="451"/>
                </a:lnTo>
                <a:lnTo>
                  <a:pt x="2" y="441"/>
                </a:lnTo>
                <a:lnTo>
                  <a:pt x="1" y="431"/>
                </a:lnTo>
                <a:lnTo>
                  <a:pt x="1" y="421"/>
                </a:lnTo>
                <a:lnTo>
                  <a:pt x="0" y="410"/>
                </a:lnTo>
                <a:lnTo>
                  <a:pt x="0" y="400"/>
                </a:lnTo>
                <a:lnTo>
                  <a:pt x="0" y="390"/>
                </a:lnTo>
                <a:lnTo>
                  <a:pt x="1" y="379"/>
                </a:lnTo>
                <a:lnTo>
                  <a:pt x="1" y="369"/>
                </a:lnTo>
                <a:lnTo>
                  <a:pt x="2" y="359"/>
                </a:lnTo>
                <a:lnTo>
                  <a:pt x="3" y="349"/>
                </a:lnTo>
                <a:lnTo>
                  <a:pt x="5" y="339"/>
                </a:lnTo>
                <a:lnTo>
                  <a:pt x="6" y="329"/>
                </a:lnTo>
                <a:lnTo>
                  <a:pt x="8" y="319"/>
                </a:lnTo>
                <a:lnTo>
                  <a:pt x="10" y="310"/>
                </a:lnTo>
                <a:lnTo>
                  <a:pt x="13" y="300"/>
                </a:lnTo>
                <a:lnTo>
                  <a:pt x="15" y="291"/>
                </a:lnTo>
                <a:lnTo>
                  <a:pt x="18" y="281"/>
                </a:lnTo>
                <a:lnTo>
                  <a:pt x="21" y="272"/>
                </a:lnTo>
                <a:lnTo>
                  <a:pt x="24" y="263"/>
                </a:lnTo>
                <a:lnTo>
                  <a:pt x="28" y="253"/>
                </a:lnTo>
                <a:lnTo>
                  <a:pt x="31" y="244"/>
                </a:lnTo>
                <a:lnTo>
                  <a:pt x="35" y="235"/>
                </a:lnTo>
                <a:lnTo>
                  <a:pt x="39" y="227"/>
                </a:lnTo>
                <a:lnTo>
                  <a:pt x="44" y="218"/>
                </a:lnTo>
                <a:lnTo>
                  <a:pt x="48" y="209"/>
                </a:lnTo>
                <a:lnTo>
                  <a:pt x="53" y="201"/>
                </a:lnTo>
                <a:lnTo>
                  <a:pt x="58" y="193"/>
                </a:lnTo>
                <a:lnTo>
                  <a:pt x="63" y="184"/>
                </a:lnTo>
                <a:lnTo>
                  <a:pt x="68" y="176"/>
                </a:lnTo>
                <a:lnTo>
                  <a:pt x="74" y="169"/>
                </a:lnTo>
                <a:lnTo>
                  <a:pt x="80" y="161"/>
                </a:lnTo>
                <a:lnTo>
                  <a:pt x="85" y="153"/>
                </a:lnTo>
                <a:lnTo>
                  <a:pt x="91" y="146"/>
                </a:lnTo>
                <a:lnTo>
                  <a:pt x="98" y="138"/>
                </a:lnTo>
                <a:lnTo>
                  <a:pt x="104" y="131"/>
                </a:lnTo>
                <a:lnTo>
                  <a:pt x="111" y="124"/>
                </a:lnTo>
                <a:lnTo>
                  <a:pt x="117" y="117"/>
                </a:lnTo>
                <a:lnTo>
                  <a:pt x="124" y="111"/>
                </a:lnTo>
                <a:lnTo>
                  <a:pt x="131" y="104"/>
                </a:lnTo>
                <a:lnTo>
                  <a:pt x="138" y="98"/>
                </a:lnTo>
                <a:lnTo>
                  <a:pt x="146" y="91"/>
                </a:lnTo>
                <a:lnTo>
                  <a:pt x="153" y="85"/>
                </a:lnTo>
                <a:lnTo>
                  <a:pt x="161" y="80"/>
                </a:lnTo>
                <a:lnTo>
                  <a:pt x="169" y="74"/>
                </a:lnTo>
                <a:lnTo>
                  <a:pt x="176" y="68"/>
                </a:lnTo>
                <a:lnTo>
                  <a:pt x="184" y="63"/>
                </a:lnTo>
                <a:lnTo>
                  <a:pt x="193" y="58"/>
                </a:lnTo>
                <a:lnTo>
                  <a:pt x="201" y="53"/>
                </a:lnTo>
                <a:lnTo>
                  <a:pt x="209" y="48"/>
                </a:lnTo>
                <a:lnTo>
                  <a:pt x="218" y="44"/>
                </a:lnTo>
                <a:lnTo>
                  <a:pt x="226" y="40"/>
                </a:lnTo>
                <a:lnTo>
                  <a:pt x="574" y="40"/>
                </a:lnTo>
                <a:close/>
              </a:path>
            </a:pathLst>
          </a:custGeom>
          <a:gradFill>
            <a:gsLst>
              <a:gs pos="0">
                <a:srgbClr val="EC4899">
                  <a:alpha val="12000"/>
                </a:srgbClr>
              </a:gs>
              <a:gs pos="40000">
                <a:srgbClr val="A855F7">
                  <a:alpha val="6000"/>
                </a:srgbClr>
              </a:gs>
              <a:gs pos="70000">
                <a:srgbClr val="FFFFFF">
                  <a:alpha val="0"/>
                </a:srgbClr>
              </a:gs>
            </a:gsLst>
            <a:path path="circle">
              <a:fillToRect l="50000" t="50000" r="50000" b="50000"/>
            </a:path>
          </a:gradFill>
        </p:spPr>
        <p:txBody>
          <a:bodyPr/>
          <a:p/>
        </p:txBody>
      </p:sp>
      <p:sp>
        <p:nvSpPr>
          <p:cNvPr id="68" name="圆角矩形 67"/>
          <p:cNvSpPr/>
          <p:nvPr/>
        </p:nvSpPr>
        <p:spPr>
          <a:xfrm>
            <a:off x="762000" y="514350"/>
            <a:ext cx="76200" cy="76200"/>
          </a:xfrm>
          <a:prstGeom prst="roundRect">
            <a:avLst>
              <a:gd name="adj" fmla="val 124987500"/>
            </a:avLst>
          </a:prstGeom>
          <a:solidFill>
            <a:srgbClr val="EC4899"/>
          </a:solidFill>
        </p:spPr>
        <p:txBody>
          <a:bodyPr/>
          <a:p/>
        </p:txBody>
      </p:sp>
      <p:sp>
        <p:nvSpPr>
          <p:cNvPr id="69" name="文本框 68" descr="{&quot;isTemplate&quot;:true,&quot;type&quot;:&quot;text&quot;}"/>
          <p:cNvSpPr txBox="1"/>
          <p:nvPr/>
        </p:nvSpPr>
        <p:spPr>
          <a:xfrm>
            <a:off x="952500" y="476250"/>
            <a:ext cx="1095375" cy="152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 spc="30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PART 05 · 5</a:t>
            </a:r>
            <a:endParaRPr lang="en-US" sz="975" spc="30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0" name="文本框 69" descr="{&quot;isTemplate&quot;:true,&quot;type&quot;:&quot;text&quot;}"/>
          <p:cNvSpPr txBox="1"/>
          <p:nvPr/>
        </p:nvSpPr>
        <p:spPr>
          <a:xfrm>
            <a:off x="4448175" y="800100"/>
            <a:ext cx="3295650" cy="32004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1000" b="1">
                <a:gradFill>
                  <a:gsLst>
                    <a:gs pos="0">
                      <a:srgbClr val="7C3AED"/>
                    </a:gs>
                    <a:gs pos="100000">
                      <a:srgbClr val="EC4899"/>
                    </a:gs>
                  </a:gsLst>
                  <a:lin ang="2700000" scaled="1"/>
                </a:gradFill>
                <a:latin typeface="微软雅黑" panose="020B0503020204020204" charset="-122"/>
                <a:ea typeface="微软雅黑" panose="020B0503020204020204" charset="-122"/>
              </a:rPr>
              <a:t>05</a:t>
            </a:r>
            <a:endParaRPr lang="en-US" sz="21000" b="1">
              <a:gradFill>
                <a:gsLst>
                  <a:gs pos="0">
                    <a:srgbClr val="7C3AED"/>
                  </a:gs>
                  <a:gs pos="100000">
                    <a:srgbClr val="EC4899"/>
                  </a:gs>
                </a:gsLst>
                <a:lin ang="2700000" scaled="1"/>
              </a:gra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" name="文本框 70" descr="{&quot;isTemplate&quot;:true,&quot;type&quot;:&quot;text&quot;}"/>
          <p:cNvSpPr txBox="1"/>
          <p:nvPr/>
        </p:nvSpPr>
        <p:spPr>
          <a:xfrm>
            <a:off x="3686175" y="4171950"/>
            <a:ext cx="4819650" cy="6477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学生端</a:t>
            </a:r>
            <a:r>
              <a:rPr lang="en-US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 · </a:t>
            </a:r>
            <a:r>
              <a:rPr lang="zh-CN" sz="4200" b="1">
                <a:solidFill>
                  <a:srgbClr val="0F172A"/>
                </a:solidFill>
                <a:latin typeface="微软雅黑" panose="020B0503020204020204" charset="-122"/>
                <a:ea typeface="微软雅黑" panose="020B0503020204020204" charset="-122"/>
              </a:rPr>
              <a:t>测评与求助</a:t>
            </a:r>
            <a:endParaRPr lang="zh-CN" sz="4200" b="1">
              <a:solidFill>
                <a:srgbClr val="0F172A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2" name="文本框 71" descr="{&quot;isTemplate&quot;:true,&quot;type&quot;:&quot;text&quot;}"/>
          <p:cNvSpPr txBox="1"/>
          <p:nvPr/>
        </p:nvSpPr>
        <p:spPr>
          <a:xfrm>
            <a:off x="5029200" y="4991100"/>
            <a:ext cx="2143125" cy="190500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200" spc="450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STUDENT PORTAL</a:t>
            </a:r>
            <a:endParaRPr lang="en-US" sz="1200" spc="450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3" name="文本框 72" descr="{&quot;isTemplate&quot;:true,&quot;type&quot;:&quot;text&quot;}"/>
          <p:cNvSpPr txBox="1"/>
          <p:nvPr/>
        </p:nvSpPr>
        <p:spPr>
          <a:xfrm>
            <a:off x="3952875" y="6124575"/>
            <a:ext cx="4295775" cy="161925"/>
          </a:xfrm>
          <a:prstGeom prst="rect">
            <a:avLst/>
          </a:prstGeom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每位学生一个低门槛求助入口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,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标准化测评、预约咨询、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7×24 AI </a:t>
            </a:r>
            <a:r>
              <a:rPr lang="zh-CN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陪伴。</a:t>
            </a:r>
            <a:r>
              <a:rPr lang="en-US" sz="1050" i="1">
                <a:solidFill>
                  <a:srgbClr val="64748B"/>
                </a:solidFill>
                <a:latin typeface="微软雅黑" panose="020B0503020204020204" charset="-122"/>
                <a:ea typeface="微软雅黑" panose="020B0503020204020204" charset="-122"/>
              </a:rPr>
              <a:t>"</a:t>
            </a:r>
            <a:endParaRPr lang="en-US" sz="1050" i="1">
              <a:solidFill>
                <a:srgbClr val="64748B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638</Words>
  <Application>WPS 演示</Application>
  <PresentationFormat/>
  <Paragraphs>92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WPS_1644127128</cp:lastModifiedBy>
  <cp:revision>1</cp:revision>
  <dcterms:created xsi:type="dcterms:W3CDTF">2026-09-02T16:56:58Z</dcterms:created>
  <dcterms:modified xsi:type="dcterms:W3CDTF">2026-09-02T16:56:58Z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180ECB2BD67340A7842EE725CC978832_12</vt:lpwstr>
  </property>
  <property fmtid="{D5CDD505-2E9C-101B-9397-08002B2CF9AE}" pid="3" name="KSOProductBuildVer">
    <vt:lpwstr>2052-12.1.0.28043</vt:lpwstr>
  </property>
</Properties>
</file>